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7" r:id="rId7"/>
    <p:sldId id="261" r:id="rId8"/>
    <p:sldId id="262" r:id="rId9"/>
    <p:sldId id="263" r:id="rId10"/>
    <p:sldId id="264" r:id="rId11"/>
    <p:sldId id="265" r:id="rId12"/>
    <p:sldId id="268" r:id="rId13"/>
    <p:sldId id="266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2"/>
    <p:restoredTop sz="96281"/>
  </p:normalViewPr>
  <p:slideViewPr>
    <p:cSldViewPr snapToGrid="0" snapToObjects="1">
      <p:cViewPr varScale="1">
        <p:scale>
          <a:sx n="117" d="100"/>
          <a:sy n="117" d="100"/>
        </p:scale>
        <p:origin x="176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oup 88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90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6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7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8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1669293" y="1186483"/>
            <a:ext cx="8848345" cy="4477933"/>
            <a:chOff x="1669293" y="1186483"/>
            <a:chExt cx="8848345" cy="4477933"/>
          </a:xfrm>
        </p:grpSpPr>
        <p:sp>
          <p:nvSpPr>
            <p:cNvPr id="39" name="Rectangle 38"/>
            <p:cNvSpPr/>
            <p:nvPr/>
          </p:nvSpPr>
          <p:spPr>
            <a:xfrm>
              <a:off x="1674042" y="1186483"/>
              <a:ext cx="8843596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Rectangle 40"/>
            <p:cNvSpPr/>
            <p:nvPr/>
          </p:nvSpPr>
          <p:spPr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9236" y="2075504"/>
            <a:ext cx="8679915" cy="1748729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5400" spc="-150">
                <a:solidFill>
                  <a:srgbClr val="FFFE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9237" y="3906266"/>
            <a:ext cx="8673427" cy="1322587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EFF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48A87A34-81AB-432B-8DAE-1953F412C126}" type="datetimeFigureOut">
              <a:rPr lang="en-US" dirty="0"/>
              <a:pPr/>
              <a:t>3/11/21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81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7" name="Group 26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8" name="Rectangle 27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49925"/>
            <a:ext cx="3498979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8447" y="803186"/>
            <a:ext cx="6281873" cy="5248622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3/11/21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78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3259545" y="1186483"/>
            <a:ext cx="5666145" cy="4477933"/>
            <a:chOff x="3259545" y="1186483"/>
            <a:chExt cx="5666145" cy="4477933"/>
          </a:xfrm>
        </p:grpSpPr>
        <p:sp>
          <p:nvSpPr>
            <p:cNvPr id="99" name="Rectangle 98"/>
            <p:cNvSpPr/>
            <p:nvPr/>
          </p:nvSpPr>
          <p:spPr>
            <a:xfrm>
              <a:off x="3259545" y="1186483"/>
              <a:ext cx="5657881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1" name="Rectangle 100"/>
            <p:cNvSpPr/>
            <p:nvPr/>
          </p:nvSpPr>
          <p:spPr>
            <a:xfrm>
              <a:off x="3259545" y="1991156"/>
              <a:ext cx="5666145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4216" y="2074730"/>
            <a:ext cx="5490224" cy="1689390"/>
          </a:xfrm>
        </p:spPr>
        <p:txBody>
          <a:bodyPr bIns="0" anchor="b">
            <a:normAutofit/>
          </a:bodyPr>
          <a:lstStyle>
            <a:lvl1pPr algn="ctr">
              <a:defRPr sz="4400">
                <a:solidFill>
                  <a:srgbClr val="FFFE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44215" y="3846851"/>
            <a:ext cx="5490223" cy="1383770"/>
          </a:xfrm>
        </p:spPr>
        <p:txBody>
          <a:bodyPr tIns="0"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3/11/21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3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59" name="Group 58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0" name="Rectangle 59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0" y="2339669"/>
            <a:ext cx="3500828" cy="2470065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20878" y="803187"/>
            <a:ext cx="6269591" cy="238265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8447" y="3672162"/>
            <a:ext cx="6272022" cy="238358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3/11/21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40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61" name="Group 6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2" name="Rectangle 6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3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Rectangle 63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1" y="2363915"/>
            <a:ext cx="3500828" cy="2460497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25137" y="803185"/>
            <a:ext cx="6265088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25305" y="1488985"/>
            <a:ext cx="6264350" cy="169685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18653" y="3665887"/>
            <a:ext cx="6264414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18447" y="4351687"/>
            <a:ext cx="6265588" cy="170406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3/11/21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4" name="Group 23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5" name="Rectangle 24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3/11/21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3/11/21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73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5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6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1" name="Group 2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2" name="Rectangle 2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52026"/>
            <a:ext cx="3501197" cy="1223298"/>
          </a:xfrm>
        </p:spPr>
        <p:txBody>
          <a:bodyPr bIns="0" anchor="b">
            <a:noAutofit/>
          </a:bodyPr>
          <a:lstStyle>
            <a:lvl1pPr algn="ctr">
              <a:defRPr sz="3200">
                <a:solidFill>
                  <a:srgbClr val="FFFE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983" y="802809"/>
            <a:ext cx="6275035" cy="5249940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8631" y="3580186"/>
            <a:ext cx="3501197" cy="1221164"/>
          </a:xfrm>
        </p:spPr>
        <p:txBody>
          <a:bodyPr/>
          <a:lstStyle>
            <a:lvl1pPr marL="0" indent="0" algn="ctr">
              <a:buNone/>
              <a:defRPr sz="16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3/11/21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81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6" name="Group 75"/>
          <p:cNvGrpSpPr/>
          <p:nvPr/>
        </p:nvGrpSpPr>
        <p:grpSpPr>
          <a:xfrm>
            <a:off x="805336" y="1698331"/>
            <a:ext cx="5941540" cy="3470421"/>
            <a:chOff x="805336" y="1698331"/>
            <a:chExt cx="5941540" cy="3470421"/>
          </a:xfrm>
        </p:grpSpPr>
        <p:sp>
          <p:nvSpPr>
            <p:cNvPr id="77" name="Rectangle 76"/>
            <p:cNvSpPr/>
            <p:nvPr/>
          </p:nvSpPr>
          <p:spPr>
            <a:xfrm>
              <a:off x="805336" y="1698331"/>
              <a:ext cx="5941540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8" name="Isosceles Triangle 9"/>
            <p:cNvSpPr/>
            <p:nvPr/>
          </p:nvSpPr>
          <p:spPr>
            <a:xfrm rot="10800000">
              <a:off x="3618113" y="4896349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>
            <a:xfrm>
              <a:off x="805336" y="2274403"/>
              <a:ext cx="5941540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43510" y="0"/>
            <a:ext cx="4648490" cy="6858000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5443" y="2360255"/>
            <a:ext cx="5776646" cy="1178032"/>
          </a:xfrm>
        </p:spPr>
        <p:txBody>
          <a:bodyPr bIns="0" anchor="b">
            <a:normAutofit/>
          </a:bodyPr>
          <a:lstStyle>
            <a:lvl1pPr>
              <a:defRPr sz="3600">
                <a:solidFill>
                  <a:srgbClr val="FFFE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5443" y="3545012"/>
            <a:ext cx="5776646" cy="127419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3/11/21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5942203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828377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1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9983" y="794719"/>
            <a:ext cx="6275035" cy="525709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3/11/21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 flipH="1">
            <a:off x="0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7718948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07437" y="2349925"/>
            <a:ext cx="3501195" cy="2456442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2747" y="798444"/>
            <a:ext cx="6268622" cy="5257303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3/11/21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1161" y="2358391"/>
            <a:ext cx="3498667" cy="2456485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34982" y="794719"/>
            <a:ext cx="5950036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4672" y="320040"/>
            <a:ext cx="36576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3/11/21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85000"/>
        </a:lnSpc>
        <a:spcBef>
          <a:spcPct val="0"/>
        </a:spcBef>
        <a:buNone/>
        <a:defRPr sz="4000" b="0" i="0" kern="1200" cap="none" spc="-15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0CFCC-CDCA-084D-9D4C-490CA5A4230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PK" dirty="0"/>
              <a:t>The Appearance of the </a:t>
            </a:r>
            <a:br>
              <a:rPr lang="en-PK" dirty="0"/>
            </a:br>
            <a:r>
              <a:rPr lang="en-PK" dirty="0"/>
              <a:t>ORAL CAVITY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20AEE2-1E61-664F-9100-771ACC1F0A4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PK" dirty="0"/>
              <a:t>DR. RAFEY AHMAD JAMEEL</a:t>
            </a:r>
          </a:p>
          <a:p>
            <a:r>
              <a:rPr lang="en-PK" dirty="0"/>
              <a:t>BDS, MDSc (Malaysia)</a:t>
            </a:r>
            <a:br>
              <a:rPr lang="en-PK" dirty="0"/>
            </a:b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6015117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D3831-2276-024B-BBCE-043D05097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ORAL CAVITY (MOUTH)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4CA4B-00A9-CE4A-A451-6915421E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PK" dirty="0"/>
              <a:t>LIPS</a:t>
            </a:r>
          </a:p>
          <a:p>
            <a:r>
              <a:rPr lang="en-PK" dirty="0"/>
              <a:t>PILLARS OF FAUCES (ANTERIOR/ POSTERIOR)</a:t>
            </a:r>
          </a:p>
          <a:p>
            <a:r>
              <a:rPr lang="en-PK" dirty="0"/>
              <a:t>PALATE (HARD/ SOFT)</a:t>
            </a:r>
          </a:p>
          <a:p>
            <a:r>
              <a:rPr lang="en-PK" dirty="0"/>
              <a:t>TONGUE</a:t>
            </a:r>
          </a:p>
          <a:p>
            <a:r>
              <a:rPr lang="en-PK" dirty="0"/>
              <a:t>FLOOR OF THE MOUTH</a:t>
            </a:r>
          </a:p>
          <a:p>
            <a:r>
              <a:rPr lang="en-PK" dirty="0"/>
              <a:t>CHEEKS</a:t>
            </a:r>
          </a:p>
          <a:p>
            <a:r>
              <a:rPr lang="en-PK" dirty="0"/>
              <a:t>RETROMOLAR PAD AREA</a:t>
            </a:r>
          </a:p>
          <a:p>
            <a:r>
              <a:rPr lang="en-PK" dirty="0"/>
              <a:t>TEETH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8352456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D76CC-1BAA-8D43-9CDE-905796A92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SIGNIFICANCE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AF4784-E18E-9945-B794-2FEDBDEE41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PK" dirty="0"/>
              <a:t>USE OF COORRECT AND APPROPRIATE TERMINOLOGIES.</a:t>
            </a:r>
          </a:p>
          <a:p>
            <a:r>
              <a:rPr lang="en-PK" dirty="0"/>
              <a:t>KNOW THE NORMAL, TO APPRECIATE THE ABNORMAL.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0124299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52330-D4E8-C74F-B2C0-64D9AF163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LIPS</a:t>
            </a:r>
          </a:p>
        </p:txBody>
      </p:sp>
      <p:pic>
        <p:nvPicPr>
          <p:cNvPr id="1026" name="Picture 2" descr="Anatomy and Variations of the Lip | SpringerLink">
            <a:extLst>
              <a:ext uri="{FF2B5EF4-FFF2-40B4-BE49-F238E27FC236}">
                <a16:creationId xmlns:a16="http://schemas.microsoft.com/office/drawing/2014/main" id="{74B61009-0A3D-1545-8DD5-B21EB565FA4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4790" y="1910770"/>
            <a:ext cx="6907785" cy="3006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5173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28122-9628-6E40-8FEF-3E5C798D9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ORAL VESTIBULE</a:t>
            </a:r>
          </a:p>
        </p:txBody>
      </p:sp>
      <p:pic>
        <p:nvPicPr>
          <p:cNvPr id="2050" name="Picture 2" descr="Mouth - human anatomy organs">
            <a:extLst>
              <a:ext uri="{FF2B5EF4-FFF2-40B4-BE49-F238E27FC236}">
                <a16:creationId xmlns:a16="http://schemas.microsoft.com/office/drawing/2014/main" id="{49BC1CA0-01EC-1545-B4E1-51A1286EA1E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0329" y="803275"/>
            <a:ext cx="6177280" cy="5248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89327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B3EF7-ADEC-8F4F-ABA7-053E3142E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3074" name="Picture 2" descr="Anatomy of the mouth pptx - دكتور نجاة نظري - Muhadharaty">
            <a:extLst>
              <a:ext uri="{FF2B5EF4-FFF2-40B4-BE49-F238E27FC236}">
                <a16:creationId xmlns:a16="http://schemas.microsoft.com/office/drawing/2014/main" id="{0DD17C77-DB08-6643-A5BB-7B11F519042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8100" y="2032867"/>
            <a:ext cx="6281738" cy="27890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11193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1ABAF-13D8-8F49-AF36-97CF420BB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GINGIVA</a:t>
            </a:r>
          </a:p>
        </p:txBody>
      </p:sp>
      <p:pic>
        <p:nvPicPr>
          <p:cNvPr id="4098" name="Picture 2" descr="The Periodontium | Anatomy &amp; Histology of the Gingival Unit and Basic Oral  Hygiene | Continuing Education Course | dentalcare.com">
            <a:extLst>
              <a:ext uri="{FF2B5EF4-FFF2-40B4-BE49-F238E27FC236}">
                <a16:creationId xmlns:a16="http://schemas.microsoft.com/office/drawing/2014/main" id="{DC374184-9B38-D146-B75B-7921F1055B9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8100" y="2129362"/>
            <a:ext cx="6281738" cy="2596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55541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1B680-0FAA-DB49-9E9B-04BFA2F34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CHEEKS</a:t>
            </a:r>
          </a:p>
        </p:txBody>
      </p:sp>
      <p:pic>
        <p:nvPicPr>
          <p:cNvPr id="5122" name="Picture 2" descr="Buccal Cancer ‣ Anatomy">
            <a:extLst>
              <a:ext uri="{FF2B5EF4-FFF2-40B4-BE49-F238E27FC236}">
                <a16:creationId xmlns:a16="http://schemas.microsoft.com/office/drawing/2014/main" id="{4AE89041-3993-D444-8637-46E3EC25925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8100" y="1040921"/>
            <a:ext cx="6281738" cy="4772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05738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8280E-189F-074C-9B6F-9250029CA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PALATE</a:t>
            </a:r>
          </a:p>
        </p:txBody>
      </p:sp>
      <p:pic>
        <p:nvPicPr>
          <p:cNvPr id="6148" name="Picture 4" descr="Palate surgery with small or absent tonsils: new research and a key to good  results - Sleep Doctor">
            <a:extLst>
              <a:ext uri="{FF2B5EF4-FFF2-40B4-BE49-F238E27FC236}">
                <a16:creationId xmlns:a16="http://schemas.microsoft.com/office/drawing/2014/main" id="{F3E0B3D2-6887-F347-8D57-0ADB1A0AAE3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4137" y="803275"/>
            <a:ext cx="5149664" cy="5248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15151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792D1-49B9-3B49-AEA3-A1D88367E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FLOOR OF THE MOUTH</a:t>
            </a:r>
          </a:p>
        </p:txBody>
      </p:sp>
      <p:pic>
        <p:nvPicPr>
          <p:cNvPr id="7170" name="Picture 2" descr="PPT - Anatomy of Oral Cavity, Pharynx &amp; Oesophagus PowerPoint Presentation  - ID:634202">
            <a:extLst>
              <a:ext uri="{FF2B5EF4-FFF2-40B4-BE49-F238E27FC236}">
                <a16:creationId xmlns:a16="http://schemas.microsoft.com/office/drawing/2014/main" id="{5DC7C50D-0DBB-544B-8C57-3976B618427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8100" y="1071761"/>
            <a:ext cx="6281738" cy="4711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092067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F5E3A-0C5B-1B4B-A78C-300FB3594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TONGUE</a:t>
            </a:r>
          </a:p>
        </p:txBody>
      </p:sp>
      <p:pic>
        <p:nvPicPr>
          <p:cNvPr id="8194" name="Picture 2" descr="Tongue | Anatomy of the tongue, Anatomy, Anatomy course">
            <a:extLst>
              <a:ext uri="{FF2B5EF4-FFF2-40B4-BE49-F238E27FC236}">
                <a16:creationId xmlns:a16="http://schemas.microsoft.com/office/drawing/2014/main" id="{DE77FE2B-4850-504B-BC0D-04902A17980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4831" y="803275"/>
            <a:ext cx="5248275" cy="5248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07386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7B64E-CD52-9B4C-80E1-E2656193A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TEETH</a:t>
            </a:r>
          </a:p>
        </p:txBody>
      </p:sp>
      <p:pic>
        <p:nvPicPr>
          <p:cNvPr id="9218" name="Picture 2" descr="Teeth names of permanent teeth. Illustration on white background Stock  Photo - Alamy">
            <a:extLst>
              <a:ext uri="{FF2B5EF4-FFF2-40B4-BE49-F238E27FC236}">
                <a16:creationId xmlns:a16="http://schemas.microsoft.com/office/drawing/2014/main" id="{ACA4D1B8-2F4E-2C4D-801D-4DB5221A443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937"/>
          <a:stretch/>
        </p:blipFill>
        <p:spPr bwMode="auto">
          <a:xfrm>
            <a:off x="5118100" y="866396"/>
            <a:ext cx="6281738" cy="4999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42911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EC855-F7C5-B844-A393-B0619A803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CLINICAL </a:t>
            </a:r>
            <a:r>
              <a:rPr lang="en-PK" sz="3600" dirty="0"/>
              <a:t>CONSIDERATIONS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489CC7-D712-CF43-AAEA-80F994B635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PK" dirty="0"/>
              <a:t>Pigmentation Variations</a:t>
            </a:r>
          </a:p>
          <a:p>
            <a:pPr lvl="1"/>
            <a:r>
              <a:rPr lang="en-PK" dirty="0"/>
              <a:t>Black Hairy Tongue</a:t>
            </a:r>
          </a:p>
          <a:p>
            <a:pPr lvl="1"/>
            <a:r>
              <a:rPr lang="en-PK" dirty="0"/>
              <a:t>Fordyce Spots</a:t>
            </a:r>
          </a:p>
          <a:p>
            <a:pPr lvl="1"/>
            <a:r>
              <a:rPr lang="en-PK" dirty="0"/>
              <a:t>Lichen Planus</a:t>
            </a:r>
          </a:p>
          <a:p>
            <a:r>
              <a:rPr lang="en-PK" dirty="0"/>
              <a:t>Benign Disorders</a:t>
            </a:r>
          </a:p>
          <a:p>
            <a:pPr lvl="1"/>
            <a:r>
              <a:rPr lang="en-PK" dirty="0"/>
              <a:t>Linea Alba</a:t>
            </a:r>
          </a:p>
          <a:p>
            <a:pPr lvl="1"/>
            <a:r>
              <a:rPr lang="en-PK" dirty="0"/>
              <a:t>Tori (Torus Mandibularis/ Torus Palatinus)</a:t>
            </a:r>
          </a:p>
          <a:p>
            <a:pPr lvl="1"/>
            <a:r>
              <a:rPr lang="en-PK" dirty="0"/>
              <a:t>Smoker’s Keratosis</a:t>
            </a:r>
          </a:p>
        </p:txBody>
      </p:sp>
    </p:spTree>
    <p:extLst>
      <p:ext uri="{BB962C8B-B14F-4D97-AF65-F5344CB8AC3E}">
        <p14:creationId xmlns:p14="http://schemas.microsoft.com/office/powerpoint/2010/main" val="2071963925"/>
      </p:ext>
    </p:extLst>
  </p:cSld>
  <p:clrMapOvr>
    <a:masterClrMapping/>
  </p:clrMapOvr>
</p:sld>
</file>

<file path=ppt/theme/theme1.xml><?xml version="1.0" encoding="utf-8"?>
<a:theme xmlns:a="http://schemas.openxmlformats.org/drawingml/2006/main" name="Atlas">
  <a:themeElements>
    <a:clrScheme name="Atlas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F81B02"/>
      </a:accent1>
      <a:accent2>
        <a:srgbClr val="FC7715"/>
      </a:accent2>
      <a:accent3>
        <a:srgbClr val="AFBF41"/>
      </a:accent3>
      <a:accent4>
        <a:srgbClr val="50C49F"/>
      </a:accent4>
      <a:accent5>
        <a:srgbClr val="3B95C4"/>
      </a:accent5>
      <a:accent6>
        <a:srgbClr val="B560D4"/>
      </a:accent6>
      <a:hlink>
        <a:srgbClr val="FC5A1A"/>
      </a:hlink>
      <a:folHlink>
        <a:srgbClr val="B49E74"/>
      </a:folHlink>
    </a:clrScheme>
    <a:fontScheme name="Atlas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tlas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508F7963-D0B5-43F7-BB2C-FCE3009C08E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Atlas</Template>
  <TotalTime>7205</TotalTime>
  <Words>103</Words>
  <Application>Microsoft Macintosh PowerPoint</Application>
  <PresentationFormat>Widescreen</PresentationFormat>
  <Paragraphs>32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Calibri Light</vt:lpstr>
      <vt:lpstr>Rockwell</vt:lpstr>
      <vt:lpstr>Wingdings</vt:lpstr>
      <vt:lpstr>Atlas</vt:lpstr>
      <vt:lpstr>The Appearance of the  ORAL CAVITY</vt:lpstr>
      <vt:lpstr>ORAL CAVITY (MOUTH)</vt:lpstr>
      <vt:lpstr>SIGNIFICANCE</vt:lpstr>
      <vt:lpstr>LIPS</vt:lpstr>
      <vt:lpstr>ORAL VESTIBULE</vt:lpstr>
      <vt:lpstr>PowerPoint Presentation</vt:lpstr>
      <vt:lpstr>GINGIVA</vt:lpstr>
      <vt:lpstr>CHEEKS</vt:lpstr>
      <vt:lpstr>PALATE</vt:lpstr>
      <vt:lpstr>FLOOR OF THE MOUTH</vt:lpstr>
      <vt:lpstr>TONGUE</vt:lpstr>
      <vt:lpstr>TEETH</vt:lpstr>
      <vt:lpstr>CLINICAL CONSIDERATIONS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Appearance of the  ORAL CAVITY</dc:title>
  <dc:creator>Dr Kirmani</dc:creator>
  <cp:lastModifiedBy>Dr Kirmani</cp:lastModifiedBy>
  <cp:revision>8</cp:revision>
  <dcterms:created xsi:type="dcterms:W3CDTF">2021-03-01T04:40:25Z</dcterms:created>
  <dcterms:modified xsi:type="dcterms:W3CDTF">2021-03-11T07:42:17Z</dcterms:modified>
</cp:coreProperties>
</file>