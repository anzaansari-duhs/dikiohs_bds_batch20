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y="6858000" cx="9144000"/>
  <p:notesSz cx="6858000" cy="9144000"/>
  <p:embeddedFontLst>
    <p:embeddedFont>
      <p:font typeface="Arial Narrow"/>
      <p:regular r:id="rId51"/>
      <p:bold r:id="rId52"/>
      <p:italic r:id="rId53"/>
      <p:boldItalic r:id="rId54"/>
    </p:embeddedFont>
    <p:embeddedFont>
      <p:font typeface="Arial Black"/>
      <p:regular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904">
          <p15:clr>
            <a:srgbClr val="A4A3A4"/>
          </p15:clr>
        </p15:guide>
      </p15:sldGuideLst>
    </p:ext>
    <p:ext uri="{2D200454-40CA-4A62-9FC3-DE9A4176ACB9}">
      <p15:notesGuideLst>
        <p15:guide id="1" orient="horz" pos="2880">
          <p15:clr>
            <a:srgbClr val="A4A3A4"/>
          </p15:clr>
        </p15:guide>
        <p15:guide id="2" pos="2178">
          <p15:clr>
            <a:srgbClr val="A4A3A4"/>
          </p15:clr>
        </p15:guide>
      </p15:notesGuideLst>
    </p:ext>
    <p:ext uri="GoogleSlidesCustomDataVersion2">
      <go:slidesCustomData xmlns:go="http://customooxmlschemas.google.com/" r:id="rId56" roundtripDataSignature="AMtx7mhMKZ6atk03TynfVrBKuBvnjOsf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B70B30-4917-4AC6-835E-083E140816E7}">
  <a:tblStyle styleId="{84B70B30-4917-4AC6-835E-083E140816E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904"/>
      </p:guideLst>
    </p:cSldViewPr>
  </p:slideViewPr>
  <p:notesViewPr>
    <p:cSldViewPr snapToGrid="0">
      <p:cViewPr varScale="1">
        <p:scale>
          <a:sx n="100" d="100"/>
          <a:sy n="100" d="100"/>
        </p:scale>
        <p:origin x="0" y="0"/>
      </p:cViewPr>
      <p:guideLst>
        <p:guide pos="2880" orient="horz"/>
        <p:guide pos="2178"/>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ArialNarrow-regular.fntdata"/><Relationship Id="rId50" Type="http://schemas.openxmlformats.org/officeDocument/2006/relationships/slide" Target="slides/slide43.xml"/><Relationship Id="rId53" Type="http://schemas.openxmlformats.org/officeDocument/2006/relationships/font" Target="fonts/ArialNarrow-italic.fntdata"/><Relationship Id="rId52" Type="http://schemas.openxmlformats.org/officeDocument/2006/relationships/font" Target="fonts/ArialNarrow-bold.fntdata"/><Relationship Id="rId11" Type="http://schemas.openxmlformats.org/officeDocument/2006/relationships/slide" Target="slides/slide4.xml"/><Relationship Id="rId55" Type="http://schemas.openxmlformats.org/officeDocument/2006/relationships/font" Target="fonts/ArialBlack-regular.fntdata"/><Relationship Id="rId10" Type="http://schemas.openxmlformats.org/officeDocument/2006/relationships/slide" Target="slides/slide3.xml"/><Relationship Id="rId54" Type="http://schemas.openxmlformats.org/officeDocument/2006/relationships/font" Target="fonts/ArialNarrow-boldItalic.fntdata"/><Relationship Id="rId13" Type="http://schemas.openxmlformats.org/officeDocument/2006/relationships/slide" Target="slides/slide6.xml"/><Relationship Id="rId12" Type="http://schemas.openxmlformats.org/officeDocument/2006/relationships/slide" Target="slides/slide5.xml"/><Relationship Id="rId56" Type="http://customschemas.google.com/relationships/presentationmetadata" Target="meta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5" name="Google Shape;19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0" name="Google Shape;20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5" name="Google Shape;20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10" name="Google Shape;21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4" name="Google Shape;224;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Calibri"/>
                <a:ea typeface="Calibri"/>
                <a:cs typeface="Calibri"/>
                <a:sym typeface="Calibri"/>
              </a:rPr>
              <a:t>A sub-discipline of biology, its focus is in how organisms, organ systems, organs, cells, and bio-molecules carry out the chemical or physical functions that exist in a living system.</a:t>
            </a:r>
            <a:endParaRPr/>
          </a:p>
          <a:p>
            <a:pPr indent="0" lvl="0" marL="0" rtl="0" algn="l">
              <a:lnSpc>
                <a:spcPct val="100000"/>
              </a:lnSpc>
              <a:spcBef>
                <a:spcPts val="360"/>
              </a:spcBef>
              <a:spcAft>
                <a:spcPts val="0"/>
              </a:spcAft>
              <a:buSzPts val="1400"/>
              <a:buNone/>
            </a:pPr>
            <a:r>
              <a:t/>
            </a:r>
            <a:endParaRPr baseline="30000">
              <a:latin typeface="Calibri"/>
              <a:ea typeface="Calibri"/>
              <a:cs typeface="Calibri"/>
              <a:sym typeface="Calibri"/>
            </a:endParaRPr>
          </a:p>
          <a:p>
            <a:pPr indent="0" lvl="0" marL="0" rtl="0" algn="l">
              <a:lnSpc>
                <a:spcPct val="100000"/>
              </a:lnSpc>
              <a:spcBef>
                <a:spcPts val="360"/>
              </a:spcBef>
              <a:spcAft>
                <a:spcPts val="0"/>
              </a:spcAft>
              <a:buSzPts val="1400"/>
              <a:buNone/>
            </a:pPr>
            <a:r>
              <a:rPr b="1" lang="en-US">
                <a:latin typeface="Arial Narrow"/>
                <a:ea typeface="Arial Narrow"/>
                <a:cs typeface="Arial Narrow"/>
                <a:sym typeface="Arial Narrow"/>
              </a:rPr>
              <a:t>Human physiology </a:t>
            </a:r>
            <a:r>
              <a:rPr lang="en-US">
                <a:latin typeface="Arial Narrow"/>
                <a:ea typeface="Arial Narrow"/>
                <a:cs typeface="Arial Narrow"/>
                <a:sym typeface="Arial Narrow"/>
              </a:rPr>
              <a:t>seeks to understand the mechanisms that work to keep the human body alive and functioning, through scientific enquiry into the nature of mechanical, physical, and biochemical functions of humans, their organs, and the cells of which they are composed</a:t>
            </a:r>
            <a:endParaRPr/>
          </a:p>
          <a:p>
            <a:pPr indent="0" lvl="0" marL="0" rtl="0" algn="l">
              <a:lnSpc>
                <a:spcPct val="100000"/>
              </a:lnSpc>
              <a:spcBef>
                <a:spcPts val="360"/>
              </a:spcBef>
              <a:spcAft>
                <a:spcPts val="0"/>
              </a:spcAft>
              <a:buSzPts val="1400"/>
              <a:buNone/>
            </a:pPr>
            <a:r>
              <a:t/>
            </a:r>
            <a:endParaRPr baseline="30000">
              <a:latin typeface="Calibri"/>
              <a:ea typeface="Calibri"/>
              <a:cs typeface="Calibri"/>
              <a:sym typeface="Calibri"/>
            </a:endParaRPr>
          </a:p>
          <a:p>
            <a:pPr indent="0" lvl="0" marL="0" rtl="0" algn="l">
              <a:lnSpc>
                <a:spcPct val="100000"/>
              </a:lnSpc>
              <a:spcBef>
                <a:spcPts val="360"/>
              </a:spcBef>
              <a:spcAft>
                <a:spcPts val="0"/>
              </a:spcAft>
              <a:buSzPts val="1400"/>
              <a:buNone/>
            </a:pPr>
            <a:r>
              <a:t/>
            </a:r>
            <a:endParaRPr>
              <a:latin typeface="Times New Roman"/>
              <a:ea typeface="Times New Roman"/>
              <a:cs typeface="Times New Roman"/>
              <a:sym typeface="Times New Roman"/>
            </a:endParaRPr>
          </a:p>
        </p:txBody>
      </p:sp>
      <p:sp>
        <p:nvSpPr>
          <p:cNvPr id="225" name="Google Shape;225;p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1" name="Google Shape;23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8" name="Google Shape;238;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New Roman"/>
                <a:ea typeface="Times New Roman"/>
                <a:cs typeface="Times New Roman"/>
                <a:sym typeface="Times New Roman"/>
              </a:rPr>
              <a:t>Organelles</a:t>
            </a:r>
            <a:r>
              <a:rPr lang="en-US">
                <a:latin typeface="Times New Roman"/>
                <a:ea typeface="Times New Roman"/>
                <a:cs typeface="Times New Roman"/>
                <a:sym typeface="Times New Roman"/>
              </a:rPr>
              <a:t> within the cell are specialized bodies performing specific cellular functions. Cells themselves may be specialized. Thus, there are nerve cells, bone cells, and muscle cells</a:t>
            </a:r>
            <a:endParaRPr/>
          </a:p>
        </p:txBody>
      </p:sp>
      <p:sp>
        <p:nvSpPr>
          <p:cNvPr id="239" name="Google Shape;239;p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5" name="Google Shape;245;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-&gt;sometimes an organ is part of more than one system</a:t>
            </a:r>
            <a:endParaRPr/>
          </a:p>
          <a:p>
            <a:pPr indent="0" lvl="0" marL="0" rtl="0" algn="l">
              <a:lnSpc>
                <a:spcPct val="100000"/>
              </a:lnSpc>
              <a:spcBef>
                <a:spcPts val="360"/>
              </a:spcBef>
              <a:spcAft>
                <a:spcPts val="0"/>
              </a:spcAft>
              <a:buClr>
                <a:schemeClr val="dk1"/>
              </a:buClr>
              <a:buSzPts val="1200"/>
              <a:buFont typeface="Noto Sans Symbols"/>
              <a:buChar char="⮚"/>
            </a:pPr>
            <a:r>
              <a:rPr lang="en-US">
                <a:latin typeface="Times New Roman"/>
                <a:ea typeface="Times New Roman"/>
                <a:cs typeface="Times New Roman"/>
                <a:sym typeface="Times New Roman"/>
              </a:rPr>
              <a:t>Organismic level - one living individual</a:t>
            </a:r>
            <a:endParaRPr/>
          </a:p>
          <a:p>
            <a:pPr indent="0" lvl="0" marL="0" rtl="0" algn="l">
              <a:lnSpc>
                <a:spcPct val="100000"/>
              </a:lnSpc>
              <a:spcBef>
                <a:spcPts val="360"/>
              </a:spcBef>
              <a:spcAft>
                <a:spcPts val="0"/>
              </a:spcAft>
              <a:buSzPts val="1400"/>
              <a:buNone/>
            </a:pPr>
            <a:r>
              <a:rPr lang="en-US">
                <a:latin typeface="Times New Roman"/>
                <a:ea typeface="Times New Roman"/>
                <a:cs typeface="Times New Roman"/>
                <a:sym typeface="Times New Roman"/>
              </a:rPr>
              <a:t>  —the ability to obtain and process energy, the ability to respond to environmental changes, and the ability to reproduce.</a:t>
            </a:r>
            <a:endParaRPr/>
          </a:p>
          <a:p>
            <a:pPr indent="0" lvl="0" marL="0" rtl="0" algn="l">
              <a:lnSpc>
                <a:spcPct val="100000"/>
              </a:lnSpc>
              <a:spcBef>
                <a:spcPts val="360"/>
              </a:spcBef>
              <a:spcAft>
                <a:spcPts val="0"/>
              </a:spcAft>
              <a:buSzPts val="1400"/>
              <a:buNone/>
            </a:pPr>
            <a:r>
              <a:t/>
            </a:r>
            <a:endParaRPr>
              <a:latin typeface="Times New Roman"/>
              <a:ea typeface="Times New Roman"/>
              <a:cs typeface="Times New Roman"/>
              <a:sym typeface="Times New Roman"/>
            </a:endParaRPr>
          </a:p>
          <a:p>
            <a:pPr indent="0" lvl="0" marL="0" rtl="0" algn="l">
              <a:lnSpc>
                <a:spcPct val="100000"/>
              </a:lnSpc>
              <a:spcBef>
                <a:spcPts val="360"/>
              </a:spcBef>
              <a:spcAft>
                <a:spcPts val="0"/>
              </a:spcAft>
              <a:buSzPts val="1400"/>
              <a:buNone/>
            </a:pPr>
            <a:r>
              <a:t/>
            </a:r>
            <a:endParaRPr>
              <a:latin typeface="Times New Roman"/>
              <a:ea typeface="Times New Roman"/>
              <a:cs typeface="Times New Roman"/>
              <a:sym typeface="Times New Roman"/>
            </a:endParaRPr>
          </a:p>
        </p:txBody>
      </p:sp>
      <p:sp>
        <p:nvSpPr>
          <p:cNvPr id="246" name="Google Shape;246;p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1" name="Google Shape;25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1" name="Google Shape;291;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
        <p:nvSpPr>
          <p:cNvPr id="292" name="Google Shape;292;p1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9" name="Google Shape;29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4" name="Google Shape;30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1" name="Google Shape;31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5" name="Google Shape;32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2" name="Google Shape;33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2" name="Google Shape;34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7" name="Google Shape;35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3" name="Google Shape;36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0" name="Google Shape;37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3" name="Google Shape;383;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The </a:t>
            </a:r>
            <a:r>
              <a:rPr b="1" lang="en-US" sz="1400">
                <a:latin typeface="Times New Roman"/>
                <a:ea typeface="Times New Roman"/>
                <a:cs typeface="Times New Roman"/>
                <a:sym typeface="Times New Roman"/>
              </a:rPr>
              <a:t>circulatory system</a:t>
            </a:r>
            <a:r>
              <a:rPr lang="en-US">
                <a:latin typeface="Times New Roman"/>
                <a:ea typeface="Times New Roman"/>
                <a:cs typeface="Times New Roman"/>
                <a:sym typeface="Times New Roman"/>
              </a:rPr>
              <a:t> works together with several other body systems to bring needed supplies to cells which cannot move.  The circulatory system is a delivery system </a:t>
            </a:r>
            <a:endParaRPr/>
          </a:p>
        </p:txBody>
      </p:sp>
      <p:sp>
        <p:nvSpPr>
          <p:cNvPr id="384" name="Google Shape;384;p2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2" name="Google Shape;39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99" name="Google Shape;39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00" name="Google Shape;400;p22:notes"/>
          <p:cNvSpPr txBox="1"/>
          <p:nvPr>
            <p:ph idx="1" type="body"/>
          </p:nvPr>
        </p:nvSpPr>
        <p:spPr>
          <a:xfrm>
            <a:off x="914400" y="4343400"/>
            <a:ext cx="50292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The Lungs are only air sacs.  In order for them to move they must work together with a muscle known as the Diaphragm</a:t>
            </a:r>
            <a:endParaRPr/>
          </a:p>
          <a:p>
            <a:pPr indent="0" lvl="0" marL="0" rtl="0" algn="l">
              <a:lnSpc>
                <a:spcPct val="100000"/>
              </a:lnSpc>
              <a:spcBef>
                <a:spcPts val="36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09" name="Google Shape;40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17" name="Google Shape;41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34" name="Google Shape;43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41" name="Google Shape;44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46" name="Google Shape;44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53" name="Google Shape;45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60" name="Google Shape;46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98" name="Google Shape;498;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Bones contain blood vessels and cavities containing marrow.  Red marrow produces red blood cells, white blood cells and platelets</a:t>
            </a:r>
            <a:endParaRPr/>
          </a:p>
          <a:p>
            <a:pPr indent="0" lvl="0" marL="0" rtl="0" algn="l">
              <a:lnSpc>
                <a:spcPct val="100000"/>
              </a:lnSpc>
              <a:spcBef>
                <a:spcPts val="360"/>
              </a:spcBef>
              <a:spcAft>
                <a:spcPts val="0"/>
              </a:spcAft>
              <a:buSzPts val="1400"/>
              <a:buNone/>
            </a:pPr>
            <a:r>
              <a:t/>
            </a:r>
            <a:endParaRPr>
              <a:latin typeface="Times New Roman"/>
              <a:ea typeface="Times New Roman"/>
              <a:cs typeface="Times New Roman"/>
              <a:sym typeface="Times New Roman"/>
            </a:endParaRPr>
          </a:p>
        </p:txBody>
      </p:sp>
      <p:sp>
        <p:nvSpPr>
          <p:cNvPr id="499" name="Google Shape;499;p3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08" name="Google Shape;508;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Each type of joint is designed to allow movement without damaging the other bones.  Joints in the skull allow no movement, joints in the spine allow a small amount of movement and those shown below allow  movement in one or more directions.</a:t>
            </a:r>
            <a:endParaRPr/>
          </a:p>
          <a:p>
            <a:pPr indent="0" lvl="0" marL="0" rtl="0" algn="l">
              <a:lnSpc>
                <a:spcPct val="100000"/>
              </a:lnSpc>
              <a:spcBef>
                <a:spcPts val="360"/>
              </a:spcBef>
              <a:spcAft>
                <a:spcPts val="0"/>
              </a:spcAft>
              <a:buSzPts val="1400"/>
              <a:buNone/>
            </a:pPr>
            <a:r>
              <a:t/>
            </a:r>
            <a:endParaRPr>
              <a:latin typeface="Times New Roman"/>
              <a:ea typeface="Times New Roman"/>
              <a:cs typeface="Times New Roman"/>
              <a:sym typeface="Times New Roman"/>
            </a:endParaRPr>
          </a:p>
        </p:txBody>
      </p:sp>
      <p:sp>
        <p:nvSpPr>
          <p:cNvPr id="509" name="Google Shape;509;p3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27" name="Google Shape;527;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35" name="Google Shape;535;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40" name="Google Shape;54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48" name="Google Shape;548;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55" name="Google Shape;55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63" name="Google Shape;563;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68" name="Google Shape;56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79" name="Google Shape;579;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85" name="Google Shape;585;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90" name="Google Shape;59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95" name="Google Shape;595;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00" name="Google Shape;600;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8" name="Shape 18"/>
        <p:cNvGrpSpPr/>
        <p:nvPr/>
      </p:nvGrpSpPr>
      <p:grpSpPr>
        <a:xfrm>
          <a:off x="0" y="0"/>
          <a:ext cx="0" cy="0"/>
          <a:chOff x="0" y="0"/>
          <a:chExt cx="0" cy="0"/>
        </a:xfrm>
      </p:grpSpPr>
      <p:sp>
        <p:nvSpPr>
          <p:cNvPr id="19" name="Google Shape;19;p46"/>
          <p:cNvSpPr/>
          <p:nvPr/>
        </p:nvSpPr>
        <p:spPr>
          <a:xfrm>
            <a:off x="2382" y="6400800"/>
            <a:ext cx="9141619" cy="457200"/>
          </a:xfrm>
          <a:prstGeom prst="rect">
            <a:avLst/>
          </a:prstGeom>
          <a:solidFill>
            <a:srgbClr val="61809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6"/>
          <p:cNvSpPr/>
          <p:nvPr/>
        </p:nvSpPr>
        <p:spPr>
          <a:xfrm>
            <a:off x="12" y="6334316"/>
            <a:ext cx="9141619" cy="64008"/>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47"/>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48"/>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8"/>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2" name="Google Shape;32;p4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5" name="Shape 35"/>
        <p:cNvGrpSpPr/>
        <p:nvPr/>
      </p:nvGrpSpPr>
      <p:grpSpPr>
        <a:xfrm>
          <a:off x="0" y="0"/>
          <a:ext cx="0" cy="0"/>
          <a:chOff x="0" y="0"/>
          <a:chExt cx="0" cy="0"/>
        </a:xfrm>
      </p:grpSpPr>
      <p:sp>
        <p:nvSpPr>
          <p:cNvPr id="36" name="Google Shape;36;p61"/>
          <p:cNvSpPr/>
          <p:nvPr/>
        </p:nvSpPr>
        <p:spPr>
          <a:xfrm>
            <a:off x="2382" y="6400800"/>
            <a:ext cx="9141619" cy="457200"/>
          </a:xfrm>
          <a:prstGeom prst="rect">
            <a:avLst/>
          </a:prstGeom>
          <a:solidFill>
            <a:srgbClr val="61809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61"/>
          <p:cNvSpPr txBox="1"/>
          <p:nvPr>
            <p:ph type="ctr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1"/>
          <p:cNvSpPr txBox="1"/>
          <p:nvPr>
            <p:ph idx="1" type="subTitle"/>
          </p:nvPr>
        </p:nvSpPr>
        <p:spPr>
          <a:xfrm>
            <a:off x="825038" y="4455621"/>
            <a:ext cx="75438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39" name="Google Shape;39;p6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cxnSp>
        <p:nvCxnSpPr>
          <p:cNvPr id="42" name="Google Shape;42;p61"/>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
        <p:nvSpPr>
          <p:cNvPr id="43" name="Google Shape;43;p61"/>
          <p:cNvSpPr/>
          <p:nvPr/>
        </p:nvSpPr>
        <p:spPr>
          <a:xfrm>
            <a:off x="0" y="6334315"/>
            <a:ext cx="9144001" cy="65999"/>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4" name="Shape 44"/>
        <p:cNvGrpSpPr/>
        <p:nvPr/>
      </p:nvGrpSpPr>
      <p:grpSpPr>
        <a:xfrm>
          <a:off x="0" y="0"/>
          <a:ext cx="0" cy="0"/>
          <a:chOff x="0" y="0"/>
          <a:chExt cx="0" cy="0"/>
        </a:xfrm>
      </p:grpSpPr>
      <p:sp>
        <p:nvSpPr>
          <p:cNvPr id="45" name="Google Shape;45;p62"/>
          <p:cNvSpPr/>
          <p:nvPr/>
        </p:nvSpPr>
        <p:spPr>
          <a:xfrm>
            <a:off x="2382" y="6400800"/>
            <a:ext cx="9141619" cy="457200"/>
          </a:xfrm>
          <a:prstGeom prst="rect">
            <a:avLst/>
          </a:prstGeom>
          <a:solidFill>
            <a:srgbClr val="61809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62"/>
          <p:cNvSpPr txBox="1"/>
          <p:nvPr>
            <p:ph type="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2"/>
          <p:cNvSpPr txBox="1"/>
          <p:nvPr>
            <p:ph idx="1" type="body"/>
          </p:nvPr>
        </p:nvSpPr>
        <p:spPr>
          <a:xfrm>
            <a:off x="822960" y="4453128"/>
            <a:ext cx="75438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8" name="Google Shape;48;p6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cxnSp>
        <p:nvCxnSpPr>
          <p:cNvPr id="51" name="Google Shape;51;p62"/>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
        <p:nvSpPr>
          <p:cNvPr id="52" name="Google Shape;52;p62"/>
          <p:cNvSpPr/>
          <p:nvPr/>
        </p:nvSpPr>
        <p:spPr>
          <a:xfrm>
            <a:off x="0" y="6334315"/>
            <a:ext cx="9144001" cy="65999"/>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6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3"/>
          <p:cNvSpPr txBox="1"/>
          <p:nvPr>
            <p:ph idx="1" type="body"/>
          </p:nvPr>
        </p:nvSpPr>
        <p:spPr>
          <a:xfrm>
            <a:off x="822960" y="1845734"/>
            <a:ext cx="370332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6" name="Google Shape;56;p63"/>
          <p:cNvSpPr txBox="1"/>
          <p:nvPr>
            <p:ph idx="2" type="body"/>
          </p:nvPr>
        </p:nvSpPr>
        <p:spPr>
          <a:xfrm>
            <a:off x="4663440" y="1845735"/>
            <a:ext cx="370332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6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6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6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64"/>
          <p:cNvSpPr txBox="1"/>
          <p:nvPr>
            <p:ph idx="1" type="body"/>
          </p:nvPr>
        </p:nvSpPr>
        <p:spPr>
          <a:xfrm>
            <a:off x="82296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3" name="Google Shape;63;p64"/>
          <p:cNvSpPr txBox="1"/>
          <p:nvPr>
            <p:ph idx="2" type="body"/>
          </p:nvPr>
        </p:nvSpPr>
        <p:spPr>
          <a:xfrm>
            <a:off x="822960" y="2582334"/>
            <a:ext cx="370332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4" name="Google Shape;64;p64"/>
          <p:cNvSpPr txBox="1"/>
          <p:nvPr>
            <p:ph idx="3" type="body"/>
          </p:nvPr>
        </p:nvSpPr>
        <p:spPr>
          <a:xfrm>
            <a:off x="466344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5" name="Google Shape;65;p64"/>
          <p:cNvSpPr txBox="1"/>
          <p:nvPr>
            <p:ph idx="4" type="body"/>
          </p:nvPr>
        </p:nvSpPr>
        <p:spPr>
          <a:xfrm>
            <a:off x="4663440" y="2582334"/>
            <a:ext cx="370332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6" name="Google Shape;66;p6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6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9" name="Shape 69"/>
        <p:cNvGrpSpPr/>
        <p:nvPr/>
      </p:nvGrpSpPr>
      <p:grpSpPr>
        <a:xfrm>
          <a:off x="0" y="0"/>
          <a:ext cx="0" cy="0"/>
          <a:chOff x="0" y="0"/>
          <a:chExt cx="0" cy="0"/>
        </a:xfrm>
      </p:grpSpPr>
      <p:sp>
        <p:nvSpPr>
          <p:cNvPr id="70" name="Google Shape;70;p65"/>
          <p:cNvSpPr/>
          <p:nvPr/>
        </p:nvSpPr>
        <p:spPr>
          <a:xfrm>
            <a:off x="13" y="0"/>
            <a:ext cx="3038093" cy="6858000"/>
          </a:xfrm>
          <a:prstGeom prst="rect">
            <a:avLst/>
          </a:prstGeom>
          <a:solidFill>
            <a:srgbClr val="61809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65"/>
          <p:cNvSpPr/>
          <p:nvPr/>
        </p:nvSpPr>
        <p:spPr>
          <a:xfrm>
            <a:off x="3030053" y="0"/>
            <a:ext cx="48006" cy="68580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65"/>
          <p:cNvSpPr txBox="1"/>
          <p:nvPr>
            <p:ph type="title"/>
          </p:nvPr>
        </p:nvSpPr>
        <p:spPr>
          <a:xfrm>
            <a:off x="342900" y="594359"/>
            <a:ext cx="24003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5"/>
          <p:cNvSpPr txBox="1"/>
          <p:nvPr>
            <p:ph idx="1" type="body"/>
          </p:nvPr>
        </p:nvSpPr>
        <p:spPr>
          <a:xfrm>
            <a:off x="3600450" y="731520"/>
            <a:ext cx="486918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65"/>
          <p:cNvSpPr txBox="1"/>
          <p:nvPr>
            <p:ph idx="2" type="body"/>
          </p:nvPr>
        </p:nvSpPr>
        <p:spPr>
          <a:xfrm>
            <a:off x="342900" y="2926080"/>
            <a:ext cx="24003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5" name="Google Shape;75;p65"/>
          <p:cNvSpPr txBox="1"/>
          <p:nvPr>
            <p:ph idx="10" type="dt"/>
          </p:nvPr>
        </p:nvSpPr>
        <p:spPr>
          <a:xfrm>
            <a:off x="349134" y="6459786"/>
            <a:ext cx="196388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5"/>
          <p:cNvSpPr txBox="1"/>
          <p:nvPr>
            <p:ph idx="11" type="ftr"/>
          </p:nvPr>
        </p:nvSpPr>
        <p:spPr>
          <a:xfrm>
            <a:off x="3600450" y="6459786"/>
            <a:ext cx="348615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66"/>
          <p:cNvSpPr/>
          <p:nvPr/>
        </p:nvSpPr>
        <p:spPr>
          <a:xfrm>
            <a:off x="0" y="4953000"/>
            <a:ext cx="9141619" cy="1905000"/>
          </a:xfrm>
          <a:prstGeom prst="rect">
            <a:avLst/>
          </a:prstGeom>
          <a:solidFill>
            <a:srgbClr val="61809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66"/>
          <p:cNvSpPr/>
          <p:nvPr/>
        </p:nvSpPr>
        <p:spPr>
          <a:xfrm>
            <a:off x="12" y="4915076"/>
            <a:ext cx="9141619" cy="64008"/>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66"/>
          <p:cNvSpPr txBox="1"/>
          <p:nvPr>
            <p:ph type="title"/>
          </p:nvPr>
        </p:nvSpPr>
        <p:spPr>
          <a:xfrm>
            <a:off x="822960" y="5074920"/>
            <a:ext cx="758523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6"/>
          <p:cNvSpPr/>
          <p:nvPr>
            <p:ph idx="2" type="pic"/>
          </p:nvPr>
        </p:nvSpPr>
        <p:spPr>
          <a:xfrm>
            <a:off x="12" y="0"/>
            <a:ext cx="9143989" cy="4915076"/>
          </a:xfrm>
          <a:prstGeom prst="rect">
            <a:avLst/>
          </a:prstGeom>
          <a:solidFill>
            <a:srgbClr val="B6C3CF"/>
          </a:solidFill>
          <a:ln>
            <a:noFill/>
          </a:ln>
        </p:spPr>
      </p:sp>
      <p:sp>
        <p:nvSpPr>
          <p:cNvPr id="83" name="Google Shape;83;p66"/>
          <p:cNvSpPr txBox="1"/>
          <p:nvPr>
            <p:ph idx="1" type="body"/>
          </p:nvPr>
        </p:nvSpPr>
        <p:spPr>
          <a:xfrm>
            <a:off x="822960" y="5907024"/>
            <a:ext cx="7589520"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6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6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6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67"/>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67"/>
          <p:cNvSpPr txBox="1"/>
          <p:nvPr>
            <p:ph idx="1" type="body"/>
          </p:nvPr>
        </p:nvSpPr>
        <p:spPr>
          <a:xfrm rot="5400000">
            <a:off x="2583179" y="85514"/>
            <a:ext cx="4023360" cy="7543801"/>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6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6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6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68"/>
          <p:cNvSpPr/>
          <p:nvPr/>
        </p:nvSpPr>
        <p:spPr>
          <a:xfrm>
            <a:off x="2382" y="6400800"/>
            <a:ext cx="9141619" cy="457200"/>
          </a:xfrm>
          <a:prstGeom prst="rect">
            <a:avLst/>
          </a:prstGeom>
          <a:solidFill>
            <a:srgbClr val="61809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68"/>
          <p:cNvSpPr/>
          <p:nvPr/>
        </p:nvSpPr>
        <p:spPr>
          <a:xfrm>
            <a:off x="12" y="6334316"/>
            <a:ext cx="9143989" cy="64008"/>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68"/>
          <p:cNvSpPr txBox="1"/>
          <p:nvPr>
            <p:ph type="title"/>
          </p:nvPr>
        </p:nvSpPr>
        <p:spPr>
          <a:xfrm rot="5400000">
            <a:off x="4649564" y="2306414"/>
            <a:ext cx="5759898" cy="1971675"/>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68"/>
          <p:cNvSpPr txBox="1"/>
          <p:nvPr>
            <p:ph idx="1" type="body"/>
          </p:nvPr>
        </p:nvSpPr>
        <p:spPr>
          <a:xfrm rot="5400000">
            <a:off x="649064" y="391889"/>
            <a:ext cx="5759898" cy="5800725"/>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6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6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6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10" name="Shape 110"/>
        <p:cNvGrpSpPr/>
        <p:nvPr/>
      </p:nvGrpSpPr>
      <p:grpSpPr>
        <a:xfrm>
          <a:off x="0" y="0"/>
          <a:ext cx="0" cy="0"/>
          <a:chOff x="0" y="0"/>
          <a:chExt cx="0" cy="0"/>
        </a:xfrm>
      </p:grpSpPr>
      <p:sp>
        <p:nvSpPr>
          <p:cNvPr id="111" name="Google Shape;111;p50"/>
          <p:cNvSpPr/>
          <p:nvPr/>
        </p:nvSpPr>
        <p:spPr>
          <a:xfrm>
            <a:off x="2382" y="6400800"/>
            <a:ext cx="9141619" cy="457200"/>
          </a:xfrm>
          <a:prstGeom prst="rect">
            <a:avLst/>
          </a:prstGeom>
          <a:solidFill>
            <a:srgbClr val="61809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50"/>
          <p:cNvSpPr/>
          <p:nvPr/>
        </p:nvSpPr>
        <p:spPr>
          <a:xfrm>
            <a:off x="12" y="6334316"/>
            <a:ext cx="9141619" cy="64008"/>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5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5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5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5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5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5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5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21" name="Shape 121"/>
        <p:cNvGrpSpPr/>
        <p:nvPr/>
      </p:nvGrpSpPr>
      <p:grpSpPr>
        <a:xfrm>
          <a:off x="0" y="0"/>
          <a:ext cx="0" cy="0"/>
          <a:chOff x="0" y="0"/>
          <a:chExt cx="0" cy="0"/>
        </a:xfrm>
      </p:grpSpPr>
      <p:sp>
        <p:nvSpPr>
          <p:cNvPr id="122" name="Google Shape;122;p52"/>
          <p:cNvSpPr/>
          <p:nvPr/>
        </p:nvSpPr>
        <p:spPr>
          <a:xfrm>
            <a:off x="2382" y="6400800"/>
            <a:ext cx="9141619" cy="457200"/>
          </a:xfrm>
          <a:prstGeom prst="rect">
            <a:avLst/>
          </a:prstGeom>
          <a:solidFill>
            <a:srgbClr val="61809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52"/>
          <p:cNvSpPr txBox="1"/>
          <p:nvPr>
            <p:ph type="ctr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52"/>
          <p:cNvSpPr txBox="1"/>
          <p:nvPr>
            <p:ph idx="1" type="subTitle"/>
          </p:nvPr>
        </p:nvSpPr>
        <p:spPr>
          <a:xfrm>
            <a:off x="825038" y="4455621"/>
            <a:ext cx="75438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25" name="Google Shape;125;p5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5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5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cxnSp>
        <p:nvCxnSpPr>
          <p:cNvPr id="128" name="Google Shape;128;p52"/>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
        <p:nvSpPr>
          <p:cNvPr id="129" name="Google Shape;129;p52"/>
          <p:cNvSpPr/>
          <p:nvPr/>
        </p:nvSpPr>
        <p:spPr>
          <a:xfrm>
            <a:off x="0" y="6334315"/>
            <a:ext cx="9144001" cy="65999"/>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0" name="Shape 130"/>
        <p:cNvGrpSpPr/>
        <p:nvPr/>
      </p:nvGrpSpPr>
      <p:grpSpPr>
        <a:xfrm>
          <a:off x="0" y="0"/>
          <a:ext cx="0" cy="0"/>
          <a:chOff x="0" y="0"/>
          <a:chExt cx="0" cy="0"/>
        </a:xfrm>
      </p:grpSpPr>
      <p:sp>
        <p:nvSpPr>
          <p:cNvPr id="131" name="Google Shape;131;p5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53"/>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33" name="Google Shape;133;p5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5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5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136" name="Shape 136"/>
        <p:cNvGrpSpPr/>
        <p:nvPr/>
      </p:nvGrpSpPr>
      <p:grpSpPr>
        <a:xfrm>
          <a:off x="0" y="0"/>
          <a:ext cx="0" cy="0"/>
          <a:chOff x="0" y="0"/>
          <a:chExt cx="0" cy="0"/>
        </a:xfrm>
      </p:grpSpPr>
      <p:sp>
        <p:nvSpPr>
          <p:cNvPr id="137" name="Google Shape;137;p54"/>
          <p:cNvSpPr/>
          <p:nvPr/>
        </p:nvSpPr>
        <p:spPr>
          <a:xfrm>
            <a:off x="2382" y="6400800"/>
            <a:ext cx="9141619" cy="457200"/>
          </a:xfrm>
          <a:prstGeom prst="rect">
            <a:avLst/>
          </a:prstGeom>
          <a:solidFill>
            <a:srgbClr val="61809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54"/>
          <p:cNvSpPr txBox="1"/>
          <p:nvPr>
            <p:ph type="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54"/>
          <p:cNvSpPr txBox="1"/>
          <p:nvPr>
            <p:ph idx="1" type="body"/>
          </p:nvPr>
        </p:nvSpPr>
        <p:spPr>
          <a:xfrm>
            <a:off x="822960" y="4453128"/>
            <a:ext cx="75438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140" name="Google Shape;140;p5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5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5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cxnSp>
        <p:nvCxnSpPr>
          <p:cNvPr id="143" name="Google Shape;143;p54"/>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
        <p:nvSpPr>
          <p:cNvPr id="144" name="Google Shape;144;p54"/>
          <p:cNvSpPr/>
          <p:nvPr/>
        </p:nvSpPr>
        <p:spPr>
          <a:xfrm>
            <a:off x="0" y="6334315"/>
            <a:ext cx="9144001" cy="65999"/>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5" name="Shape 145"/>
        <p:cNvGrpSpPr/>
        <p:nvPr/>
      </p:nvGrpSpPr>
      <p:grpSpPr>
        <a:xfrm>
          <a:off x="0" y="0"/>
          <a:ext cx="0" cy="0"/>
          <a:chOff x="0" y="0"/>
          <a:chExt cx="0" cy="0"/>
        </a:xfrm>
      </p:grpSpPr>
      <p:sp>
        <p:nvSpPr>
          <p:cNvPr id="146" name="Google Shape;146;p55"/>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55"/>
          <p:cNvSpPr txBox="1"/>
          <p:nvPr>
            <p:ph idx="1" type="body"/>
          </p:nvPr>
        </p:nvSpPr>
        <p:spPr>
          <a:xfrm>
            <a:off x="822960" y="1845734"/>
            <a:ext cx="370332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48" name="Google Shape;148;p55"/>
          <p:cNvSpPr txBox="1"/>
          <p:nvPr>
            <p:ph idx="2" type="body"/>
          </p:nvPr>
        </p:nvSpPr>
        <p:spPr>
          <a:xfrm>
            <a:off x="4663440" y="1845735"/>
            <a:ext cx="370332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49" name="Google Shape;149;p5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5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5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2" name="Shape 152"/>
        <p:cNvGrpSpPr/>
        <p:nvPr/>
      </p:nvGrpSpPr>
      <p:grpSpPr>
        <a:xfrm>
          <a:off x="0" y="0"/>
          <a:ext cx="0" cy="0"/>
          <a:chOff x="0" y="0"/>
          <a:chExt cx="0" cy="0"/>
        </a:xfrm>
      </p:grpSpPr>
      <p:sp>
        <p:nvSpPr>
          <p:cNvPr id="153" name="Google Shape;153;p56"/>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56"/>
          <p:cNvSpPr txBox="1"/>
          <p:nvPr>
            <p:ph idx="1" type="body"/>
          </p:nvPr>
        </p:nvSpPr>
        <p:spPr>
          <a:xfrm>
            <a:off x="82296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155" name="Google Shape;155;p56"/>
          <p:cNvSpPr txBox="1"/>
          <p:nvPr>
            <p:ph idx="2" type="body"/>
          </p:nvPr>
        </p:nvSpPr>
        <p:spPr>
          <a:xfrm>
            <a:off x="822960" y="2582334"/>
            <a:ext cx="370332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56" name="Google Shape;156;p56"/>
          <p:cNvSpPr txBox="1"/>
          <p:nvPr>
            <p:ph idx="3" type="body"/>
          </p:nvPr>
        </p:nvSpPr>
        <p:spPr>
          <a:xfrm>
            <a:off x="466344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157" name="Google Shape;157;p56"/>
          <p:cNvSpPr txBox="1"/>
          <p:nvPr>
            <p:ph idx="4" type="body"/>
          </p:nvPr>
        </p:nvSpPr>
        <p:spPr>
          <a:xfrm>
            <a:off x="4663440" y="2582334"/>
            <a:ext cx="370332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58" name="Google Shape;158;p5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5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5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61" name="Shape 161"/>
        <p:cNvGrpSpPr/>
        <p:nvPr/>
      </p:nvGrpSpPr>
      <p:grpSpPr>
        <a:xfrm>
          <a:off x="0" y="0"/>
          <a:ext cx="0" cy="0"/>
          <a:chOff x="0" y="0"/>
          <a:chExt cx="0" cy="0"/>
        </a:xfrm>
      </p:grpSpPr>
      <p:sp>
        <p:nvSpPr>
          <p:cNvPr id="162" name="Google Shape;162;p57"/>
          <p:cNvSpPr/>
          <p:nvPr/>
        </p:nvSpPr>
        <p:spPr>
          <a:xfrm>
            <a:off x="13" y="0"/>
            <a:ext cx="3038093" cy="6858000"/>
          </a:xfrm>
          <a:prstGeom prst="rect">
            <a:avLst/>
          </a:prstGeom>
          <a:solidFill>
            <a:srgbClr val="61809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57"/>
          <p:cNvSpPr/>
          <p:nvPr/>
        </p:nvSpPr>
        <p:spPr>
          <a:xfrm>
            <a:off x="3030053" y="0"/>
            <a:ext cx="48006" cy="68580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57"/>
          <p:cNvSpPr txBox="1"/>
          <p:nvPr>
            <p:ph type="title"/>
          </p:nvPr>
        </p:nvSpPr>
        <p:spPr>
          <a:xfrm>
            <a:off x="342900" y="594359"/>
            <a:ext cx="24003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57"/>
          <p:cNvSpPr txBox="1"/>
          <p:nvPr>
            <p:ph idx="1" type="body"/>
          </p:nvPr>
        </p:nvSpPr>
        <p:spPr>
          <a:xfrm>
            <a:off x="3600450" y="731520"/>
            <a:ext cx="486918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66" name="Google Shape;166;p57"/>
          <p:cNvSpPr txBox="1"/>
          <p:nvPr>
            <p:ph idx="2" type="body"/>
          </p:nvPr>
        </p:nvSpPr>
        <p:spPr>
          <a:xfrm>
            <a:off x="342900" y="2926080"/>
            <a:ext cx="24003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167" name="Google Shape;167;p57"/>
          <p:cNvSpPr txBox="1"/>
          <p:nvPr>
            <p:ph idx="10" type="dt"/>
          </p:nvPr>
        </p:nvSpPr>
        <p:spPr>
          <a:xfrm>
            <a:off x="349134" y="6459786"/>
            <a:ext cx="196388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57"/>
          <p:cNvSpPr txBox="1"/>
          <p:nvPr>
            <p:ph idx="11" type="ftr"/>
          </p:nvPr>
        </p:nvSpPr>
        <p:spPr>
          <a:xfrm>
            <a:off x="3600450" y="6459786"/>
            <a:ext cx="348615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5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70" name="Shape 170"/>
        <p:cNvGrpSpPr/>
        <p:nvPr/>
      </p:nvGrpSpPr>
      <p:grpSpPr>
        <a:xfrm>
          <a:off x="0" y="0"/>
          <a:ext cx="0" cy="0"/>
          <a:chOff x="0" y="0"/>
          <a:chExt cx="0" cy="0"/>
        </a:xfrm>
      </p:grpSpPr>
      <p:sp>
        <p:nvSpPr>
          <p:cNvPr id="171" name="Google Shape;171;p58"/>
          <p:cNvSpPr/>
          <p:nvPr/>
        </p:nvSpPr>
        <p:spPr>
          <a:xfrm>
            <a:off x="0" y="4953000"/>
            <a:ext cx="9141619" cy="1905000"/>
          </a:xfrm>
          <a:prstGeom prst="rect">
            <a:avLst/>
          </a:prstGeom>
          <a:solidFill>
            <a:srgbClr val="61809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58"/>
          <p:cNvSpPr/>
          <p:nvPr/>
        </p:nvSpPr>
        <p:spPr>
          <a:xfrm>
            <a:off x="12" y="4915076"/>
            <a:ext cx="9141619" cy="64008"/>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58"/>
          <p:cNvSpPr txBox="1"/>
          <p:nvPr>
            <p:ph type="title"/>
          </p:nvPr>
        </p:nvSpPr>
        <p:spPr>
          <a:xfrm>
            <a:off x="822960" y="5074920"/>
            <a:ext cx="758523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58"/>
          <p:cNvSpPr/>
          <p:nvPr>
            <p:ph idx="2" type="pic"/>
          </p:nvPr>
        </p:nvSpPr>
        <p:spPr>
          <a:xfrm>
            <a:off x="12" y="0"/>
            <a:ext cx="9143989" cy="4915076"/>
          </a:xfrm>
          <a:prstGeom prst="rect">
            <a:avLst/>
          </a:prstGeom>
          <a:solidFill>
            <a:srgbClr val="B6C3CF"/>
          </a:solidFill>
          <a:ln>
            <a:noFill/>
          </a:ln>
        </p:spPr>
      </p:sp>
      <p:sp>
        <p:nvSpPr>
          <p:cNvPr id="175" name="Google Shape;175;p58"/>
          <p:cNvSpPr txBox="1"/>
          <p:nvPr>
            <p:ph idx="1" type="body"/>
          </p:nvPr>
        </p:nvSpPr>
        <p:spPr>
          <a:xfrm>
            <a:off x="822960" y="5907024"/>
            <a:ext cx="7589520"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176" name="Google Shape;176;p5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5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5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9" name="Shape 179"/>
        <p:cNvGrpSpPr/>
        <p:nvPr/>
      </p:nvGrpSpPr>
      <p:grpSpPr>
        <a:xfrm>
          <a:off x="0" y="0"/>
          <a:ext cx="0" cy="0"/>
          <a:chOff x="0" y="0"/>
          <a:chExt cx="0" cy="0"/>
        </a:xfrm>
      </p:grpSpPr>
      <p:sp>
        <p:nvSpPr>
          <p:cNvPr id="180" name="Google Shape;180;p59"/>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p59"/>
          <p:cNvSpPr txBox="1"/>
          <p:nvPr>
            <p:ph idx="1" type="body"/>
          </p:nvPr>
        </p:nvSpPr>
        <p:spPr>
          <a:xfrm rot="5400000">
            <a:off x="2583179" y="85514"/>
            <a:ext cx="4023360" cy="7543801"/>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82" name="Google Shape;182;p5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5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5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85" name="Shape 185"/>
        <p:cNvGrpSpPr/>
        <p:nvPr/>
      </p:nvGrpSpPr>
      <p:grpSpPr>
        <a:xfrm>
          <a:off x="0" y="0"/>
          <a:ext cx="0" cy="0"/>
          <a:chOff x="0" y="0"/>
          <a:chExt cx="0" cy="0"/>
        </a:xfrm>
      </p:grpSpPr>
      <p:sp>
        <p:nvSpPr>
          <p:cNvPr id="186" name="Google Shape;186;p60"/>
          <p:cNvSpPr/>
          <p:nvPr/>
        </p:nvSpPr>
        <p:spPr>
          <a:xfrm>
            <a:off x="2382" y="6400800"/>
            <a:ext cx="9141619" cy="457200"/>
          </a:xfrm>
          <a:prstGeom prst="rect">
            <a:avLst/>
          </a:prstGeom>
          <a:solidFill>
            <a:srgbClr val="61809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60"/>
          <p:cNvSpPr/>
          <p:nvPr/>
        </p:nvSpPr>
        <p:spPr>
          <a:xfrm>
            <a:off x="12" y="6334316"/>
            <a:ext cx="9143989" cy="64008"/>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60"/>
          <p:cNvSpPr txBox="1"/>
          <p:nvPr>
            <p:ph type="title"/>
          </p:nvPr>
        </p:nvSpPr>
        <p:spPr>
          <a:xfrm rot="5400000">
            <a:off x="4649564" y="2306414"/>
            <a:ext cx="5759898" cy="1971675"/>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p60"/>
          <p:cNvSpPr txBox="1"/>
          <p:nvPr>
            <p:ph idx="1" type="body"/>
          </p:nvPr>
        </p:nvSpPr>
        <p:spPr>
          <a:xfrm rot="5400000">
            <a:off x="649064" y="391889"/>
            <a:ext cx="5759898" cy="5800725"/>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90" name="Google Shape;190;p6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6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6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45"/>
          <p:cNvSpPr/>
          <p:nvPr/>
        </p:nvSpPr>
        <p:spPr>
          <a:xfrm>
            <a:off x="0" y="6400800"/>
            <a:ext cx="9144001" cy="457200"/>
          </a:xfrm>
          <a:prstGeom prst="rect">
            <a:avLst/>
          </a:prstGeom>
          <a:solidFill>
            <a:srgbClr val="61809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45"/>
          <p:cNvSpPr/>
          <p:nvPr/>
        </p:nvSpPr>
        <p:spPr>
          <a:xfrm>
            <a:off x="0" y="6334315"/>
            <a:ext cx="9144001" cy="65999"/>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45"/>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45"/>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4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15" name="Google Shape;15;p4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16" name="Google Shape;16;p4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45"/>
          <p:cNvCxnSpPr/>
          <p:nvPr/>
        </p:nvCxnSpPr>
        <p:spPr>
          <a:xfrm>
            <a:off x="895149" y="1737845"/>
            <a:ext cx="747522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1" name="Shape 101"/>
        <p:cNvGrpSpPr/>
        <p:nvPr/>
      </p:nvGrpSpPr>
      <p:grpSpPr>
        <a:xfrm>
          <a:off x="0" y="0"/>
          <a:ext cx="0" cy="0"/>
          <a:chOff x="0" y="0"/>
          <a:chExt cx="0" cy="0"/>
        </a:xfrm>
      </p:grpSpPr>
      <p:sp>
        <p:nvSpPr>
          <p:cNvPr id="102" name="Google Shape;102;p49"/>
          <p:cNvSpPr/>
          <p:nvPr/>
        </p:nvSpPr>
        <p:spPr>
          <a:xfrm>
            <a:off x="0" y="6400800"/>
            <a:ext cx="9144001" cy="457200"/>
          </a:xfrm>
          <a:prstGeom prst="rect">
            <a:avLst/>
          </a:prstGeom>
          <a:solidFill>
            <a:srgbClr val="61809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49"/>
          <p:cNvSpPr/>
          <p:nvPr/>
        </p:nvSpPr>
        <p:spPr>
          <a:xfrm>
            <a:off x="0" y="6334315"/>
            <a:ext cx="9144001" cy="65999"/>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49"/>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5" name="Google Shape;105;p49"/>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6" name="Google Shape;106;p4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107" name="Google Shape;107;p4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108" name="Google Shape;108;p4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cxnSp>
        <p:nvCxnSpPr>
          <p:cNvPr id="109" name="Google Shape;109;p49"/>
          <p:cNvCxnSpPr/>
          <p:nvPr/>
        </p:nvCxnSpPr>
        <p:spPr>
          <a:xfrm>
            <a:off x="895149" y="1737845"/>
            <a:ext cx="747522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jpg"/><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jpg"/><Relationship Id="rId4" Type="http://schemas.openxmlformats.org/officeDocument/2006/relationships/image" Target="../media/image9.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 Id="rId4" Type="http://schemas.openxmlformats.org/officeDocument/2006/relationships/image" Target="../media/image2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images.google.com/imgres?imgurl=http://www.noeticart.com/clipart/trashcanc.gif&amp;imgrefurl=http://easy.go.is/ruslid/&amp;h=366&amp;w=300&amp;sz=68&amp;tbnid=VRFMZ4i9xo0J:&amp;tbnh=117&amp;tbnw=96&amp;start=2&amp;prev=/images?q=trash+can&amp;hl=en&amp;lr=&amp;rls=RNWA,RNWA:2003-34,RNWA:en&amp;sa=N" TargetMode="External"/><Relationship Id="rId4" Type="http://schemas.openxmlformats.org/officeDocument/2006/relationships/image" Target="../media/image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2.jpg"/><Relationship Id="rId4" Type="http://schemas.openxmlformats.org/officeDocument/2006/relationships/image" Target="../media/image2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9.png"/><Relationship Id="rId4" Type="http://schemas.openxmlformats.org/officeDocument/2006/relationships/image" Target="../media/image3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images.google.com/imgres?imgurl=http://www.partydomain.co.uk/d-commerce/media/04_21120.jpg&amp;imgrefurl=http://www.partydomain.co.uk/d-commerce/product2933.html&amp;h=253&amp;w=180&amp;sz=17&amp;tbnid=MBbltyfZ_ZQJ:&amp;tbnh=105&amp;tbnw=75&amp;start=51&amp;prev=/images?q=eyelashes&amp;start=40&amp;hl=en&amp;lr=&amp;rls=RNWA,RNWA:2003-34,RNWA:en&amp;sa=N" TargetMode="External"/><Relationship Id="rId4" Type="http://schemas.openxmlformats.org/officeDocument/2006/relationships/image" Target="../media/image22.jpg"/><Relationship Id="rId5" Type="http://schemas.openxmlformats.org/officeDocument/2006/relationships/hyperlink" Target="http://en.wikipedia.org/upload/9/93/Fingernails.jpg" TargetMode="External"/><Relationship Id="rId6" Type="http://schemas.openxmlformats.org/officeDocument/2006/relationships/image" Target="../media/image3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6.jpg"/><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hyperlink" Target="http://images.google.com/imgres?imgurl=http://www.kirkwood.k12.mo.us/parent_student/khs/cervenj/images/runner.jpg&amp;imgrefurl=http://www.kirkwood.k12.mo.us/parent_student/khs/cervenj/images/&amp;h=360&amp;w=472&amp;sz=116&amp;tbnid=FLS1dqq74LoJ:&amp;tbnh=95&amp;tbnw=125&amp;start=15&amp;prev=/images?q=runner&amp;hl=en&amp;lr=&amp;rls=RNWA,RNWA:2003-34,RNWA:en&amp;sa=N" TargetMode="External"/><Relationship Id="rId4" Type="http://schemas.openxmlformats.org/officeDocument/2006/relationships/image" Target="../media/image17.jpg"/><Relationship Id="rId5" Type="http://schemas.openxmlformats.org/officeDocument/2006/relationships/image" Target="../media/image30.png"/><Relationship Id="rId6" Type="http://schemas.openxmlformats.org/officeDocument/2006/relationships/hyperlink" Target="http://images.google.com/imgres?imgurl=http://images.amazon.com/images/P/B0001LQJXA.01.LZZZZZZZ.jpg&amp;imgrefurl=http://www.amazon.com/exec/obidos/tg/large-image/-/B0001LQJXA?me=standard&amp;h=401&amp;w=500&amp;sz=41&amp;tbnid=ozk8GJbpIlsJ:&amp;tbnh=101&amp;tbnw=126&amp;start=6&amp;prev=/images?q=baby+in+diapers&amp;hl=en&amp;lr=&amp;rls=RNWA,RNWA:2003-34,RNWA:en&amp;sa=N" TargetMode="External"/><Relationship Id="rId7" Type="http://schemas.openxmlformats.org/officeDocument/2006/relationships/image" Target="../media/image33.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
          <p:cNvSpPr txBox="1"/>
          <p:nvPr/>
        </p:nvSpPr>
        <p:spPr>
          <a:xfrm>
            <a:off x="457200" y="1143000"/>
            <a:ext cx="8229600" cy="57391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chemeClr val="dk1"/>
                </a:solidFill>
                <a:latin typeface="Times New Roman"/>
                <a:ea typeface="Times New Roman"/>
                <a:cs typeface="Times New Roman"/>
                <a:sym typeface="Times New Roman"/>
              </a:rPr>
              <a:t>Organization of Human Body and Introduction to Physiology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0"/>
              </a:spcBef>
              <a:spcAft>
                <a:spcPts val="0"/>
              </a:spcAft>
              <a:buClr>
                <a:srgbClr val="000000"/>
              </a:buClr>
              <a:buSzPts val="4000"/>
              <a:buFont typeface="Arial"/>
              <a:buNone/>
            </a:pPr>
            <a:r>
              <a:rPr b="0" i="0" lang="en-US" sz="4000" u="none" cap="none" strike="noStrike">
                <a:solidFill>
                  <a:schemeClr val="dk1"/>
                </a:solidFill>
                <a:latin typeface="Times New Roman"/>
                <a:ea typeface="Times New Roman"/>
                <a:cs typeface="Times New Roman"/>
                <a:sym typeface="Times New Roman"/>
              </a:rPr>
              <a:t>Dr Shahneela Siraj</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0"/>
              </a:spcBef>
              <a:spcAft>
                <a:spcPts val="0"/>
              </a:spcAft>
              <a:buClr>
                <a:srgbClr val="000000"/>
              </a:buClr>
              <a:buSzPts val="4000"/>
              <a:buFont typeface="Arial"/>
              <a:buNone/>
            </a:pPr>
            <a:r>
              <a:rPr b="0" i="0" lang="en-US" sz="4000" u="none" cap="none" strike="noStrike">
                <a:solidFill>
                  <a:schemeClr val="dk1"/>
                </a:solidFill>
                <a:latin typeface="Times New Roman"/>
                <a:ea typeface="Times New Roman"/>
                <a:cs typeface="Times New Roman"/>
                <a:sym typeface="Times New Roman"/>
              </a:rPr>
              <a:t>Associate Professor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0"/>
              </a:spcBef>
              <a:spcAft>
                <a:spcPts val="0"/>
              </a:spcAft>
              <a:buClr>
                <a:srgbClr val="000000"/>
              </a:buClr>
              <a:buSzPts val="4000"/>
              <a:buFont typeface="Arial"/>
              <a:buNone/>
            </a:pPr>
            <a:r>
              <a:rPr b="0" i="0" lang="en-US" sz="4000" u="none" cap="none" strike="noStrike">
                <a:solidFill>
                  <a:schemeClr val="dk1"/>
                </a:solidFill>
                <a:latin typeface="Times New Roman"/>
                <a:ea typeface="Times New Roman"/>
                <a:cs typeface="Times New Roman"/>
                <a:sym typeface="Times New Roman"/>
              </a:rPr>
              <a:t>DIKIOHS,DUHS.</a:t>
            </a:r>
            <a:endParaRPr b="0" i="0" sz="4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3300"/>
              </a:spcBef>
              <a:spcAft>
                <a:spcPts val="0"/>
              </a:spcAft>
              <a:buClr>
                <a:srgbClr val="000000"/>
              </a:buClr>
              <a:buSzPts val="6600"/>
              <a:buFont typeface="Arial"/>
              <a:buNone/>
            </a:pPr>
            <a:r>
              <a:rPr b="0" i="0" lang="en-US" sz="6600" u="sng"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
          <p:cNvSpPr/>
          <p:nvPr/>
        </p:nvSpPr>
        <p:spPr>
          <a:xfrm>
            <a:off x="609600" y="533400"/>
            <a:ext cx="8153400" cy="55079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sng" cap="none" strike="noStrike">
                <a:solidFill>
                  <a:schemeClr val="dk1"/>
                </a:solidFill>
                <a:latin typeface="Times New Roman"/>
                <a:ea typeface="Times New Roman"/>
                <a:cs typeface="Times New Roman"/>
                <a:sym typeface="Times New Roman"/>
              </a:rPr>
              <a:t>Learning Objectives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By the end of the Lecture , the student should be able to :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50000"/>
              </a:lnSpc>
              <a:spcBef>
                <a:spcPts val="0"/>
              </a:spcBef>
              <a:spcAft>
                <a:spcPts val="0"/>
              </a:spcAft>
              <a:buClr>
                <a:schemeClr val="dk1"/>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Define Physiology</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Appreciate the different levels of organization in the human body.</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50000"/>
              </a:lnSpc>
              <a:spcBef>
                <a:spcPts val="0"/>
              </a:spcBef>
              <a:spcAft>
                <a:spcPts val="0"/>
              </a:spcAft>
              <a:buClr>
                <a:schemeClr val="dk1"/>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Understand the different body systems of a human body and their major components.</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Explain extracellular fluid and the internal environment</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l">
              <a:lnSpc>
                <a:spcPct val="150000"/>
              </a:lnSpc>
              <a:spcBef>
                <a:spcPts val="0"/>
              </a:spcBef>
              <a:spcAft>
                <a:spcPts val="0"/>
              </a:spcAft>
              <a:buClr>
                <a:schemeClr val="dk1"/>
              </a:buClr>
              <a:buSzPts val="2400"/>
              <a:buFont typeface="Noto Sans Symbols"/>
              <a:buNone/>
            </a:pPr>
            <a:r>
              <a:t/>
            </a:r>
            <a:endParaRPr b="1"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3"/>
          <p:cNvPicPr preferRelativeResize="0"/>
          <p:nvPr/>
        </p:nvPicPr>
        <p:blipFill rotWithShape="1">
          <a:blip r:embed="rId3">
            <a:alphaModFix/>
          </a:blip>
          <a:srcRect b="0" l="0" r="0" t="0"/>
          <a:stretch/>
        </p:blipFill>
        <p:spPr>
          <a:xfrm>
            <a:off x="-323850" y="-728345"/>
            <a:ext cx="9791700" cy="8315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grpSp>
        <p:nvGrpSpPr>
          <p:cNvPr id="212" name="Google Shape;212;p4"/>
          <p:cNvGrpSpPr/>
          <p:nvPr/>
        </p:nvGrpSpPr>
        <p:grpSpPr>
          <a:xfrm>
            <a:off x="495300" y="106363"/>
            <a:ext cx="8399704" cy="6019799"/>
            <a:chOff x="0" y="0"/>
            <a:chExt cx="8399704" cy="6019799"/>
          </a:xfrm>
        </p:grpSpPr>
        <p:sp>
          <p:nvSpPr>
            <p:cNvPr id="213" name="Google Shape;213;p4"/>
            <p:cNvSpPr/>
            <p:nvPr/>
          </p:nvSpPr>
          <p:spPr>
            <a:xfrm>
              <a:off x="1511457" y="0"/>
              <a:ext cx="4808171" cy="3897998"/>
            </a:xfrm>
            <a:prstGeom prst="ellipse">
              <a:avLst/>
            </a:prstGeom>
            <a:solidFill>
              <a:schemeClr val="accent1">
                <a:alpha val="49411"/>
              </a:schemeClr>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4"/>
            <p:cNvSpPr txBox="1"/>
            <p:nvPr/>
          </p:nvSpPr>
          <p:spPr>
            <a:xfrm>
              <a:off x="2152546" y="682149"/>
              <a:ext cx="3525992" cy="175409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5600"/>
                <a:buFont typeface="Arial"/>
                <a:buNone/>
              </a:pPr>
              <a:r>
                <a:rPr b="0" i="0" lang="en-US" sz="5600" u="sng" cap="none" strike="noStrike">
                  <a:solidFill>
                    <a:schemeClr val="dk1"/>
                  </a:solidFill>
                  <a:latin typeface="Times New Roman"/>
                  <a:ea typeface="Times New Roman"/>
                  <a:cs typeface="Times New Roman"/>
                  <a:sym typeface="Times New Roman"/>
                </a:rPr>
                <a:t>Physiology</a:t>
              </a:r>
              <a:endParaRPr b="0" i="0" sz="5600" u="sng" cap="none" strike="noStrike">
                <a:solidFill>
                  <a:schemeClr val="dk1"/>
                </a:solidFill>
                <a:latin typeface="Times New Roman"/>
                <a:ea typeface="Times New Roman"/>
                <a:cs typeface="Times New Roman"/>
                <a:sym typeface="Times New Roman"/>
              </a:endParaRPr>
            </a:p>
          </p:txBody>
        </p:sp>
        <p:sp>
          <p:nvSpPr>
            <p:cNvPr id="215" name="Google Shape;215;p4"/>
            <p:cNvSpPr/>
            <p:nvPr/>
          </p:nvSpPr>
          <p:spPr>
            <a:xfrm>
              <a:off x="3788666" y="2271346"/>
              <a:ext cx="4611038" cy="3748453"/>
            </a:xfrm>
            <a:prstGeom prst="ellipse">
              <a:avLst/>
            </a:prstGeom>
            <a:solidFill>
              <a:schemeClr val="accent1">
                <a:alpha val="49411"/>
              </a:schemeClr>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4"/>
            <p:cNvSpPr txBox="1"/>
            <p:nvPr/>
          </p:nvSpPr>
          <p:spPr>
            <a:xfrm>
              <a:off x="5198876" y="3239697"/>
              <a:ext cx="2766623" cy="206164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3600"/>
                <a:buFont typeface="Arial"/>
                <a:buNone/>
              </a:pPr>
              <a:r>
                <a:rPr b="0" i="0" lang="en-US" sz="3600" u="sng" cap="none" strike="noStrike">
                  <a:solidFill>
                    <a:schemeClr val="dk1"/>
                  </a:solidFill>
                  <a:latin typeface="Times New Roman"/>
                  <a:ea typeface="Times New Roman"/>
                  <a:cs typeface="Times New Roman"/>
                  <a:sym typeface="Times New Roman"/>
                </a:rPr>
                <a:t>Biochemistry</a:t>
              </a:r>
              <a:endParaRPr b="0" i="0" sz="3600" u="sng" cap="none" strike="noStrike">
                <a:solidFill>
                  <a:schemeClr val="dk1"/>
                </a:solidFill>
                <a:latin typeface="Times New Roman"/>
                <a:ea typeface="Times New Roman"/>
                <a:cs typeface="Times New Roman"/>
                <a:sym typeface="Times New Roman"/>
              </a:endParaRPr>
            </a:p>
          </p:txBody>
        </p:sp>
        <p:sp>
          <p:nvSpPr>
            <p:cNvPr id="217" name="Google Shape;217;p4"/>
            <p:cNvSpPr/>
            <p:nvPr/>
          </p:nvSpPr>
          <p:spPr>
            <a:xfrm>
              <a:off x="0" y="2390227"/>
              <a:ext cx="4499605" cy="3629572"/>
            </a:xfrm>
            <a:prstGeom prst="ellipse">
              <a:avLst/>
            </a:prstGeom>
            <a:solidFill>
              <a:schemeClr val="accent1">
                <a:alpha val="49411"/>
              </a:schemeClr>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4"/>
            <p:cNvSpPr txBox="1"/>
            <p:nvPr/>
          </p:nvSpPr>
          <p:spPr>
            <a:xfrm>
              <a:off x="423712" y="3327867"/>
              <a:ext cx="2699763" cy="1996264"/>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5500"/>
                <a:buFont typeface="Arial"/>
                <a:buNone/>
              </a:pPr>
              <a:r>
                <a:rPr b="0" i="0" lang="en-US" sz="5500" u="sng" cap="none" strike="noStrike">
                  <a:solidFill>
                    <a:schemeClr val="dk1"/>
                  </a:solidFill>
                  <a:latin typeface="Times New Roman"/>
                  <a:ea typeface="Times New Roman"/>
                  <a:cs typeface="Times New Roman"/>
                  <a:sym typeface="Times New Roman"/>
                </a:rPr>
                <a:t>Anatomy</a:t>
              </a:r>
              <a:endParaRPr b="0" i="0" sz="5500" u="sng" cap="none" strike="noStrike">
                <a:solidFill>
                  <a:schemeClr val="dk1"/>
                </a:solidFill>
                <a:latin typeface="Times New Roman"/>
                <a:ea typeface="Times New Roman"/>
                <a:cs typeface="Times New Roman"/>
                <a:sym typeface="Times New Roman"/>
              </a:endParaRPr>
            </a:p>
          </p:txBody>
        </p:sp>
      </p:grpSp>
      <p:sp>
        <p:nvSpPr>
          <p:cNvPr id="219" name="Google Shape;219;p4"/>
          <p:cNvSpPr txBox="1"/>
          <p:nvPr/>
        </p:nvSpPr>
        <p:spPr>
          <a:xfrm>
            <a:off x="2743200" y="2286000"/>
            <a:ext cx="3549650" cy="830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Normal functions of living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organism</a:t>
            </a:r>
            <a:endParaRPr b="0" i="0" sz="1400" u="none" cap="none" strike="noStrike">
              <a:solidFill>
                <a:srgbClr val="000000"/>
              </a:solidFill>
              <a:latin typeface="Arial"/>
              <a:ea typeface="Arial"/>
              <a:cs typeface="Arial"/>
              <a:sym typeface="Arial"/>
            </a:endParaRPr>
          </a:p>
        </p:txBody>
      </p:sp>
      <p:sp>
        <p:nvSpPr>
          <p:cNvPr id="220" name="Google Shape;220;p4"/>
          <p:cNvSpPr txBox="1"/>
          <p:nvPr/>
        </p:nvSpPr>
        <p:spPr>
          <a:xfrm>
            <a:off x="4724400" y="5257800"/>
            <a:ext cx="32004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Chemicals in living organism</a:t>
            </a:r>
            <a:endParaRPr b="0" i="0" sz="1400" u="none" cap="none" strike="noStrike">
              <a:solidFill>
                <a:srgbClr val="000000"/>
              </a:solidFill>
              <a:latin typeface="Arial"/>
              <a:ea typeface="Arial"/>
              <a:cs typeface="Arial"/>
              <a:sym typeface="Arial"/>
            </a:endParaRPr>
          </a:p>
        </p:txBody>
      </p:sp>
      <p:sp>
        <p:nvSpPr>
          <p:cNvPr id="221" name="Google Shape;221;p4"/>
          <p:cNvSpPr txBox="1"/>
          <p:nvPr/>
        </p:nvSpPr>
        <p:spPr>
          <a:xfrm>
            <a:off x="1143000" y="5257800"/>
            <a:ext cx="3035300"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Normal Structure of  living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organism</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0" st="0"/>
                                            </p:txEl>
                                          </p:spTgt>
                                        </p:tgtEl>
                                        <p:attrNameLst>
                                          <p:attrName>style.visibility</p:attrName>
                                        </p:attrNameLst>
                                      </p:cBhvr>
                                      <p:to>
                                        <p:strVal val="visible"/>
                                      </p:to>
                                    </p:set>
                                    <p:animEffect filter="fade" transition="in">
                                      <p:cBhvr>
                                        <p:cTn dur="500"/>
                                        <p:tgtEl>
                                          <p:spTgt spid="2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1" st="1"/>
                                            </p:txEl>
                                          </p:spTgt>
                                        </p:tgtEl>
                                        <p:attrNameLst>
                                          <p:attrName>style.visibility</p:attrName>
                                        </p:attrNameLst>
                                      </p:cBhvr>
                                      <p:to>
                                        <p:strVal val="visible"/>
                                      </p:to>
                                    </p:set>
                                    <p:animEffect filter="fade" transition="in">
                                      <p:cBhvr>
                                        <p:cTn dur="500"/>
                                        <p:tgtEl>
                                          <p:spTgt spid="2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0" st="0"/>
                                            </p:txEl>
                                          </p:spTgt>
                                        </p:tgtEl>
                                        <p:attrNameLst>
                                          <p:attrName>style.visibility</p:attrName>
                                        </p:attrNameLst>
                                      </p:cBhvr>
                                      <p:to>
                                        <p:strVal val="visible"/>
                                      </p:to>
                                    </p:set>
                                    <p:animEffect filter="fade" transition="in">
                                      <p:cBhvr>
                                        <p:cTn dur="2000"/>
                                        <p:tgtEl>
                                          <p:spTgt spid="2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5"/>
          <p:cNvSpPr/>
          <p:nvPr/>
        </p:nvSpPr>
        <p:spPr>
          <a:xfrm>
            <a:off x="228600" y="1545331"/>
            <a:ext cx="8610600" cy="4616648"/>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0" i="0" lang="en-US" sz="2800" u="sng" cap="none" strike="noStrike">
                <a:solidFill>
                  <a:schemeClr val="dk1"/>
                </a:solidFill>
                <a:latin typeface="Times New Roman"/>
                <a:ea typeface="Times New Roman"/>
                <a:cs typeface="Times New Roman"/>
                <a:sym typeface="Times New Roman"/>
              </a:rPr>
              <a:t>“</a:t>
            </a:r>
            <a:r>
              <a:rPr b="0" i="0" lang="en-US" sz="2800" u="none" cap="none" strike="noStrike">
                <a:solidFill>
                  <a:schemeClr val="dk1"/>
                </a:solidFill>
                <a:latin typeface="Times New Roman"/>
                <a:ea typeface="Times New Roman"/>
                <a:cs typeface="Times New Roman"/>
                <a:sym typeface="Times New Roman"/>
              </a:rPr>
              <a:t>A branch of biology dealing with the functions and activities of living organisms and their parts”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800"/>
              <a:buFont typeface="Arial"/>
              <a:buNone/>
            </a:pPr>
            <a:r>
              <a:t/>
            </a:r>
            <a:endParaRPr b="1" i="0" sz="8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“Physiology is the study of the normal function of cell, tissue, organs, systems and organisms, including all physical and chemical processes.”</a:t>
            </a:r>
            <a:endParaRPr b="0" i="0" sz="28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Narrow"/>
                <a:ea typeface="Arial Narrow"/>
                <a:cs typeface="Arial Narrow"/>
                <a:sym typeface="Arial Narrow"/>
              </a:rPr>
              <a:t>Physiology </a:t>
            </a:r>
            <a:r>
              <a:rPr b="0" i="0" lang="en-US" sz="2400" u="none" cap="none" strike="noStrike">
                <a:solidFill>
                  <a:schemeClr val="dk1"/>
                </a:solidFill>
                <a:latin typeface="Arial Narrow"/>
                <a:ea typeface="Arial Narrow"/>
                <a:cs typeface="Arial Narrow"/>
                <a:sym typeface="Arial Narrow"/>
              </a:rPr>
              <a:t>(from Ancient Greek: </a:t>
            </a:r>
            <a:r>
              <a:rPr b="0" i="0" lang="en-US" sz="2400" u="none" cap="none" strike="noStrike">
                <a:solidFill>
                  <a:schemeClr val="accent2"/>
                </a:solidFill>
                <a:latin typeface="Times New Roman"/>
                <a:ea typeface="Times New Roman"/>
                <a:cs typeface="Times New Roman"/>
                <a:sym typeface="Times New Roman"/>
              </a:rPr>
              <a:t>physio = nature; </a:t>
            </a:r>
            <a:r>
              <a:rPr b="0" i="0" lang="en-US" sz="2400" u="none" cap="none" strike="noStrike">
                <a:solidFill>
                  <a:srgbClr val="FF0000"/>
                </a:solidFill>
                <a:latin typeface="Times New Roman"/>
                <a:ea typeface="Times New Roman"/>
                <a:cs typeface="Times New Roman"/>
                <a:sym typeface="Times New Roman"/>
              </a:rPr>
              <a:t>logos = study):  </a:t>
            </a:r>
            <a:r>
              <a:rPr b="0" i="0" lang="en-US" sz="2400" u="none" cap="none" strike="noStrike">
                <a:solidFill>
                  <a:schemeClr val="dk1"/>
                </a:solidFill>
                <a:latin typeface="Times New Roman"/>
                <a:ea typeface="Times New Roman"/>
                <a:cs typeface="Times New Roman"/>
                <a:sym typeface="Times New Roman"/>
              </a:rPr>
              <a:t>study of how the body works to maintain life</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cell 🡪 tissue 🡪 organ 🡪 organ system 🡪 organism</a:t>
            </a:r>
            <a:endParaRPr b="0" i="0" sz="1400" u="none" cap="none" strike="noStrike">
              <a:solidFill>
                <a:schemeClr val="dk1"/>
              </a:solidFill>
              <a:latin typeface="Arial Narrow"/>
              <a:ea typeface="Arial Narrow"/>
              <a:cs typeface="Arial Narrow"/>
              <a:sym typeface="Arial Narrow"/>
            </a:endParaRPr>
          </a:p>
          <a:p>
            <a:pPr indent="0" lvl="0" marL="0" marR="0" rtl="0" algn="just">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Human physiology </a:t>
            </a:r>
            <a:r>
              <a:rPr b="0" i="0" lang="en-US" sz="2800" u="none" cap="none" strike="noStrike">
                <a:solidFill>
                  <a:schemeClr val="dk1"/>
                </a:solidFill>
                <a:latin typeface="Times New Roman"/>
                <a:ea typeface="Times New Roman"/>
                <a:cs typeface="Times New Roman"/>
                <a:sym typeface="Times New Roman"/>
              </a:rPr>
              <a:t>is the scientific study of normal body function.</a:t>
            </a:r>
            <a:endParaRPr b="0" i="0" sz="4800" u="none" cap="none" strike="noStrike">
              <a:solidFill>
                <a:schemeClr val="dk1"/>
              </a:solidFill>
              <a:latin typeface="Arial Narrow"/>
              <a:ea typeface="Arial Narrow"/>
              <a:cs typeface="Arial Narrow"/>
              <a:sym typeface="Arial Narrow"/>
            </a:endParaRPr>
          </a:p>
        </p:txBody>
      </p:sp>
      <p:sp>
        <p:nvSpPr>
          <p:cNvPr id="228" name="Google Shape;228;p5"/>
          <p:cNvSpPr txBox="1"/>
          <p:nvPr/>
        </p:nvSpPr>
        <p:spPr>
          <a:xfrm>
            <a:off x="179512" y="116632"/>
            <a:ext cx="8458200"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n-US" sz="4400" u="sng" cap="none" strike="noStrike">
                <a:solidFill>
                  <a:schemeClr val="dk1"/>
                </a:solidFill>
                <a:latin typeface="Times New Roman"/>
                <a:ea typeface="Times New Roman"/>
                <a:cs typeface="Times New Roman"/>
                <a:sym typeface="Times New Roman"/>
              </a:rPr>
              <a:t>Physiology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6"/>
          <p:cNvSpPr/>
          <p:nvPr/>
        </p:nvSpPr>
        <p:spPr>
          <a:xfrm>
            <a:off x="609600" y="609600"/>
            <a:ext cx="7239000" cy="4924425"/>
          </a:xfrm>
          <a:prstGeom prst="rect">
            <a:avLst/>
          </a:prstGeom>
          <a:noFill/>
          <a:ln>
            <a:noFill/>
          </a:ln>
        </p:spPr>
        <p:txBody>
          <a:bodyPr anchorCtr="0" anchor="ctr" bIns="0" lIns="171375"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sng" cap="none" strike="noStrike">
                <a:solidFill>
                  <a:schemeClr val="dk1"/>
                </a:solidFill>
                <a:latin typeface="Arial"/>
                <a:ea typeface="Arial"/>
                <a:cs typeface="Arial"/>
                <a:sym typeface="Arial"/>
              </a:rPr>
              <a:t>Levels of Organization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Arial"/>
              <a:ea typeface="Arial"/>
              <a:cs typeface="Arial"/>
              <a:sym typeface="Arial"/>
            </a:endParaRPr>
          </a:p>
          <a:p>
            <a:pPr indent="0" lvl="0" marL="0" marR="0" rtl="0" algn="l">
              <a:lnSpc>
                <a:spcPct val="2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Chemical</a:t>
            </a:r>
            <a:endParaRPr b="0" i="0" sz="2400" u="none" cap="none" strike="noStrike">
              <a:solidFill>
                <a:schemeClr val="dk1"/>
              </a:solidFill>
              <a:latin typeface="Arial"/>
              <a:ea typeface="Arial"/>
              <a:cs typeface="Arial"/>
              <a:sym typeface="Arial"/>
            </a:endParaRPr>
          </a:p>
          <a:p>
            <a:pPr indent="0" lvl="0" marL="0" marR="0" rtl="0" algn="l">
              <a:lnSpc>
                <a:spcPct val="2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Cellular     </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Tissue</a:t>
            </a:r>
            <a:endParaRPr b="0" i="0" sz="2400" u="none" cap="none" strike="noStrike">
              <a:solidFill>
                <a:schemeClr val="dk1"/>
              </a:solidFill>
              <a:latin typeface="Arial"/>
              <a:ea typeface="Arial"/>
              <a:cs typeface="Arial"/>
              <a:sym typeface="Arial"/>
            </a:endParaRPr>
          </a:p>
          <a:p>
            <a:pPr indent="0" lvl="0" marL="0" marR="0" rtl="0" algn="l">
              <a:lnSpc>
                <a:spcPct val="2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Organs</a:t>
            </a:r>
            <a:endParaRPr b="0" i="0" sz="2400" u="none" cap="none" strike="noStrike">
              <a:solidFill>
                <a:schemeClr val="dk1"/>
              </a:solidFill>
              <a:latin typeface="Arial"/>
              <a:ea typeface="Arial"/>
              <a:cs typeface="Arial"/>
              <a:sym typeface="Arial"/>
            </a:endParaRPr>
          </a:p>
          <a:p>
            <a:pPr indent="0" lvl="0" marL="0" marR="0" rtl="0" algn="l">
              <a:lnSpc>
                <a:spcPct val="2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System Level</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                                                                                                                                                                                                                                  </a:t>
            </a:r>
            <a:endParaRPr b="0" i="0" sz="3600" u="none" cap="none" strike="noStrike">
              <a:solidFill>
                <a:schemeClr val="dk1"/>
              </a:solidFill>
              <a:latin typeface="Times New Roman"/>
              <a:ea typeface="Times New Roman"/>
              <a:cs typeface="Times New Roman"/>
              <a:sym typeface="Times New Roman"/>
            </a:endParaRPr>
          </a:p>
        </p:txBody>
      </p:sp>
      <p:sp>
        <p:nvSpPr>
          <p:cNvPr id="234" name="Google Shape;234;p6"/>
          <p:cNvSpPr/>
          <p:nvPr/>
        </p:nvSpPr>
        <p:spPr>
          <a:xfrm>
            <a:off x="0" y="1092200"/>
            <a:ext cx="234950" cy="1323975"/>
          </a:xfrm>
          <a:prstGeom prst="rect">
            <a:avLst/>
          </a:prstGeom>
          <a:noFill/>
          <a:ln>
            <a:noFill/>
          </a:ln>
        </p:spPr>
        <p:txBody>
          <a:bodyPr anchorCtr="0" anchor="ctr" bIns="0" lIns="171375"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p:txBody>
      </p:sp>
      <p:pic>
        <p:nvPicPr>
          <p:cNvPr descr="170257" id="235" name="Google Shape;235;p6"/>
          <p:cNvPicPr preferRelativeResize="0"/>
          <p:nvPr/>
        </p:nvPicPr>
        <p:blipFill rotWithShape="1">
          <a:blip r:embed="rId3">
            <a:alphaModFix/>
          </a:blip>
          <a:srcRect b="5786" l="0" r="0" t="0"/>
          <a:stretch/>
        </p:blipFill>
        <p:spPr>
          <a:xfrm>
            <a:off x="2667000" y="1162050"/>
            <a:ext cx="5793432" cy="507819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7"/>
          <p:cNvSpPr/>
          <p:nvPr/>
        </p:nvSpPr>
        <p:spPr>
          <a:xfrm>
            <a:off x="228600" y="762000"/>
            <a:ext cx="8686800" cy="56943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At the chemical level, </a:t>
            </a:r>
            <a:r>
              <a:rPr b="1" i="1" lang="en-US" sz="2800" u="none" cap="none" strike="noStrike">
                <a:solidFill>
                  <a:schemeClr val="dk1"/>
                </a:solidFill>
                <a:latin typeface="Times New Roman"/>
                <a:ea typeface="Times New Roman"/>
                <a:cs typeface="Times New Roman"/>
                <a:sym typeface="Times New Roman"/>
              </a:rPr>
              <a:t>atoms</a:t>
            </a:r>
            <a:r>
              <a:rPr b="0" i="1" lang="en-US" sz="2800" u="none" cap="none" strike="noStrike">
                <a:solidFill>
                  <a:schemeClr val="dk1"/>
                </a:solidFill>
                <a:latin typeface="Times New Roman"/>
                <a:ea typeface="Times New Roman"/>
                <a:cs typeface="Times New Roman"/>
                <a:sym typeface="Times New Roman"/>
              </a:rPr>
              <a:t>, molecules</a:t>
            </a:r>
            <a:r>
              <a:rPr b="0" i="0" lang="en-US" sz="2800" u="none" cap="none" strike="noStrike">
                <a:solidFill>
                  <a:schemeClr val="dk1"/>
                </a:solidFill>
                <a:latin typeface="Times New Roman"/>
                <a:ea typeface="Times New Roman"/>
                <a:cs typeface="Times New Roman"/>
                <a:sym typeface="Times New Roman"/>
              </a:rPr>
              <a:t>, and the chemical bonds between atoms provide the framework upon which all living activity is based.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The </a:t>
            </a:r>
            <a:r>
              <a:rPr b="1" i="1" lang="en-US" sz="2800" u="none" cap="none" strike="noStrike">
                <a:solidFill>
                  <a:schemeClr val="dk1"/>
                </a:solidFill>
                <a:latin typeface="Times New Roman"/>
                <a:ea typeface="Times New Roman"/>
                <a:cs typeface="Times New Roman"/>
                <a:sym typeface="Times New Roman"/>
              </a:rPr>
              <a:t>cell</a:t>
            </a:r>
            <a:r>
              <a:rPr b="0" i="0" lang="en-US" sz="2800" u="none" cap="none" strike="noStrike">
                <a:solidFill>
                  <a:schemeClr val="dk1"/>
                </a:solidFill>
                <a:latin typeface="Times New Roman"/>
                <a:ea typeface="Times New Roman"/>
                <a:cs typeface="Times New Roman"/>
                <a:sym typeface="Times New Roman"/>
              </a:rPr>
              <a:t> is the smallest unit of life. The entire body contains about 100 trillion cells.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0" lvl="1" marL="0" marR="0" rtl="0" algn="l">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A </a:t>
            </a:r>
            <a:r>
              <a:rPr b="0" i="1" lang="en-US" sz="2800" u="none" cap="none" strike="noStrike">
                <a:solidFill>
                  <a:schemeClr val="dk1"/>
                </a:solidFill>
                <a:latin typeface="Times New Roman"/>
                <a:ea typeface="Times New Roman"/>
                <a:cs typeface="Times New Roman"/>
                <a:sym typeface="Times New Roman"/>
              </a:rPr>
              <a:t>tissue</a:t>
            </a:r>
            <a:r>
              <a:rPr b="0" i="0" lang="en-US" sz="2800" u="none" cap="none" strike="noStrike">
                <a:solidFill>
                  <a:schemeClr val="dk1"/>
                </a:solidFill>
                <a:latin typeface="Times New Roman"/>
                <a:ea typeface="Times New Roman"/>
                <a:cs typeface="Times New Roman"/>
                <a:sym typeface="Times New Roman"/>
              </a:rPr>
              <a:t> is a group of similar cells performing a common function.   4 basic tissue types: epithelium, muscle,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  connective tissue, and nerve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242" name="Google Shape;242;p7"/>
          <p:cNvSpPr txBox="1"/>
          <p:nvPr/>
        </p:nvSpPr>
        <p:spPr>
          <a:xfrm>
            <a:off x="228600" y="76200"/>
            <a:ext cx="8763000" cy="5302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sng" cap="none" strike="noStrike">
                <a:solidFill>
                  <a:schemeClr val="dk2"/>
                </a:solidFill>
                <a:latin typeface="Calibri"/>
                <a:ea typeface="Calibri"/>
                <a:cs typeface="Calibri"/>
                <a:sym typeface="Calibri"/>
              </a:rPr>
              <a:t>Levels of Organization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8"/>
          <p:cNvSpPr/>
          <p:nvPr/>
        </p:nvSpPr>
        <p:spPr>
          <a:xfrm>
            <a:off x="304800" y="304800"/>
            <a:ext cx="8610600" cy="5632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An </a:t>
            </a:r>
            <a:r>
              <a:rPr b="0" i="1" lang="en-US" sz="2800" u="none" cap="none" strike="noStrike">
                <a:solidFill>
                  <a:schemeClr val="dk1"/>
                </a:solidFill>
                <a:latin typeface="Times New Roman"/>
                <a:ea typeface="Times New Roman"/>
                <a:cs typeface="Times New Roman"/>
                <a:sym typeface="Times New Roman"/>
              </a:rPr>
              <a:t>organ</a:t>
            </a:r>
            <a:r>
              <a:rPr b="0" i="0" lang="en-US" sz="2800" u="none" cap="none" strike="noStrike">
                <a:solidFill>
                  <a:schemeClr val="dk1"/>
                </a:solidFill>
                <a:latin typeface="Times New Roman"/>
                <a:ea typeface="Times New Roman"/>
                <a:cs typeface="Times New Roman"/>
                <a:sym typeface="Times New Roman"/>
              </a:rPr>
              <a:t> is a group of different kinds of tissues working together to perform a particular activity. The heart is an organ composed of muscle, nervous, connective, and epithelial tissues.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An </a:t>
            </a:r>
            <a:r>
              <a:rPr b="0" i="1" lang="en-US" sz="2800" u="none" cap="none" strike="noStrike">
                <a:solidFill>
                  <a:schemeClr val="dk1"/>
                </a:solidFill>
                <a:latin typeface="Times New Roman"/>
                <a:ea typeface="Times New Roman"/>
                <a:cs typeface="Times New Roman"/>
                <a:sym typeface="Times New Roman"/>
              </a:rPr>
              <a:t>organ system/body system</a:t>
            </a:r>
            <a:r>
              <a:rPr b="0" i="0" lang="en-US" sz="2800" u="none" cap="none" strike="noStrike">
                <a:solidFill>
                  <a:schemeClr val="dk1"/>
                </a:solidFill>
                <a:latin typeface="Times New Roman"/>
                <a:ea typeface="Times New Roman"/>
                <a:cs typeface="Times New Roman"/>
                <a:sym typeface="Times New Roman"/>
              </a:rPr>
              <a:t> is two or more organs working together to accomplish a particular task.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Times New Roman"/>
                <a:ea typeface="Times New Roman"/>
                <a:cs typeface="Times New Roman"/>
                <a:sym typeface="Times New Roman"/>
              </a:rPr>
              <a:t>For example digestive system, involves the coordinated activities of many organs, including the mouth, stomach, small and large intestines, pancreas, and liver.(Do not act in isolation from one another)</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Organismic level - one living individual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9"/>
          <p:cNvSpPr txBox="1"/>
          <p:nvPr>
            <p:ph type="title"/>
          </p:nvPr>
        </p:nvSpPr>
        <p:spPr>
          <a:xfrm>
            <a:off x="457200" y="0"/>
            <a:ext cx="8153400" cy="792163"/>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034DFF"/>
              </a:buClr>
              <a:buSzPts val="3600"/>
              <a:buFont typeface="Calibri"/>
              <a:buNone/>
            </a:pPr>
            <a:r>
              <a:rPr b="1" lang="en-US" sz="3600">
                <a:solidFill>
                  <a:srgbClr val="034DFF"/>
                </a:solidFill>
              </a:rPr>
              <a:t>Organism Level</a:t>
            </a:r>
            <a:endParaRPr/>
          </a:p>
        </p:txBody>
      </p:sp>
      <p:grpSp>
        <p:nvGrpSpPr>
          <p:cNvPr id="254" name="Google Shape;254;p9"/>
          <p:cNvGrpSpPr/>
          <p:nvPr/>
        </p:nvGrpSpPr>
        <p:grpSpPr>
          <a:xfrm>
            <a:off x="762000" y="685800"/>
            <a:ext cx="7772400" cy="6096000"/>
            <a:chOff x="1372392" y="1066800"/>
            <a:chExt cx="6933408" cy="5571309"/>
          </a:xfrm>
        </p:grpSpPr>
        <p:pic>
          <p:nvPicPr>
            <p:cNvPr descr="figure_01_01-jLE.jpg                                           000C027CG5_02                          C6A52E17:" id="255" name="Google Shape;255;p9"/>
            <p:cNvPicPr preferRelativeResize="0"/>
            <p:nvPr/>
          </p:nvPicPr>
          <p:blipFill rotWithShape="1">
            <a:blip r:embed="rId3">
              <a:alphaModFix/>
            </a:blip>
            <a:srcRect b="15529" l="0" r="24089" t="348"/>
            <a:stretch/>
          </p:blipFill>
          <p:spPr>
            <a:xfrm>
              <a:off x="1372392" y="1145885"/>
              <a:ext cx="5342296" cy="4586886"/>
            </a:xfrm>
            <a:prstGeom prst="rect">
              <a:avLst/>
            </a:prstGeom>
            <a:noFill/>
            <a:ln>
              <a:noFill/>
            </a:ln>
          </p:spPr>
        </p:pic>
        <p:cxnSp>
          <p:nvCxnSpPr>
            <p:cNvPr id="256" name="Google Shape;256;p9"/>
            <p:cNvCxnSpPr/>
            <p:nvPr/>
          </p:nvCxnSpPr>
          <p:spPr>
            <a:xfrm>
              <a:off x="6085297" y="4161489"/>
              <a:ext cx="83553" cy="1450"/>
            </a:xfrm>
            <a:prstGeom prst="straightConnector1">
              <a:avLst/>
            </a:prstGeom>
            <a:noFill/>
            <a:ln cap="flat" cmpd="sng" w="12700">
              <a:solidFill>
                <a:srgbClr val="231F20"/>
              </a:solidFill>
              <a:prstDash val="solid"/>
              <a:round/>
              <a:headEnd len="sm" w="sm" type="none"/>
              <a:tailEnd len="sm" w="sm" type="none"/>
            </a:ln>
          </p:spPr>
        </p:cxnSp>
        <p:cxnSp>
          <p:nvCxnSpPr>
            <p:cNvPr id="257" name="Google Shape;257;p9"/>
            <p:cNvCxnSpPr/>
            <p:nvPr/>
          </p:nvCxnSpPr>
          <p:spPr>
            <a:xfrm>
              <a:off x="5385725" y="3846651"/>
              <a:ext cx="1417" cy="162497"/>
            </a:xfrm>
            <a:prstGeom prst="straightConnector1">
              <a:avLst/>
            </a:prstGeom>
            <a:noFill/>
            <a:ln cap="flat" cmpd="sng" w="12700">
              <a:solidFill>
                <a:srgbClr val="231F20"/>
              </a:solidFill>
              <a:prstDash val="solid"/>
              <a:round/>
              <a:headEnd len="sm" w="sm" type="none"/>
              <a:tailEnd len="sm" w="sm" type="none"/>
            </a:ln>
          </p:spPr>
        </p:cxnSp>
        <p:cxnSp>
          <p:nvCxnSpPr>
            <p:cNvPr id="258" name="Google Shape;258;p9"/>
            <p:cNvCxnSpPr/>
            <p:nvPr/>
          </p:nvCxnSpPr>
          <p:spPr>
            <a:xfrm>
              <a:off x="5783660" y="1415007"/>
              <a:ext cx="1416" cy="142184"/>
            </a:xfrm>
            <a:prstGeom prst="straightConnector1">
              <a:avLst/>
            </a:prstGeom>
            <a:noFill/>
            <a:ln cap="flat" cmpd="sng" w="12700">
              <a:solidFill>
                <a:srgbClr val="231F20"/>
              </a:solidFill>
              <a:prstDash val="solid"/>
              <a:round/>
              <a:headEnd len="sm" w="sm" type="none"/>
              <a:tailEnd len="sm" w="sm" type="none"/>
            </a:ln>
          </p:spPr>
        </p:cxnSp>
        <p:cxnSp>
          <p:nvCxnSpPr>
            <p:cNvPr id="259" name="Google Shape;259;p9"/>
            <p:cNvCxnSpPr/>
            <p:nvPr/>
          </p:nvCxnSpPr>
          <p:spPr>
            <a:xfrm flipH="1">
              <a:off x="4724389" y="1164008"/>
              <a:ext cx="80719" cy="1450"/>
            </a:xfrm>
            <a:prstGeom prst="straightConnector1">
              <a:avLst/>
            </a:prstGeom>
            <a:noFill/>
            <a:ln cap="flat" cmpd="sng" w="12700">
              <a:solidFill>
                <a:srgbClr val="231F20"/>
              </a:solidFill>
              <a:prstDash val="solid"/>
              <a:round/>
              <a:headEnd len="sm" w="sm" type="none"/>
              <a:tailEnd len="sm" w="sm" type="none"/>
            </a:ln>
          </p:spPr>
        </p:cxnSp>
        <p:cxnSp>
          <p:nvCxnSpPr>
            <p:cNvPr id="260" name="Google Shape;260;p9"/>
            <p:cNvCxnSpPr/>
            <p:nvPr/>
          </p:nvCxnSpPr>
          <p:spPr>
            <a:xfrm>
              <a:off x="5561326" y="4811475"/>
              <a:ext cx="446084" cy="1450"/>
            </a:xfrm>
            <a:prstGeom prst="straightConnector1">
              <a:avLst/>
            </a:prstGeom>
            <a:noFill/>
            <a:ln cap="flat" cmpd="sng" w="12700">
              <a:solidFill>
                <a:srgbClr val="231F20"/>
              </a:solidFill>
              <a:prstDash val="solid"/>
              <a:round/>
              <a:headEnd len="sm" w="sm" type="none"/>
              <a:tailEnd len="sm" w="sm" type="none"/>
            </a:ln>
          </p:spPr>
        </p:cxnSp>
        <p:sp>
          <p:nvSpPr>
            <p:cNvPr id="261" name="Google Shape;261;p9"/>
            <p:cNvSpPr/>
            <p:nvPr/>
          </p:nvSpPr>
          <p:spPr>
            <a:xfrm>
              <a:off x="5950764" y="3991737"/>
              <a:ext cx="111874" cy="162497"/>
            </a:xfrm>
            <a:custGeom>
              <a:rect b="b" l="l" r="r" t="t"/>
              <a:pathLst>
                <a:path extrusionOk="0" h="108" w="80">
                  <a:moveTo>
                    <a:pt x="0" y="108"/>
                  </a:moveTo>
                  <a:lnTo>
                    <a:pt x="52" y="0"/>
                  </a:lnTo>
                  <a:lnTo>
                    <a:pt x="80" y="0"/>
                  </a:lnTo>
                </a:path>
              </a:pathLst>
            </a:custGeom>
            <a:noFill/>
            <a:ln cap="flat" cmpd="sng" w="12700">
              <a:solidFill>
                <a:srgbClr val="231F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Calibri"/>
                <a:ea typeface="Calibri"/>
                <a:cs typeface="Calibri"/>
                <a:sym typeface="Calibri"/>
              </a:endParaRPr>
            </a:p>
          </p:txBody>
        </p:sp>
        <p:sp>
          <p:nvSpPr>
            <p:cNvPr id="262" name="Google Shape;262;p9"/>
            <p:cNvSpPr/>
            <p:nvPr/>
          </p:nvSpPr>
          <p:spPr>
            <a:xfrm>
              <a:off x="3669367" y="3607259"/>
              <a:ext cx="235079" cy="116069"/>
            </a:xfrm>
            <a:custGeom>
              <a:rect b="b" l="l" r="r" t="t"/>
              <a:pathLst>
                <a:path extrusionOk="0" h="76" w="168">
                  <a:moveTo>
                    <a:pt x="0" y="0"/>
                  </a:moveTo>
                  <a:lnTo>
                    <a:pt x="30" y="0"/>
                  </a:lnTo>
                  <a:lnTo>
                    <a:pt x="168" y="76"/>
                  </a:lnTo>
                </a:path>
              </a:pathLst>
            </a:custGeom>
            <a:noFill/>
            <a:ln cap="flat" cmpd="sng" w="12700">
              <a:solidFill>
                <a:srgbClr val="231F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Calibri"/>
                <a:ea typeface="Calibri"/>
                <a:cs typeface="Calibri"/>
                <a:sym typeface="Calibri"/>
              </a:endParaRPr>
            </a:p>
          </p:txBody>
        </p:sp>
        <p:sp>
          <p:nvSpPr>
            <p:cNvPr id="263" name="Google Shape;263;p9"/>
            <p:cNvSpPr/>
            <p:nvPr/>
          </p:nvSpPr>
          <p:spPr>
            <a:xfrm>
              <a:off x="3652373" y="3354809"/>
              <a:ext cx="471574" cy="319190"/>
            </a:xfrm>
            <a:custGeom>
              <a:rect b="b" l="l" r="r" t="t"/>
              <a:pathLst>
                <a:path extrusionOk="0" h="210" w="336">
                  <a:moveTo>
                    <a:pt x="0" y="0"/>
                  </a:moveTo>
                  <a:lnTo>
                    <a:pt x="40" y="0"/>
                  </a:lnTo>
                  <a:lnTo>
                    <a:pt x="336" y="210"/>
                  </a:lnTo>
                </a:path>
              </a:pathLst>
            </a:custGeom>
            <a:noFill/>
            <a:ln cap="flat" cmpd="sng" w="12700">
              <a:solidFill>
                <a:srgbClr val="231F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Calibri"/>
                <a:ea typeface="Calibri"/>
                <a:cs typeface="Calibri"/>
                <a:sym typeface="Calibri"/>
              </a:endParaRPr>
            </a:p>
          </p:txBody>
        </p:sp>
        <p:cxnSp>
          <p:nvCxnSpPr>
            <p:cNvPr id="264" name="Google Shape;264;p9"/>
            <p:cNvCxnSpPr/>
            <p:nvPr/>
          </p:nvCxnSpPr>
          <p:spPr>
            <a:xfrm rot="10800000">
              <a:off x="3711851" y="3607259"/>
              <a:ext cx="127452" cy="182809"/>
            </a:xfrm>
            <a:prstGeom prst="straightConnector1">
              <a:avLst/>
            </a:prstGeom>
            <a:noFill/>
            <a:ln cap="flat" cmpd="sng" w="12700">
              <a:solidFill>
                <a:srgbClr val="231F20"/>
              </a:solidFill>
              <a:prstDash val="solid"/>
              <a:round/>
              <a:headEnd len="sm" w="sm" type="none"/>
              <a:tailEnd len="sm" w="sm" type="none"/>
            </a:ln>
          </p:spPr>
        </p:cxnSp>
        <p:sp>
          <p:nvSpPr>
            <p:cNvPr id="265" name="Google Shape;265;p9"/>
            <p:cNvSpPr/>
            <p:nvPr/>
          </p:nvSpPr>
          <p:spPr>
            <a:xfrm>
              <a:off x="1590477" y="1938768"/>
              <a:ext cx="1399144" cy="5803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    Chemical level</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Atoms combine to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form molecules.</a:t>
              </a:r>
              <a:endParaRPr b="1" i="0" sz="1400" u="none" cap="none" strike="noStrike">
                <a:solidFill>
                  <a:schemeClr val="dk1"/>
                </a:solidFill>
                <a:latin typeface="Calibri"/>
                <a:ea typeface="Calibri"/>
                <a:cs typeface="Calibri"/>
                <a:sym typeface="Calibri"/>
              </a:endParaRPr>
            </a:p>
          </p:txBody>
        </p:sp>
        <p:sp>
          <p:nvSpPr>
            <p:cNvPr id="266" name="Google Shape;266;p9"/>
            <p:cNvSpPr/>
            <p:nvPr/>
          </p:nvSpPr>
          <p:spPr>
            <a:xfrm>
              <a:off x="3910110" y="1866225"/>
              <a:ext cx="1382150" cy="58179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    Cellular level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Cells are made up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of molecules.</a:t>
              </a:r>
              <a:endParaRPr b="1" i="0" sz="1400" u="none" cap="none" strike="noStrike">
                <a:solidFill>
                  <a:schemeClr val="dk1"/>
                </a:solidFill>
                <a:latin typeface="Calibri"/>
                <a:ea typeface="Calibri"/>
                <a:cs typeface="Calibri"/>
                <a:sym typeface="Calibri"/>
              </a:endParaRPr>
            </a:p>
          </p:txBody>
        </p:sp>
        <p:sp>
          <p:nvSpPr>
            <p:cNvPr id="267" name="Google Shape;267;p9"/>
            <p:cNvSpPr/>
            <p:nvPr/>
          </p:nvSpPr>
          <p:spPr>
            <a:xfrm>
              <a:off x="6766459" y="2965978"/>
              <a:ext cx="1539341" cy="58614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    Tissue level</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Tissues consist of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similar types of cells</a:t>
              </a:r>
              <a:endParaRPr b="1" i="0" sz="1400" u="none" cap="none" strike="noStrike">
                <a:solidFill>
                  <a:schemeClr val="dk1"/>
                </a:solidFill>
                <a:latin typeface="Calibri"/>
                <a:ea typeface="Calibri"/>
                <a:cs typeface="Calibri"/>
                <a:sym typeface="Calibri"/>
              </a:endParaRPr>
            </a:p>
          </p:txBody>
        </p:sp>
        <p:sp>
          <p:nvSpPr>
            <p:cNvPr id="268" name="Google Shape;268;p9"/>
            <p:cNvSpPr/>
            <p:nvPr/>
          </p:nvSpPr>
          <p:spPr>
            <a:xfrm>
              <a:off x="5337576" y="5146623"/>
              <a:ext cx="1890544" cy="5817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    Organ level</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Organs are made up of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different types of tissues.</a:t>
              </a:r>
              <a:endParaRPr b="1" i="0" sz="1400" u="none" cap="none" strike="noStrike">
                <a:solidFill>
                  <a:schemeClr val="dk1"/>
                </a:solidFill>
                <a:latin typeface="Calibri"/>
                <a:ea typeface="Calibri"/>
                <a:cs typeface="Calibri"/>
                <a:sym typeface="Calibri"/>
              </a:endParaRPr>
            </a:p>
          </p:txBody>
        </p:sp>
        <p:sp>
          <p:nvSpPr>
            <p:cNvPr id="269" name="Google Shape;269;p9"/>
            <p:cNvSpPr/>
            <p:nvPr/>
          </p:nvSpPr>
          <p:spPr>
            <a:xfrm>
              <a:off x="3381891" y="5834332"/>
              <a:ext cx="1992505" cy="776211"/>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    Organ system level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Organ systems consist of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different organs that work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together closely.</a:t>
              </a:r>
              <a:endParaRPr b="1" i="0" sz="1400" u="none" cap="none" strike="noStrike">
                <a:solidFill>
                  <a:schemeClr val="dk1"/>
                </a:solidFill>
                <a:latin typeface="Calibri"/>
                <a:ea typeface="Calibri"/>
                <a:cs typeface="Calibri"/>
                <a:sym typeface="Calibri"/>
              </a:endParaRPr>
            </a:p>
          </p:txBody>
        </p:sp>
        <p:sp>
          <p:nvSpPr>
            <p:cNvPr id="270" name="Google Shape;270;p9"/>
            <p:cNvSpPr/>
            <p:nvPr/>
          </p:nvSpPr>
          <p:spPr>
            <a:xfrm>
              <a:off x="1539496" y="5863349"/>
              <a:ext cx="1604484" cy="7747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    Organismal level</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The human organism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is made up of many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organ systems.</a:t>
              </a:r>
              <a:endParaRPr b="1" i="0" sz="1400" u="none" cap="none" strike="noStrike">
                <a:solidFill>
                  <a:schemeClr val="dk1"/>
                </a:solidFill>
                <a:latin typeface="Calibri"/>
                <a:ea typeface="Calibri"/>
                <a:cs typeface="Calibri"/>
                <a:sym typeface="Calibri"/>
              </a:endParaRPr>
            </a:p>
          </p:txBody>
        </p:sp>
        <p:sp>
          <p:nvSpPr>
            <p:cNvPr id="271" name="Google Shape;271;p9"/>
            <p:cNvSpPr/>
            <p:nvPr/>
          </p:nvSpPr>
          <p:spPr>
            <a:xfrm>
              <a:off x="3210538" y="2759956"/>
              <a:ext cx="1132910" cy="390281"/>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Cardiovascular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system</a:t>
              </a:r>
              <a:endParaRPr b="1" i="0" sz="1400" u="none" cap="none" strike="noStrike">
                <a:solidFill>
                  <a:schemeClr val="dk1"/>
                </a:solidFill>
                <a:latin typeface="Calibri"/>
                <a:ea typeface="Calibri"/>
                <a:cs typeface="Calibri"/>
                <a:sym typeface="Calibri"/>
              </a:endParaRPr>
            </a:p>
          </p:txBody>
        </p:sp>
        <p:sp>
          <p:nvSpPr>
            <p:cNvPr id="272" name="Google Shape;272;p9"/>
            <p:cNvSpPr/>
            <p:nvPr/>
          </p:nvSpPr>
          <p:spPr>
            <a:xfrm>
              <a:off x="4836264" y="1066800"/>
              <a:ext cx="720814" cy="19441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Organelle</a:t>
              </a:r>
              <a:endParaRPr b="1" i="0" sz="1400" u="none" cap="none" strike="noStrike">
                <a:solidFill>
                  <a:schemeClr val="dk1"/>
                </a:solidFill>
                <a:latin typeface="Calibri"/>
                <a:ea typeface="Calibri"/>
                <a:cs typeface="Calibri"/>
                <a:sym typeface="Calibri"/>
              </a:endParaRPr>
            </a:p>
          </p:txBody>
        </p:sp>
        <p:sp>
          <p:nvSpPr>
            <p:cNvPr id="273" name="Google Shape;273;p9"/>
            <p:cNvSpPr/>
            <p:nvPr/>
          </p:nvSpPr>
          <p:spPr>
            <a:xfrm>
              <a:off x="2778617" y="1113228"/>
              <a:ext cx="693907" cy="19296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Molecule</a:t>
              </a:r>
              <a:endParaRPr b="1" i="0" sz="1400" u="none" cap="none" strike="noStrike">
                <a:solidFill>
                  <a:schemeClr val="dk1"/>
                </a:solidFill>
                <a:latin typeface="Calibri"/>
                <a:ea typeface="Calibri"/>
                <a:cs typeface="Calibri"/>
                <a:sym typeface="Calibri"/>
              </a:endParaRPr>
            </a:p>
          </p:txBody>
        </p:sp>
        <p:sp>
          <p:nvSpPr>
            <p:cNvPr id="274" name="Google Shape;274;p9"/>
            <p:cNvSpPr/>
            <p:nvPr/>
          </p:nvSpPr>
          <p:spPr>
            <a:xfrm>
              <a:off x="1556490" y="1116129"/>
              <a:ext cx="478654" cy="19296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Atoms</a:t>
              </a:r>
              <a:endParaRPr b="1" i="0" sz="1400" u="none" cap="none" strike="noStrike">
                <a:solidFill>
                  <a:schemeClr val="dk1"/>
                </a:solidFill>
                <a:latin typeface="Calibri"/>
                <a:ea typeface="Calibri"/>
                <a:cs typeface="Calibri"/>
                <a:sym typeface="Calibri"/>
              </a:endParaRPr>
            </a:p>
          </p:txBody>
        </p:sp>
        <p:sp>
          <p:nvSpPr>
            <p:cNvPr id="275" name="Google Shape;275;p9"/>
            <p:cNvSpPr/>
            <p:nvPr/>
          </p:nvSpPr>
          <p:spPr>
            <a:xfrm>
              <a:off x="5644879" y="1242355"/>
              <a:ext cx="1443043" cy="19441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Smooth muscle cell</a:t>
              </a:r>
              <a:endParaRPr b="1" i="0" sz="1400" u="none" cap="none" strike="noStrike">
                <a:solidFill>
                  <a:schemeClr val="dk1"/>
                </a:solidFill>
                <a:latin typeface="Calibri"/>
                <a:ea typeface="Calibri"/>
                <a:cs typeface="Calibri"/>
                <a:sym typeface="Calibri"/>
              </a:endParaRPr>
            </a:p>
          </p:txBody>
        </p:sp>
        <p:sp>
          <p:nvSpPr>
            <p:cNvPr id="276" name="Google Shape;276;p9"/>
            <p:cNvSpPr/>
            <p:nvPr/>
          </p:nvSpPr>
          <p:spPr>
            <a:xfrm>
              <a:off x="5898367" y="2337755"/>
              <a:ext cx="1624310" cy="19296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Smooth muscle tissue</a:t>
              </a:r>
              <a:endParaRPr b="1" i="0" sz="1400" u="none" cap="none" strike="noStrike">
                <a:solidFill>
                  <a:schemeClr val="dk1"/>
                </a:solidFill>
                <a:latin typeface="Calibri"/>
                <a:ea typeface="Calibri"/>
                <a:cs typeface="Calibri"/>
                <a:sym typeface="Calibri"/>
              </a:endParaRPr>
            </a:p>
          </p:txBody>
        </p:sp>
        <p:sp>
          <p:nvSpPr>
            <p:cNvPr id="277" name="Google Shape;277;p9"/>
            <p:cNvSpPr/>
            <p:nvPr/>
          </p:nvSpPr>
          <p:spPr>
            <a:xfrm>
              <a:off x="6197172" y="4067182"/>
              <a:ext cx="1307094" cy="19441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Connective tissue</a:t>
              </a:r>
              <a:endParaRPr b="1" i="0" sz="1400" u="none" cap="none" strike="noStrike">
                <a:solidFill>
                  <a:schemeClr val="dk1"/>
                </a:solidFill>
                <a:latin typeface="Calibri"/>
                <a:ea typeface="Calibri"/>
                <a:cs typeface="Calibri"/>
                <a:sym typeface="Calibri"/>
              </a:endParaRPr>
            </a:p>
          </p:txBody>
        </p:sp>
        <p:sp>
          <p:nvSpPr>
            <p:cNvPr id="278" name="Google Shape;278;p9"/>
            <p:cNvSpPr/>
            <p:nvPr/>
          </p:nvSpPr>
          <p:spPr>
            <a:xfrm>
              <a:off x="4912735" y="3436058"/>
              <a:ext cx="926154" cy="38738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Blood vessel</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(organ)</a:t>
              </a:r>
              <a:endParaRPr b="1" i="0" sz="1400" u="none" cap="none" strike="noStrike">
                <a:solidFill>
                  <a:schemeClr val="dk1"/>
                </a:solidFill>
                <a:latin typeface="Calibri"/>
                <a:ea typeface="Calibri"/>
                <a:cs typeface="Calibri"/>
                <a:sym typeface="Calibri"/>
              </a:endParaRPr>
            </a:p>
          </p:txBody>
        </p:sp>
        <p:sp>
          <p:nvSpPr>
            <p:cNvPr id="279" name="Google Shape;279;p9"/>
            <p:cNvSpPr/>
            <p:nvPr/>
          </p:nvSpPr>
          <p:spPr>
            <a:xfrm>
              <a:off x="3203458" y="3280815"/>
              <a:ext cx="420592" cy="19441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Heart</a:t>
              </a:r>
              <a:endParaRPr b="1" i="0" sz="1400" u="none" cap="none" strike="noStrike">
                <a:solidFill>
                  <a:schemeClr val="dk1"/>
                </a:solidFill>
                <a:latin typeface="Calibri"/>
                <a:ea typeface="Calibri"/>
                <a:cs typeface="Calibri"/>
                <a:sym typeface="Calibri"/>
              </a:endParaRPr>
            </a:p>
          </p:txBody>
        </p:sp>
        <p:sp>
          <p:nvSpPr>
            <p:cNvPr id="280" name="Google Shape;280;p9"/>
            <p:cNvSpPr/>
            <p:nvPr/>
          </p:nvSpPr>
          <p:spPr>
            <a:xfrm>
              <a:off x="3203458" y="3511502"/>
              <a:ext cx="526803" cy="388831"/>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Blood</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vessels</a:t>
              </a:r>
              <a:endParaRPr b="1" i="0" sz="1400" u="none" cap="none" strike="noStrike">
                <a:solidFill>
                  <a:schemeClr val="dk1"/>
                </a:solidFill>
                <a:latin typeface="Calibri"/>
                <a:ea typeface="Calibri"/>
                <a:cs typeface="Calibri"/>
                <a:sym typeface="Calibri"/>
              </a:endParaRPr>
            </a:p>
          </p:txBody>
        </p:sp>
        <p:sp>
          <p:nvSpPr>
            <p:cNvPr id="281" name="Google Shape;281;p9"/>
            <p:cNvSpPr/>
            <p:nvPr/>
          </p:nvSpPr>
          <p:spPr>
            <a:xfrm>
              <a:off x="4858922" y="4720070"/>
              <a:ext cx="702404" cy="387381"/>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Epithelial</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tissue</a:t>
              </a:r>
              <a:endParaRPr b="1" i="0" sz="1400" u="none" cap="none" strike="noStrike">
                <a:solidFill>
                  <a:schemeClr val="dk1"/>
                </a:solidFill>
                <a:latin typeface="Calibri"/>
                <a:ea typeface="Calibri"/>
                <a:cs typeface="Calibri"/>
                <a:sym typeface="Calibri"/>
              </a:endParaRPr>
            </a:p>
          </p:txBody>
        </p:sp>
        <p:sp>
          <p:nvSpPr>
            <p:cNvPr id="282" name="Google Shape;282;p9"/>
            <p:cNvSpPr/>
            <p:nvPr/>
          </p:nvSpPr>
          <p:spPr>
            <a:xfrm>
              <a:off x="6088129" y="3887275"/>
              <a:ext cx="1624310" cy="19441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Smooth muscle tissue</a:t>
              </a:r>
              <a:endParaRPr b="1" i="0" sz="1400" u="none" cap="none" strike="noStrike">
                <a:solidFill>
                  <a:schemeClr val="dk1"/>
                </a:solidFill>
                <a:latin typeface="Calibri"/>
                <a:ea typeface="Calibri"/>
                <a:cs typeface="Calibri"/>
                <a:sym typeface="Calibri"/>
              </a:endParaRPr>
            </a:p>
          </p:txBody>
        </p:sp>
        <p:sp>
          <p:nvSpPr>
            <p:cNvPr id="283" name="Google Shape;283;p9"/>
            <p:cNvSpPr/>
            <p:nvPr/>
          </p:nvSpPr>
          <p:spPr>
            <a:xfrm>
              <a:off x="1581980" y="1938768"/>
              <a:ext cx="184098" cy="200219"/>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1</a:t>
              </a:r>
              <a:endParaRPr b="1" i="0" sz="1400" u="none" cap="none" strike="noStrike">
                <a:solidFill>
                  <a:schemeClr val="dk1"/>
                </a:solidFill>
                <a:latin typeface="Calibri"/>
                <a:ea typeface="Calibri"/>
                <a:cs typeface="Calibri"/>
                <a:sym typeface="Calibri"/>
              </a:endParaRPr>
            </a:p>
          </p:txBody>
        </p:sp>
        <p:sp>
          <p:nvSpPr>
            <p:cNvPr id="284" name="Google Shape;284;p9"/>
            <p:cNvSpPr/>
            <p:nvPr/>
          </p:nvSpPr>
          <p:spPr>
            <a:xfrm>
              <a:off x="3897365" y="1870577"/>
              <a:ext cx="184098" cy="200219"/>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2</a:t>
              </a:r>
              <a:endParaRPr b="1" i="0" sz="1400" u="none" cap="none" strike="noStrike">
                <a:solidFill>
                  <a:schemeClr val="dk1"/>
                </a:solidFill>
                <a:latin typeface="Calibri"/>
                <a:ea typeface="Calibri"/>
                <a:cs typeface="Calibri"/>
                <a:sym typeface="Calibri"/>
              </a:endParaRPr>
            </a:p>
          </p:txBody>
        </p:sp>
        <p:sp>
          <p:nvSpPr>
            <p:cNvPr id="285" name="Google Shape;285;p9"/>
            <p:cNvSpPr/>
            <p:nvPr/>
          </p:nvSpPr>
          <p:spPr>
            <a:xfrm>
              <a:off x="6738137" y="2974684"/>
              <a:ext cx="184098" cy="201669"/>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3</a:t>
              </a:r>
              <a:endParaRPr b="1" i="0" sz="1400" u="none" cap="none" strike="noStrike">
                <a:solidFill>
                  <a:schemeClr val="dk1"/>
                </a:solidFill>
                <a:latin typeface="Calibri"/>
                <a:ea typeface="Calibri"/>
                <a:cs typeface="Calibri"/>
                <a:sym typeface="Calibri"/>
              </a:endParaRPr>
            </a:p>
          </p:txBody>
        </p:sp>
        <p:sp>
          <p:nvSpPr>
            <p:cNvPr id="286" name="Google Shape;286;p9"/>
            <p:cNvSpPr/>
            <p:nvPr/>
          </p:nvSpPr>
          <p:spPr>
            <a:xfrm>
              <a:off x="5324832" y="5148074"/>
              <a:ext cx="184098" cy="200219"/>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4</a:t>
              </a:r>
              <a:endParaRPr b="1" i="0" sz="1400" u="none" cap="none" strike="noStrike">
                <a:solidFill>
                  <a:schemeClr val="dk1"/>
                </a:solidFill>
                <a:latin typeface="Calibri"/>
                <a:ea typeface="Calibri"/>
                <a:cs typeface="Calibri"/>
                <a:sym typeface="Calibri"/>
              </a:endParaRPr>
            </a:p>
          </p:txBody>
        </p:sp>
        <p:sp>
          <p:nvSpPr>
            <p:cNvPr id="287" name="Google Shape;287;p9"/>
            <p:cNvSpPr/>
            <p:nvPr/>
          </p:nvSpPr>
          <p:spPr>
            <a:xfrm>
              <a:off x="3362065" y="5837233"/>
              <a:ext cx="186930" cy="200219"/>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5</a:t>
              </a:r>
              <a:endParaRPr b="1" i="0" sz="1400" u="none" cap="none" strike="noStrike">
                <a:solidFill>
                  <a:schemeClr val="dk1"/>
                </a:solidFill>
                <a:latin typeface="Calibri"/>
                <a:ea typeface="Calibri"/>
                <a:cs typeface="Calibri"/>
                <a:sym typeface="Calibri"/>
              </a:endParaRPr>
            </a:p>
          </p:txBody>
        </p:sp>
        <p:sp>
          <p:nvSpPr>
            <p:cNvPr id="288" name="Google Shape;288;p9"/>
            <p:cNvSpPr/>
            <p:nvPr/>
          </p:nvSpPr>
          <p:spPr>
            <a:xfrm>
              <a:off x="1523919" y="5879309"/>
              <a:ext cx="185514" cy="200219"/>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1" i="0" lang="en-US" sz="1400" u="none" cap="none" strike="noStrike">
                  <a:solidFill>
                    <a:srgbClr val="231F20"/>
                  </a:solidFill>
                  <a:latin typeface="Calibri"/>
                  <a:ea typeface="Calibri"/>
                  <a:cs typeface="Calibri"/>
                  <a:sym typeface="Calibri"/>
                </a:rPr>
                <a:t>6</a:t>
              </a:r>
              <a:endParaRPr b="1" i="0" sz="1400" u="none" cap="none" strike="noStrike">
                <a:solidFill>
                  <a:schemeClr val="dk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0"/>
          <p:cNvSpPr txBox="1"/>
          <p:nvPr/>
        </p:nvSpPr>
        <p:spPr>
          <a:xfrm>
            <a:off x="38100" y="228600"/>
            <a:ext cx="9144000" cy="10779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All Our body system are working together to carry out all needed life functions in a coordinated way. </a:t>
            </a:r>
            <a:endParaRPr b="0" i="0" sz="1400" u="none" cap="none" strike="noStrike">
              <a:solidFill>
                <a:srgbClr val="000000"/>
              </a:solidFill>
              <a:latin typeface="Arial"/>
              <a:ea typeface="Arial"/>
              <a:cs typeface="Arial"/>
              <a:sym typeface="Arial"/>
            </a:endParaRPr>
          </a:p>
        </p:txBody>
      </p:sp>
      <p:sp>
        <p:nvSpPr>
          <p:cNvPr id="295" name="Google Shape;295;p10"/>
          <p:cNvSpPr txBox="1"/>
          <p:nvPr/>
        </p:nvSpPr>
        <p:spPr>
          <a:xfrm>
            <a:off x="38100" y="1306513"/>
            <a:ext cx="8807896" cy="4278094"/>
          </a:xfrm>
          <a:prstGeom prst="rect">
            <a:avLst/>
          </a:prstGeom>
          <a:solidFill>
            <a:srgbClr val="CCEC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	</a:t>
            </a:r>
            <a:r>
              <a:rPr b="1" i="0" lang="en-US" sz="3200" u="none" cap="none" strike="noStrike">
                <a:solidFill>
                  <a:schemeClr val="accent2"/>
                </a:solidFill>
                <a:latin typeface="Times New Roman"/>
                <a:ea typeface="Times New Roman"/>
                <a:cs typeface="Times New Roman"/>
                <a:sym typeface="Times New Roman"/>
              </a:rPr>
              <a:t>Growth </a:t>
            </a:r>
            <a:r>
              <a:rPr b="1" i="0" lang="en-US" sz="3200" u="none" cap="none" strike="noStrike">
                <a:solidFill>
                  <a:schemeClr val="dk1"/>
                </a:solidFill>
                <a:latin typeface="Times New Roman"/>
                <a:ea typeface="Times New Roman"/>
                <a:cs typeface="Times New Roman"/>
                <a:sym typeface="Times New Roman"/>
              </a:rPr>
              <a:t> 		</a:t>
            </a:r>
            <a:r>
              <a:rPr b="1" i="0" lang="en-US" sz="3200" u="none" cap="none" strike="noStrike">
                <a:solidFill>
                  <a:srgbClr val="0070C0"/>
                </a:solidFill>
                <a:latin typeface="Times New Roman"/>
                <a:ea typeface="Times New Roman"/>
                <a:cs typeface="Times New Roman"/>
                <a:sym typeface="Times New Roman"/>
              </a:rPr>
              <a:t>         Repair of injuries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	</a:t>
            </a:r>
            <a:r>
              <a:rPr b="1" i="0" lang="en-US" sz="3200" u="none" cap="none" strike="noStrike">
                <a:solidFill>
                  <a:srgbClr val="FF33CC"/>
                </a:solidFill>
                <a:latin typeface="Times New Roman"/>
                <a:ea typeface="Times New Roman"/>
                <a:cs typeface="Times New Roman"/>
                <a:sym typeface="Times New Roman"/>
              </a:rPr>
              <a:t>Get energy</a:t>
            </a:r>
            <a:r>
              <a:rPr b="1" i="0" lang="en-US" sz="3200" u="none" cap="none" strike="noStrike">
                <a:solidFill>
                  <a:schemeClr val="dk1"/>
                </a:solidFill>
                <a:latin typeface="Times New Roman"/>
                <a:ea typeface="Times New Roman"/>
                <a:cs typeface="Times New Roman"/>
                <a:sym typeface="Times New Roman"/>
              </a:rPr>
              <a:t> 	         </a:t>
            </a:r>
            <a:r>
              <a:rPr b="1" i="0" lang="en-US" sz="3200" u="none" cap="none" strike="noStrike">
                <a:solidFill>
                  <a:srgbClr val="000099"/>
                </a:solidFill>
                <a:latin typeface="Times New Roman"/>
                <a:ea typeface="Times New Roman"/>
                <a:cs typeface="Times New Roman"/>
                <a:sym typeface="Times New Roman"/>
              </a:rPr>
              <a:t>Get building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	</a:t>
            </a:r>
            <a:r>
              <a:rPr b="1" i="0" lang="en-US" sz="3200" u="none" cap="none" strike="noStrike">
                <a:solidFill>
                  <a:srgbClr val="006600"/>
                </a:solidFill>
                <a:latin typeface="Times New Roman"/>
                <a:ea typeface="Times New Roman"/>
                <a:cs typeface="Times New Roman"/>
                <a:sym typeface="Times New Roman"/>
              </a:rPr>
              <a:t>Get rid of waste</a:t>
            </a:r>
            <a:r>
              <a:rPr b="1" i="0" lang="en-US" sz="32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	</a:t>
            </a:r>
            <a:r>
              <a:rPr b="1" i="0" lang="en-US" sz="3200" u="none" cap="none" strike="noStrike">
                <a:solidFill>
                  <a:srgbClr val="FF0000"/>
                </a:solidFill>
                <a:latin typeface="Times New Roman"/>
                <a:ea typeface="Times New Roman"/>
                <a:cs typeface="Times New Roman"/>
                <a:sym typeface="Times New Roman"/>
              </a:rPr>
              <a:t>Keep away disease</a:t>
            </a:r>
            <a:r>
              <a:rPr b="1" i="0" lang="en-US" sz="32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	</a:t>
            </a:r>
            <a:r>
              <a:rPr b="1" i="0" lang="en-US" sz="3200" u="none" cap="none" strike="noStrike">
                <a:solidFill>
                  <a:srgbClr val="FF66FF"/>
                </a:solidFill>
                <a:latin typeface="Times New Roman"/>
                <a:ea typeface="Times New Roman"/>
                <a:cs typeface="Times New Roman"/>
                <a:sym typeface="Times New Roman"/>
              </a:rPr>
              <a:t>Respond to changing environment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rgbClr val="00B050"/>
                </a:solidFill>
                <a:latin typeface="Times New Roman"/>
                <a:ea typeface="Times New Roman"/>
                <a:cs typeface="Times New Roman"/>
                <a:sym typeface="Times New Roman"/>
              </a:rPr>
              <a:t>	Reproduce</a:t>
            </a:r>
            <a:endParaRPr b="0" i="0" sz="1400" u="none" cap="none" strike="noStrike">
              <a:solidFill>
                <a:srgbClr val="000000"/>
              </a:solidFill>
              <a:latin typeface="Arial"/>
              <a:ea typeface="Arial"/>
              <a:cs typeface="Arial"/>
              <a:sym typeface="Arial"/>
            </a:endParaRPr>
          </a:p>
        </p:txBody>
      </p:sp>
      <p:sp>
        <p:nvSpPr>
          <p:cNvPr id="296" name="Google Shape;296;p10"/>
          <p:cNvSpPr/>
          <p:nvPr/>
        </p:nvSpPr>
        <p:spPr>
          <a:xfrm>
            <a:off x="251520" y="5607431"/>
            <a:ext cx="5216525" cy="5842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3200"/>
              <a:buFont typeface="Noto Sans Symbols"/>
              <a:buChar char="⮚"/>
            </a:pPr>
            <a:r>
              <a:rPr b="0" i="0" lang="en-US" sz="3200" u="none" cap="none" strike="noStrike">
                <a:solidFill>
                  <a:schemeClr val="dk1"/>
                </a:solidFill>
                <a:latin typeface="Times New Roman"/>
                <a:ea typeface="Times New Roman"/>
                <a:cs typeface="Times New Roman"/>
                <a:sym typeface="Times New Roman"/>
              </a:rPr>
              <a:t>Human body has 11 systems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1"/>
          <p:cNvSpPr txBox="1"/>
          <p:nvPr/>
        </p:nvSpPr>
        <p:spPr>
          <a:xfrm>
            <a:off x="0" y="228600"/>
            <a:ext cx="9144000" cy="6862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Times New Roman"/>
                <a:ea typeface="Times New Roman"/>
                <a:cs typeface="Times New Roman"/>
                <a:sym typeface="Times New Roman"/>
              </a:rPr>
              <a:t>Eleven Body Systems work together to maintain homeostasis and carry out these tasks</a:t>
            </a:r>
            <a:r>
              <a:rPr b="0" i="0"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0" i="0" lang="en-US" sz="3200" u="none" cap="none" strike="noStrike">
                <a:solidFill>
                  <a:srgbClr val="556C83"/>
                </a:solidFill>
                <a:latin typeface="Times New Roman"/>
                <a:ea typeface="Times New Roman"/>
                <a:cs typeface="Times New Roman"/>
                <a:sym typeface="Times New Roman"/>
              </a:rPr>
              <a:t>1. </a:t>
            </a:r>
            <a:r>
              <a:rPr b="1" i="0" lang="en-US" sz="3200" u="none" cap="none" strike="noStrike">
                <a:solidFill>
                  <a:srgbClr val="556C83"/>
                </a:solidFill>
                <a:latin typeface="Times New Roman"/>
                <a:ea typeface="Times New Roman"/>
                <a:cs typeface="Times New Roman"/>
                <a:sym typeface="Times New Roman"/>
              </a:rPr>
              <a:t>Nervous System 	   2. Endocrine System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rgbClr val="556C83"/>
                </a:solidFill>
                <a:latin typeface="Times New Roman"/>
                <a:ea typeface="Times New Roman"/>
                <a:cs typeface="Times New Roman"/>
                <a:sym typeface="Times New Roman"/>
              </a:rPr>
              <a:t>3. Lymphatic System    4. Circulatory System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rgbClr val="556C83"/>
                </a:solidFill>
                <a:latin typeface="Times New Roman"/>
                <a:ea typeface="Times New Roman"/>
                <a:cs typeface="Times New Roman"/>
                <a:sym typeface="Times New Roman"/>
              </a:rPr>
              <a:t>5. </a:t>
            </a:r>
            <a:r>
              <a:rPr b="1" i="0" lang="en-US" sz="2800" u="none" cap="none" strike="noStrike">
                <a:solidFill>
                  <a:srgbClr val="556C83"/>
                </a:solidFill>
                <a:latin typeface="Times New Roman"/>
                <a:ea typeface="Times New Roman"/>
                <a:cs typeface="Times New Roman"/>
                <a:sym typeface="Times New Roman"/>
              </a:rPr>
              <a:t>Respiratory System</a:t>
            </a:r>
            <a:r>
              <a:rPr b="1" i="0" lang="en-US" sz="3200" u="none" cap="none" strike="noStrike">
                <a:solidFill>
                  <a:srgbClr val="556C83"/>
                </a:solidFill>
                <a:latin typeface="Times New Roman"/>
                <a:ea typeface="Times New Roman"/>
                <a:cs typeface="Times New Roman"/>
                <a:sym typeface="Times New Roman"/>
              </a:rPr>
              <a:t>      6.  Digestive System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rgbClr val="556C83"/>
                </a:solidFill>
                <a:latin typeface="Times New Roman"/>
                <a:ea typeface="Times New Roman"/>
                <a:cs typeface="Times New Roman"/>
                <a:sym typeface="Times New Roman"/>
              </a:rPr>
              <a:t>7. Excretory System	    8.  Skeletal System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rgbClr val="556C83"/>
                </a:solidFill>
                <a:latin typeface="Times New Roman"/>
                <a:ea typeface="Times New Roman"/>
                <a:cs typeface="Times New Roman"/>
                <a:sym typeface="Times New Roman"/>
              </a:rPr>
              <a:t>9. Muscular System	    10. Integumentary System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rgbClr val="556C83"/>
                </a:solidFill>
                <a:latin typeface="Times New Roman"/>
                <a:ea typeface="Times New Roman"/>
                <a:cs typeface="Times New Roman"/>
                <a:sym typeface="Times New Roman"/>
              </a:rPr>
              <a:t>		11. Reproductive System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2"/>
          <p:cNvSpPr txBox="1"/>
          <p:nvPr/>
        </p:nvSpPr>
        <p:spPr>
          <a:xfrm>
            <a:off x="228600" y="457200"/>
            <a:ext cx="5257800" cy="55848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sng" cap="none" strike="noStrike">
                <a:solidFill>
                  <a:schemeClr val="dk1"/>
                </a:solidFill>
                <a:latin typeface="Times New Roman"/>
                <a:ea typeface="Times New Roman"/>
                <a:cs typeface="Times New Roman"/>
                <a:sym typeface="Times New Roman"/>
              </a:rPr>
              <a:t>1. Nervous System:</a:t>
            </a:r>
            <a:r>
              <a:rPr b="0" i="0" lang="en-US" sz="36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3600"/>
              <a:buFont typeface="Arial"/>
              <a:buNone/>
            </a:pPr>
            <a:r>
              <a:rPr b="1" i="0" lang="en-US" sz="3600" u="none" cap="none" strike="noStrike">
                <a:solidFill>
                  <a:schemeClr val="dk1"/>
                </a:solidFill>
                <a:latin typeface="Times New Roman"/>
                <a:ea typeface="Times New Roman"/>
                <a:cs typeface="Times New Roman"/>
                <a:sym typeface="Times New Roman"/>
              </a:rPr>
              <a:t>Structures:</a:t>
            </a:r>
            <a:r>
              <a:rPr b="0" i="0" lang="en-US" sz="3600" u="none" cap="none" strike="noStrike">
                <a:solidFill>
                  <a:schemeClr val="dk1"/>
                </a:solidFill>
                <a:latin typeface="Times New Roman"/>
                <a:ea typeface="Times New Roman"/>
                <a:cs typeface="Times New Roman"/>
                <a:sym typeface="Times New Roman"/>
              </a:rPr>
              <a:t>  Brain, Spinal Cord, Peripheral Nerves, Neurons (Cells of nervous system)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3600"/>
              <a:buFont typeface="Arial"/>
              <a:buNone/>
            </a:pPr>
            <a:r>
              <a:rPr b="1" i="0" lang="en-US" sz="3600" u="none" cap="none" strike="noStrike">
                <a:solidFill>
                  <a:schemeClr val="dk1"/>
                </a:solidFill>
                <a:latin typeface="Times New Roman"/>
                <a:ea typeface="Times New Roman"/>
                <a:cs typeface="Times New Roman"/>
                <a:sym typeface="Times New Roman"/>
              </a:rPr>
              <a:t>Functions:</a:t>
            </a:r>
            <a:r>
              <a:rPr b="0" i="0" lang="en-US" sz="3600" u="none" cap="none" strike="noStrike">
                <a:solidFill>
                  <a:schemeClr val="dk1"/>
                </a:solidFill>
                <a:latin typeface="Times New Roman"/>
                <a:ea typeface="Times New Roman"/>
                <a:cs typeface="Times New Roman"/>
                <a:sym typeface="Times New Roman"/>
              </a:rPr>
              <a:t>  Coordinates the body’s response to changes to internal and external environment </a:t>
            </a:r>
            <a:endParaRPr b="0" i="0" sz="1400" u="none" cap="none" strike="noStrike">
              <a:solidFill>
                <a:srgbClr val="000000"/>
              </a:solidFill>
              <a:latin typeface="Arial"/>
              <a:ea typeface="Arial"/>
              <a:cs typeface="Arial"/>
              <a:sym typeface="Arial"/>
            </a:endParaRPr>
          </a:p>
        </p:txBody>
      </p:sp>
      <p:pic>
        <p:nvPicPr>
          <p:cNvPr descr="neuron" id="307" name="Google Shape;307;p12"/>
          <p:cNvPicPr preferRelativeResize="0"/>
          <p:nvPr/>
        </p:nvPicPr>
        <p:blipFill rotWithShape="1">
          <a:blip r:embed="rId3">
            <a:alphaModFix/>
          </a:blip>
          <a:srcRect b="0" l="0" r="0" t="0"/>
          <a:stretch/>
        </p:blipFill>
        <p:spPr>
          <a:xfrm>
            <a:off x="5308600" y="3983038"/>
            <a:ext cx="3835400" cy="2874962"/>
          </a:xfrm>
          <a:prstGeom prst="rect">
            <a:avLst/>
          </a:prstGeom>
          <a:noFill/>
          <a:ln>
            <a:noFill/>
          </a:ln>
        </p:spPr>
      </p:pic>
      <p:pic>
        <p:nvPicPr>
          <p:cNvPr descr="brain" id="308" name="Google Shape;308;p12"/>
          <p:cNvPicPr preferRelativeResize="0"/>
          <p:nvPr/>
        </p:nvPicPr>
        <p:blipFill rotWithShape="1">
          <a:blip r:embed="rId4">
            <a:alphaModFix/>
          </a:blip>
          <a:srcRect b="0" l="0" r="0" t="0"/>
          <a:stretch/>
        </p:blipFill>
        <p:spPr>
          <a:xfrm>
            <a:off x="6286500" y="0"/>
            <a:ext cx="2857500" cy="40798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3"/>
          <p:cNvSpPr txBox="1"/>
          <p:nvPr/>
        </p:nvSpPr>
        <p:spPr>
          <a:xfrm>
            <a:off x="0" y="0"/>
            <a:ext cx="78486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sng" cap="none" strike="noStrike">
                <a:solidFill>
                  <a:schemeClr val="dk1"/>
                </a:solidFill>
                <a:latin typeface="Times New Roman"/>
                <a:ea typeface="Times New Roman"/>
                <a:cs typeface="Times New Roman"/>
                <a:sym typeface="Times New Roman"/>
              </a:rPr>
              <a:t>The Nervous System:</a:t>
            </a:r>
            <a:endParaRPr b="0" i="0" sz="1400" u="none" cap="none" strike="noStrike">
              <a:solidFill>
                <a:srgbClr val="000000"/>
              </a:solidFill>
              <a:latin typeface="Arial"/>
              <a:ea typeface="Arial"/>
              <a:cs typeface="Arial"/>
              <a:sym typeface="Arial"/>
            </a:endParaRPr>
          </a:p>
        </p:txBody>
      </p:sp>
      <p:sp>
        <p:nvSpPr>
          <p:cNvPr id="314" name="Google Shape;314;p13"/>
          <p:cNvSpPr txBox="1"/>
          <p:nvPr/>
        </p:nvSpPr>
        <p:spPr>
          <a:xfrm>
            <a:off x="457200" y="609600"/>
            <a:ext cx="8686800" cy="20621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The nervous system is the number one communication center of the body.  The basic cell type that carries the communications is a network of neurons that transmit electrical impulses.</a:t>
            </a:r>
            <a:r>
              <a:rPr b="0" i="0" lang="en-US" sz="24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pic>
        <p:nvPicPr>
          <p:cNvPr descr="bio_ch35_6160" id="315" name="Google Shape;315;p13"/>
          <p:cNvPicPr preferRelativeResize="0"/>
          <p:nvPr/>
        </p:nvPicPr>
        <p:blipFill rotWithShape="1">
          <a:blip r:embed="rId3">
            <a:alphaModFix/>
          </a:blip>
          <a:srcRect b="0" l="0" r="0" t="0"/>
          <a:stretch/>
        </p:blipFill>
        <p:spPr>
          <a:xfrm>
            <a:off x="179512" y="2636912"/>
            <a:ext cx="8686800" cy="3705225"/>
          </a:xfrm>
          <a:prstGeom prst="rect">
            <a:avLst/>
          </a:prstGeom>
          <a:solidFill>
            <a:schemeClr val="dk1"/>
          </a:solidFill>
          <a:ln>
            <a:noFill/>
          </a:ln>
        </p:spPr>
      </p:pic>
      <p:sp>
        <p:nvSpPr>
          <p:cNvPr id="316" name="Google Shape;316;p13"/>
          <p:cNvSpPr txBox="1"/>
          <p:nvPr/>
        </p:nvSpPr>
        <p:spPr>
          <a:xfrm>
            <a:off x="914400" y="3429000"/>
            <a:ext cx="2362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Times New Roman"/>
                <a:ea typeface="Times New Roman"/>
                <a:cs typeface="Times New Roman"/>
                <a:sym typeface="Times New Roman"/>
              </a:rPr>
              <a:t>Axon</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lt1"/>
                </a:solidFill>
                <a:latin typeface="Times New Roman"/>
                <a:ea typeface="Times New Roman"/>
                <a:cs typeface="Times New Roman"/>
                <a:sym typeface="Times New Roman"/>
              </a:rPr>
              <a:t>terminals</a:t>
            </a:r>
            <a:endParaRPr b="0" i="0" sz="1400" u="none" cap="none" strike="noStrike">
              <a:solidFill>
                <a:srgbClr val="000000"/>
              </a:solidFill>
              <a:latin typeface="Arial"/>
              <a:ea typeface="Arial"/>
              <a:cs typeface="Arial"/>
              <a:sym typeface="Arial"/>
            </a:endParaRPr>
          </a:p>
        </p:txBody>
      </p:sp>
      <p:sp>
        <p:nvSpPr>
          <p:cNvPr id="317" name="Google Shape;317;p13"/>
          <p:cNvSpPr txBox="1"/>
          <p:nvPr/>
        </p:nvSpPr>
        <p:spPr>
          <a:xfrm>
            <a:off x="2209800" y="5943600"/>
            <a:ext cx="1219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Nodes</a:t>
            </a:r>
            <a:endParaRPr b="0" i="0" sz="1400" u="none" cap="none" strike="noStrike">
              <a:solidFill>
                <a:srgbClr val="000000"/>
              </a:solidFill>
              <a:latin typeface="Arial"/>
              <a:ea typeface="Arial"/>
              <a:cs typeface="Arial"/>
              <a:sym typeface="Arial"/>
            </a:endParaRPr>
          </a:p>
        </p:txBody>
      </p:sp>
      <p:sp>
        <p:nvSpPr>
          <p:cNvPr id="318" name="Google Shape;318;p13"/>
          <p:cNvSpPr txBox="1"/>
          <p:nvPr/>
        </p:nvSpPr>
        <p:spPr>
          <a:xfrm>
            <a:off x="2438400" y="4267200"/>
            <a:ext cx="2895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Times New Roman"/>
                <a:ea typeface="Times New Roman"/>
                <a:cs typeface="Times New Roman"/>
                <a:sym typeface="Times New Roman"/>
              </a:rPr>
              <a:t>Myelin Sheath</a:t>
            </a:r>
            <a:endParaRPr b="0" i="0" sz="1400" u="none" cap="none" strike="noStrike">
              <a:solidFill>
                <a:srgbClr val="000000"/>
              </a:solidFill>
              <a:latin typeface="Arial"/>
              <a:ea typeface="Arial"/>
              <a:cs typeface="Arial"/>
              <a:sym typeface="Arial"/>
            </a:endParaRPr>
          </a:p>
        </p:txBody>
      </p:sp>
      <p:sp>
        <p:nvSpPr>
          <p:cNvPr id="319" name="Google Shape;319;p13"/>
          <p:cNvSpPr txBox="1"/>
          <p:nvPr/>
        </p:nvSpPr>
        <p:spPr>
          <a:xfrm>
            <a:off x="4038600" y="3733800"/>
            <a:ext cx="2286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Times New Roman"/>
                <a:ea typeface="Times New Roman"/>
                <a:cs typeface="Times New Roman"/>
                <a:sym typeface="Times New Roman"/>
              </a:rPr>
              <a:t>Cell Body </a:t>
            </a:r>
            <a:endParaRPr b="0" i="0" sz="1400" u="none" cap="none" strike="noStrike">
              <a:solidFill>
                <a:srgbClr val="000000"/>
              </a:solidFill>
              <a:latin typeface="Arial"/>
              <a:ea typeface="Arial"/>
              <a:cs typeface="Arial"/>
              <a:sym typeface="Arial"/>
            </a:endParaRPr>
          </a:p>
        </p:txBody>
      </p:sp>
      <p:sp>
        <p:nvSpPr>
          <p:cNvPr id="320" name="Google Shape;320;p13"/>
          <p:cNvSpPr txBox="1"/>
          <p:nvPr/>
        </p:nvSpPr>
        <p:spPr>
          <a:xfrm>
            <a:off x="6934200" y="3200400"/>
            <a:ext cx="1752600" cy="457200"/>
          </a:xfrm>
          <a:prstGeom prst="rect">
            <a:avLst/>
          </a:prstGeom>
          <a:solidFill>
            <a:srgbClr val="FF99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Nucleus</a:t>
            </a:r>
            <a:endParaRPr b="0" i="0" sz="1400" u="none" cap="none" strike="noStrike">
              <a:solidFill>
                <a:srgbClr val="000000"/>
              </a:solidFill>
              <a:latin typeface="Arial"/>
              <a:ea typeface="Arial"/>
              <a:cs typeface="Arial"/>
              <a:sym typeface="Arial"/>
            </a:endParaRPr>
          </a:p>
        </p:txBody>
      </p:sp>
      <p:sp>
        <p:nvSpPr>
          <p:cNvPr id="321" name="Google Shape;321;p13"/>
          <p:cNvSpPr txBox="1"/>
          <p:nvPr/>
        </p:nvSpPr>
        <p:spPr>
          <a:xfrm>
            <a:off x="6444208" y="6251214"/>
            <a:ext cx="1524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Dendrites</a:t>
            </a:r>
            <a:endParaRPr b="0" i="0" sz="1400" u="none" cap="none" strike="noStrike">
              <a:solidFill>
                <a:srgbClr val="000000"/>
              </a:solidFill>
              <a:latin typeface="Arial"/>
              <a:ea typeface="Arial"/>
              <a:cs typeface="Arial"/>
              <a:sym typeface="Arial"/>
            </a:endParaRPr>
          </a:p>
        </p:txBody>
      </p:sp>
      <p:sp>
        <p:nvSpPr>
          <p:cNvPr id="322" name="Google Shape;322;p13"/>
          <p:cNvSpPr txBox="1"/>
          <p:nvPr/>
        </p:nvSpPr>
        <p:spPr>
          <a:xfrm>
            <a:off x="609600" y="2819400"/>
            <a:ext cx="3429000" cy="584775"/>
          </a:xfrm>
          <a:prstGeom prst="rect">
            <a:avLst/>
          </a:prstGeom>
          <a:solidFill>
            <a:srgbClr val="FFCC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NEURON CELL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4"/>
          <p:cNvSpPr/>
          <p:nvPr/>
        </p:nvSpPr>
        <p:spPr>
          <a:xfrm>
            <a:off x="304800" y="330200"/>
            <a:ext cx="80073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sng" cap="none" strike="noStrike">
                <a:solidFill>
                  <a:schemeClr val="dk1"/>
                </a:solidFill>
                <a:latin typeface="Times New Roman"/>
                <a:ea typeface="Times New Roman"/>
                <a:cs typeface="Times New Roman"/>
                <a:sym typeface="Times New Roman"/>
              </a:rPr>
              <a:t>2. Endocrine System – Hormone System</a:t>
            </a:r>
            <a:endParaRPr b="0" i="0" sz="1400" u="none" cap="none" strike="noStrike">
              <a:solidFill>
                <a:srgbClr val="000000"/>
              </a:solidFill>
              <a:latin typeface="Arial"/>
              <a:ea typeface="Arial"/>
              <a:cs typeface="Arial"/>
              <a:sym typeface="Arial"/>
            </a:endParaRPr>
          </a:p>
        </p:txBody>
      </p:sp>
      <p:sp>
        <p:nvSpPr>
          <p:cNvPr id="328" name="Google Shape;328;p14"/>
          <p:cNvSpPr txBox="1"/>
          <p:nvPr/>
        </p:nvSpPr>
        <p:spPr>
          <a:xfrm>
            <a:off x="0" y="1219200"/>
            <a:ext cx="6096000" cy="47609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Times New Roman"/>
                <a:ea typeface="Times New Roman"/>
                <a:cs typeface="Times New Roman"/>
                <a:sym typeface="Times New Roman"/>
              </a:rPr>
              <a:t>Structures:</a:t>
            </a:r>
            <a:r>
              <a:rPr b="0" i="0" lang="en-US" sz="3600" u="none" cap="none" strike="noStrike">
                <a:solidFill>
                  <a:schemeClr val="dk1"/>
                </a:solidFill>
                <a:latin typeface="Times New Roman"/>
                <a:ea typeface="Times New Roman"/>
                <a:cs typeface="Times New Roman"/>
                <a:sym typeface="Times New Roman"/>
              </a:rPr>
              <a:t>  Glands - Hypothalmus, pituitary, thyroid, parathyroids, adrenals, pancreas, ovaries (in females), testes (in males)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3600"/>
              <a:buFont typeface="Arial"/>
              <a:buNone/>
            </a:pPr>
            <a:r>
              <a:rPr b="1" i="0" lang="en-US" sz="3600" u="none" cap="none" strike="noStrike">
                <a:solidFill>
                  <a:schemeClr val="dk1"/>
                </a:solidFill>
                <a:latin typeface="Times New Roman"/>
                <a:ea typeface="Times New Roman"/>
                <a:cs typeface="Times New Roman"/>
                <a:sym typeface="Times New Roman"/>
              </a:rPr>
              <a:t>Functions:</a:t>
            </a:r>
            <a:r>
              <a:rPr b="0" i="0" lang="en-US" sz="3600" u="none" cap="none" strike="noStrike">
                <a:solidFill>
                  <a:schemeClr val="dk1"/>
                </a:solidFill>
                <a:latin typeface="Times New Roman"/>
                <a:ea typeface="Times New Roman"/>
                <a:cs typeface="Times New Roman"/>
                <a:sym typeface="Times New Roman"/>
              </a:rPr>
              <a:t> Produce Hormones. Controls growth, development, metabolism, and reproduction  </a:t>
            </a:r>
            <a:endParaRPr b="0" i="0" sz="1400" u="none" cap="none" strike="noStrike">
              <a:solidFill>
                <a:srgbClr val="000000"/>
              </a:solidFill>
              <a:latin typeface="Arial"/>
              <a:ea typeface="Arial"/>
              <a:cs typeface="Arial"/>
              <a:sym typeface="Arial"/>
            </a:endParaRPr>
          </a:p>
        </p:txBody>
      </p:sp>
      <p:pic>
        <p:nvPicPr>
          <p:cNvPr descr="drawing showing the location of the various glands" id="329" name="Google Shape;329;p14"/>
          <p:cNvPicPr preferRelativeResize="0"/>
          <p:nvPr/>
        </p:nvPicPr>
        <p:blipFill rotWithShape="1">
          <a:blip r:embed="rId3">
            <a:alphaModFix/>
          </a:blip>
          <a:srcRect b="0" l="0" r="0" t="0"/>
          <a:stretch/>
        </p:blipFill>
        <p:spPr>
          <a:xfrm>
            <a:off x="5867401" y="990600"/>
            <a:ext cx="2953072" cy="540129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5"/>
          <p:cNvSpPr txBox="1"/>
          <p:nvPr/>
        </p:nvSpPr>
        <p:spPr>
          <a:xfrm>
            <a:off x="0" y="-152400"/>
            <a:ext cx="9144000" cy="2800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60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The Endocrine System Sends messages throughout the body by way of chemicals known as hormones.  Hormones travel throughout the blood stream to </a:t>
            </a:r>
            <a:r>
              <a:rPr b="1" i="0" lang="en-US" sz="3200" u="none" cap="none" strike="noStrike">
                <a:solidFill>
                  <a:schemeClr val="dk1"/>
                </a:solidFill>
                <a:latin typeface="Times New Roman"/>
                <a:ea typeface="Times New Roman"/>
                <a:cs typeface="Times New Roman"/>
                <a:sym typeface="Times New Roman"/>
              </a:rPr>
              <a:t>target cells which contain matching receptors</a:t>
            </a:r>
            <a:r>
              <a:rPr b="0" i="0" lang="en-US" sz="32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pic>
        <p:nvPicPr>
          <p:cNvPr descr="bio_ch39_6170" id="335" name="Google Shape;335;p15"/>
          <p:cNvPicPr preferRelativeResize="0"/>
          <p:nvPr/>
        </p:nvPicPr>
        <p:blipFill rotWithShape="1">
          <a:blip r:embed="rId3">
            <a:alphaModFix/>
          </a:blip>
          <a:srcRect b="0" l="0" r="0" t="0"/>
          <a:stretch/>
        </p:blipFill>
        <p:spPr>
          <a:xfrm>
            <a:off x="1588040" y="2780928"/>
            <a:ext cx="5928320" cy="3484971"/>
          </a:xfrm>
          <a:prstGeom prst="rect">
            <a:avLst/>
          </a:prstGeom>
          <a:noFill/>
          <a:ln>
            <a:noFill/>
          </a:ln>
        </p:spPr>
      </p:pic>
      <p:cxnSp>
        <p:nvCxnSpPr>
          <p:cNvPr id="336" name="Google Shape;336;p15"/>
          <p:cNvCxnSpPr/>
          <p:nvPr/>
        </p:nvCxnSpPr>
        <p:spPr>
          <a:xfrm>
            <a:off x="1600200" y="3124200"/>
            <a:ext cx="990600" cy="0"/>
          </a:xfrm>
          <a:prstGeom prst="straightConnector1">
            <a:avLst/>
          </a:prstGeom>
          <a:noFill/>
          <a:ln cap="flat" cmpd="sng" w="38100">
            <a:solidFill>
              <a:srgbClr val="FF3300"/>
            </a:solidFill>
            <a:prstDash val="solid"/>
            <a:round/>
            <a:headEnd len="sm" w="sm" type="none"/>
            <a:tailEnd len="sm" w="sm" type="none"/>
          </a:ln>
        </p:spPr>
      </p:cxnSp>
      <p:sp>
        <p:nvSpPr>
          <p:cNvPr id="337" name="Google Shape;337;p15"/>
          <p:cNvSpPr txBox="1"/>
          <p:nvPr/>
        </p:nvSpPr>
        <p:spPr>
          <a:xfrm>
            <a:off x="304800" y="2895600"/>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Hormone</a:t>
            </a:r>
            <a:endParaRPr b="0" i="0" sz="1400" u="none" cap="none" strike="noStrike">
              <a:solidFill>
                <a:srgbClr val="000000"/>
              </a:solidFill>
              <a:latin typeface="Arial"/>
              <a:ea typeface="Arial"/>
              <a:cs typeface="Arial"/>
              <a:sym typeface="Arial"/>
            </a:endParaRPr>
          </a:p>
        </p:txBody>
      </p:sp>
      <p:sp>
        <p:nvSpPr>
          <p:cNvPr id="338" name="Google Shape;338;p15"/>
          <p:cNvSpPr txBox="1"/>
          <p:nvPr/>
        </p:nvSpPr>
        <p:spPr>
          <a:xfrm>
            <a:off x="304800" y="3581400"/>
            <a:ext cx="1371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Receptor</a:t>
            </a:r>
            <a:endParaRPr b="0" i="0" sz="1400" u="none" cap="none" strike="noStrike">
              <a:solidFill>
                <a:srgbClr val="000000"/>
              </a:solidFill>
              <a:latin typeface="Arial"/>
              <a:ea typeface="Arial"/>
              <a:cs typeface="Arial"/>
              <a:sym typeface="Arial"/>
            </a:endParaRPr>
          </a:p>
        </p:txBody>
      </p:sp>
      <p:cxnSp>
        <p:nvCxnSpPr>
          <p:cNvPr id="339" name="Google Shape;339;p15"/>
          <p:cNvCxnSpPr/>
          <p:nvPr/>
        </p:nvCxnSpPr>
        <p:spPr>
          <a:xfrm flipH="1" rot="10800000">
            <a:off x="1600200" y="3733800"/>
            <a:ext cx="838200" cy="76200"/>
          </a:xfrm>
          <a:prstGeom prst="straightConnector1">
            <a:avLst/>
          </a:prstGeom>
          <a:noFill/>
          <a:ln cap="flat" cmpd="sng" w="38100">
            <a:solidFill>
              <a:srgbClr val="FF3300"/>
            </a:solidFill>
            <a:prstDash val="solid"/>
            <a:round/>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descr="bio_ch39_4155" id="344" name="Google Shape;344;p16"/>
          <p:cNvPicPr preferRelativeResize="0"/>
          <p:nvPr/>
        </p:nvPicPr>
        <p:blipFill rotWithShape="1">
          <a:blip r:embed="rId3">
            <a:alphaModFix/>
          </a:blip>
          <a:srcRect b="0" l="0" r="0" t="0"/>
          <a:stretch/>
        </p:blipFill>
        <p:spPr>
          <a:xfrm>
            <a:off x="2267744" y="1340768"/>
            <a:ext cx="3066253" cy="4104456"/>
          </a:xfrm>
          <a:prstGeom prst="rect">
            <a:avLst/>
          </a:prstGeom>
          <a:noFill/>
          <a:ln>
            <a:noFill/>
          </a:ln>
        </p:spPr>
      </p:pic>
      <p:sp>
        <p:nvSpPr>
          <p:cNvPr id="345" name="Google Shape;345;p16"/>
          <p:cNvSpPr txBox="1"/>
          <p:nvPr/>
        </p:nvSpPr>
        <p:spPr>
          <a:xfrm>
            <a:off x="609600" y="759977"/>
            <a:ext cx="27432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Hypothalamus</a:t>
            </a:r>
            <a:endParaRPr b="0" i="0" sz="1400" u="none" cap="none" strike="noStrike">
              <a:solidFill>
                <a:srgbClr val="000000"/>
              </a:solidFill>
              <a:latin typeface="Arial"/>
              <a:ea typeface="Arial"/>
              <a:cs typeface="Arial"/>
              <a:sym typeface="Arial"/>
            </a:endParaRPr>
          </a:p>
        </p:txBody>
      </p:sp>
      <p:sp>
        <p:nvSpPr>
          <p:cNvPr id="346" name="Google Shape;346;p16"/>
          <p:cNvSpPr txBox="1"/>
          <p:nvPr/>
        </p:nvSpPr>
        <p:spPr>
          <a:xfrm>
            <a:off x="961628" y="1985543"/>
            <a:ext cx="23622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Pituitary</a:t>
            </a:r>
            <a:endParaRPr b="0" i="0" sz="1400" u="none" cap="none" strike="noStrike">
              <a:solidFill>
                <a:srgbClr val="000000"/>
              </a:solidFill>
              <a:latin typeface="Arial"/>
              <a:ea typeface="Arial"/>
              <a:cs typeface="Arial"/>
              <a:sym typeface="Arial"/>
            </a:endParaRPr>
          </a:p>
        </p:txBody>
      </p:sp>
      <p:sp>
        <p:nvSpPr>
          <p:cNvPr id="347" name="Google Shape;347;p16"/>
          <p:cNvSpPr txBox="1"/>
          <p:nvPr/>
        </p:nvSpPr>
        <p:spPr>
          <a:xfrm>
            <a:off x="304800" y="2891928"/>
            <a:ext cx="22860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Parathyroids</a:t>
            </a:r>
            <a:endParaRPr b="0" i="0" sz="2800" u="none" cap="none" strike="noStrike">
              <a:solidFill>
                <a:schemeClr val="dk1"/>
              </a:solidFill>
              <a:latin typeface="Times New Roman"/>
              <a:ea typeface="Times New Roman"/>
              <a:cs typeface="Times New Roman"/>
              <a:sym typeface="Times New Roman"/>
            </a:endParaRPr>
          </a:p>
        </p:txBody>
      </p:sp>
      <p:sp>
        <p:nvSpPr>
          <p:cNvPr id="348" name="Google Shape;348;p16"/>
          <p:cNvSpPr txBox="1"/>
          <p:nvPr/>
        </p:nvSpPr>
        <p:spPr>
          <a:xfrm>
            <a:off x="961628" y="3857937"/>
            <a:ext cx="1828800" cy="519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Thymus</a:t>
            </a:r>
            <a:endParaRPr b="0" i="0" sz="1400" u="none" cap="none" strike="noStrike">
              <a:solidFill>
                <a:srgbClr val="000000"/>
              </a:solidFill>
              <a:latin typeface="Arial"/>
              <a:ea typeface="Arial"/>
              <a:cs typeface="Arial"/>
              <a:sym typeface="Arial"/>
            </a:endParaRPr>
          </a:p>
        </p:txBody>
      </p:sp>
      <p:sp>
        <p:nvSpPr>
          <p:cNvPr id="349" name="Google Shape;349;p16"/>
          <p:cNvSpPr txBox="1"/>
          <p:nvPr/>
        </p:nvSpPr>
        <p:spPr>
          <a:xfrm>
            <a:off x="961628" y="4739522"/>
            <a:ext cx="2057400" cy="946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Adrenal Glands</a:t>
            </a:r>
            <a:endParaRPr b="0" i="0" sz="1400" u="none" cap="none" strike="noStrike">
              <a:solidFill>
                <a:srgbClr val="000000"/>
              </a:solidFill>
              <a:latin typeface="Arial"/>
              <a:ea typeface="Arial"/>
              <a:cs typeface="Arial"/>
              <a:sym typeface="Arial"/>
            </a:endParaRPr>
          </a:p>
        </p:txBody>
      </p:sp>
      <p:sp>
        <p:nvSpPr>
          <p:cNvPr id="350" name="Google Shape;350;p16"/>
          <p:cNvSpPr txBox="1"/>
          <p:nvPr/>
        </p:nvSpPr>
        <p:spPr>
          <a:xfrm>
            <a:off x="3657600" y="792869"/>
            <a:ext cx="3048000" cy="519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Pineal Gland</a:t>
            </a:r>
            <a:endParaRPr b="0" i="0" sz="1400" u="none" cap="none" strike="noStrike">
              <a:solidFill>
                <a:srgbClr val="000000"/>
              </a:solidFill>
              <a:latin typeface="Arial"/>
              <a:ea typeface="Arial"/>
              <a:cs typeface="Arial"/>
              <a:sym typeface="Arial"/>
            </a:endParaRPr>
          </a:p>
        </p:txBody>
      </p:sp>
      <p:sp>
        <p:nvSpPr>
          <p:cNvPr id="351" name="Google Shape;351;p16"/>
          <p:cNvSpPr txBox="1"/>
          <p:nvPr/>
        </p:nvSpPr>
        <p:spPr>
          <a:xfrm>
            <a:off x="5286772" y="1862139"/>
            <a:ext cx="2590800" cy="519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Thyroid</a:t>
            </a:r>
            <a:endParaRPr b="0" i="0" sz="1400" u="none" cap="none" strike="noStrike">
              <a:solidFill>
                <a:srgbClr val="000000"/>
              </a:solidFill>
              <a:latin typeface="Arial"/>
              <a:ea typeface="Arial"/>
              <a:cs typeface="Arial"/>
              <a:sym typeface="Arial"/>
            </a:endParaRPr>
          </a:p>
        </p:txBody>
      </p:sp>
      <p:sp>
        <p:nvSpPr>
          <p:cNvPr id="352" name="Google Shape;352;p16"/>
          <p:cNvSpPr txBox="1"/>
          <p:nvPr/>
        </p:nvSpPr>
        <p:spPr>
          <a:xfrm>
            <a:off x="5297421" y="2500313"/>
            <a:ext cx="2362200" cy="519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Pancreas</a:t>
            </a:r>
            <a:endParaRPr b="0" i="0" sz="1400" u="none" cap="none" strike="noStrike">
              <a:solidFill>
                <a:srgbClr val="000000"/>
              </a:solidFill>
              <a:latin typeface="Arial"/>
              <a:ea typeface="Arial"/>
              <a:cs typeface="Arial"/>
              <a:sym typeface="Arial"/>
            </a:endParaRPr>
          </a:p>
        </p:txBody>
      </p:sp>
      <p:sp>
        <p:nvSpPr>
          <p:cNvPr id="353" name="Google Shape;353;p16"/>
          <p:cNvSpPr txBox="1"/>
          <p:nvPr/>
        </p:nvSpPr>
        <p:spPr>
          <a:xfrm>
            <a:off x="5334000" y="4436269"/>
            <a:ext cx="2590800" cy="519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Ovary (female)</a:t>
            </a:r>
            <a:endParaRPr b="0" i="0" sz="1400" u="none" cap="none" strike="noStrike">
              <a:solidFill>
                <a:srgbClr val="000000"/>
              </a:solidFill>
              <a:latin typeface="Arial"/>
              <a:ea typeface="Arial"/>
              <a:cs typeface="Arial"/>
              <a:sym typeface="Arial"/>
            </a:endParaRPr>
          </a:p>
        </p:txBody>
      </p:sp>
      <p:sp>
        <p:nvSpPr>
          <p:cNvPr id="354" name="Google Shape;354;p16"/>
          <p:cNvSpPr txBox="1"/>
          <p:nvPr/>
        </p:nvSpPr>
        <p:spPr>
          <a:xfrm>
            <a:off x="7010400" y="5334000"/>
            <a:ext cx="1828800" cy="946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Testis (male)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17"/>
          <p:cNvSpPr txBox="1"/>
          <p:nvPr/>
        </p:nvSpPr>
        <p:spPr>
          <a:xfrm>
            <a:off x="0" y="0"/>
            <a:ext cx="9372600" cy="1066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Important Glands and Hormones of the Human Body</a:t>
            </a:r>
            <a:endParaRPr b="0" i="0" sz="1400" u="none" cap="none" strike="noStrike">
              <a:solidFill>
                <a:srgbClr val="000000"/>
              </a:solidFill>
              <a:latin typeface="Arial"/>
              <a:ea typeface="Arial"/>
              <a:cs typeface="Arial"/>
              <a:sym typeface="Arial"/>
            </a:endParaRPr>
          </a:p>
        </p:txBody>
      </p:sp>
      <p:graphicFrame>
        <p:nvGraphicFramePr>
          <p:cNvPr id="360" name="Google Shape;360;p17"/>
          <p:cNvGraphicFramePr/>
          <p:nvPr/>
        </p:nvGraphicFramePr>
        <p:xfrm>
          <a:off x="304800" y="1066799"/>
          <a:ext cx="3000000" cy="3000000"/>
        </p:xfrm>
        <a:graphic>
          <a:graphicData uri="http://schemas.openxmlformats.org/drawingml/2006/table">
            <a:tbl>
              <a:tblPr>
                <a:noFill/>
                <a:tableStyleId>{84B70B30-4917-4AC6-835E-083E140816E7}</a:tableStyleId>
              </a:tblPr>
              <a:tblGrid>
                <a:gridCol w="2420175"/>
                <a:gridCol w="2231500"/>
                <a:gridCol w="3936025"/>
              </a:tblGrid>
              <a:tr h="499525">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Gland</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Hormone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Function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10900">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Pineal</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Melatonin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Controls sleep and wake cycle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10900">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Thyroid</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Thyroxine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Controls appetite and metabolism</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10900">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Adrenal </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Adrenaline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Deals with stressful situations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10900">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Thymus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Thymosin</a:t>
                      </a:r>
                      <a:endParaRPr b="0" i="0" sz="2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T-cell development (fight diseases)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2600">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Ovary </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Estrogen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Female reproduction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4800">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Testis </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Testosterone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Male reproduction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18"/>
          <p:cNvSpPr/>
          <p:nvPr/>
        </p:nvSpPr>
        <p:spPr>
          <a:xfrm>
            <a:off x="0" y="-50800"/>
            <a:ext cx="79057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Times New Roman"/>
                <a:ea typeface="Times New Roman"/>
                <a:cs typeface="Times New Roman"/>
                <a:sym typeface="Times New Roman"/>
              </a:rPr>
              <a:t>3. </a:t>
            </a:r>
            <a:r>
              <a:rPr b="1" i="0" lang="en-US" sz="3600" u="sng" cap="none" strike="noStrike">
                <a:solidFill>
                  <a:srgbClr val="0000CC"/>
                </a:solidFill>
                <a:latin typeface="Times New Roman"/>
                <a:ea typeface="Times New Roman"/>
                <a:cs typeface="Times New Roman"/>
                <a:sym typeface="Times New Roman"/>
              </a:rPr>
              <a:t>Lymphatic System – Immune System</a:t>
            </a:r>
            <a:endParaRPr b="0" i="0" sz="1400" u="none" cap="none" strike="noStrike">
              <a:solidFill>
                <a:srgbClr val="000000"/>
              </a:solidFill>
              <a:latin typeface="Arial"/>
              <a:ea typeface="Arial"/>
              <a:cs typeface="Arial"/>
              <a:sym typeface="Arial"/>
            </a:endParaRPr>
          </a:p>
        </p:txBody>
      </p:sp>
      <p:sp>
        <p:nvSpPr>
          <p:cNvPr id="366" name="Google Shape;366;p18"/>
          <p:cNvSpPr txBox="1"/>
          <p:nvPr/>
        </p:nvSpPr>
        <p:spPr>
          <a:xfrm>
            <a:off x="152400" y="990600"/>
            <a:ext cx="5029200" cy="535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Times New Roman"/>
                <a:ea typeface="Times New Roman"/>
                <a:cs typeface="Times New Roman"/>
                <a:sym typeface="Times New Roman"/>
              </a:rPr>
              <a:t>Structures</a:t>
            </a:r>
            <a:r>
              <a:rPr b="0" i="0" lang="en-US" sz="3600" u="none" cap="none" strike="noStrike">
                <a:solidFill>
                  <a:schemeClr val="dk1"/>
                </a:solidFill>
                <a:latin typeface="Times New Roman"/>
                <a:ea typeface="Times New Roman"/>
                <a:cs typeface="Times New Roman"/>
                <a:sym typeface="Times New Roman"/>
              </a:rPr>
              <a:t>: White blood cells, thymus, spleen, lymph nodes, lymph vessels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3600"/>
              <a:buFont typeface="Arial"/>
              <a:buNone/>
            </a:pPr>
            <a:r>
              <a:rPr b="1" i="0" lang="en-US" sz="3600" u="none" cap="none" strike="noStrike">
                <a:solidFill>
                  <a:schemeClr val="dk1"/>
                </a:solidFill>
                <a:latin typeface="Times New Roman"/>
                <a:ea typeface="Times New Roman"/>
                <a:cs typeface="Times New Roman"/>
                <a:sym typeface="Times New Roman"/>
              </a:rPr>
              <a:t>Function</a:t>
            </a:r>
            <a:r>
              <a:rPr b="0" i="0" lang="en-US" sz="3600" u="none" cap="none" strike="noStrike">
                <a:solidFill>
                  <a:schemeClr val="dk1"/>
                </a:solidFill>
                <a:latin typeface="Times New Roman"/>
                <a:ea typeface="Times New Roman"/>
                <a:cs typeface="Times New Roman"/>
                <a:sym typeface="Times New Roman"/>
              </a:rPr>
              <a:t>: Collects fluid that lost from blood vessels, leaks into body tissues and returns it to the circulatory system</a:t>
            </a:r>
            <a:endParaRPr b="0" i="0" sz="1400" u="none" cap="none" strike="noStrike">
              <a:solidFill>
                <a:srgbClr val="000000"/>
              </a:solidFill>
              <a:latin typeface="Arial"/>
              <a:ea typeface="Arial"/>
              <a:cs typeface="Arial"/>
              <a:sym typeface="Arial"/>
            </a:endParaRPr>
          </a:p>
        </p:txBody>
      </p:sp>
      <p:pic>
        <p:nvPicPr>
          <p:cNvPr descr="lymph%20system" id="367" name="Google Shape;367;p18"/>
          <p:cNvPicPr preferRelativeResize="0"/>
          <p:nvPr/>
        </p:nvPicPr>
        <p:blipFill rotWithShape="1">
          <a:blip r:embed="rId3">
            <a:alphaModFix/>
          </a:blip>
          <a:srcRect b="0" l="0" r="0" t="0"/>
          <a:stretch/>
        </p:blipFill>
        <p:spPr>
          <a:xfrm>
            <a:off x="5108575" y="1295400"/>
            <a:ext cx="4035425" cy="484663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descr="bio_ch37_4081" id="372" name="Google Shape;372;p19"/>
          <p:cNvPicPr preferRelativeResize="0"/>
          <p:nvPr/>
        </p:nvPicPr>
        <p:blipFill rotWithShape="1">
          <a:blip r:embed="rId3">
            <a:alphaModFix/>
          </a:blip>
          <a:srcRect b="0" l="0" r="0" t="0"/>
          <a:stretch/>
        </p:blipFill>
        <p:spPr>
          <a:xfrm>
            <a:off x="5665048" y="-36842"/>
            <a:ext cx="1993052" cy="6447302"/>
          </a:xfrm>
          <a:prstGeom prst="rect">
            <a:avLst/>
          </a:prstGeom>
          <a:noFill/>
          <a:ln>
            <a:noFill/>
          </a:ln>
        </p:spPr>
      </p:pic>
      <p:sp>
        <p:nvSpPr>
          <p:cNvPr id="373" name="Google Shape;373;p19"/>
          <p:cNvSpPr txBox="1"/>
          <p:nvPr/>
        </p:nvSpPr>
        <p:spPr>
          <a:xfrm>
            <a:off x="7658100" y="883100"/>
            <a:ext cx="1295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Thymus</a:t>
            </a:r>
            <a:endParaRPr b="0" i="0" sz="1400" u="none" cap="none" strike="noStrike">
              <a:solidFill>
                <a:srgbClr val="000000"/>
              </a:solidFill>
              <a:latin typeface="Arial"/>
              <a:ea typeface="Arial"/>
              <a:cs typeface="Arial"/>
              <a:sym typeface="Arial"/>
            </a:endParaRPr>
          </a:p>
        </p:txBody>
      </p:sp>
      <p:sp>
        <p:nvSpPr>
          <p:cNvPr id="374" name="Google Shape;374;p19"/>
          <p:cNvSpPr txBox="1"/>
          <p:nvPr/>
        </p:nvSpPr>
        <p:spPr>
          <a:xfrm>
            <a:off x="7620000" y="1818032"/>
            <a:ext cx="1371600" cy="1004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Thoracic</a:t>
            </a:r>
            <a:r>
              <a:rPr b="0" i="0" lang="en-US" sz="9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Duct</a:t>
            </a:r>
            <a:endParaRPr b="0" i="0" sz="1400" u="none" cap="none" strike="noStrike">
              <a:solidFill>
                <a:srgbClr val="000000"/>
              </a:solidFill>
              <a:latin typeface="Arial"/>
              <a:ea typeface="Arial"/>
              <a:cs typeface="Arial"/>
              <a:sym typeface="Arial"/>
            </a:endParaRPr>
          </a:p>
        </p:txBody>
      </p:sp>
      <p:sp>
        <p:nvSpPr>
          <p:cNvPr id="375" name="Google Shape;375;p19"/>
          <p:cNvSpPr txBox="1"/>
          <p:nvPr/>
        </p:nvSpPr>
        <p:spPr>
          <a:xfrm>
            <a:off x="7620724" y="3195174"/>
            <a:ext cx="1143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Spleen</a:t>
            </a:r>
            <a:endParaRPr b="0" i="0" sz="1400" u="none" cap="none" strike="noStrike">
              <a:solidFill>
                <a:srgbClr val="000000"/>
              </a:solidFill>
              <a:latin typeface="Arial"/>
              <a:ea typeface="Arial"/>
              <a:cs typeface="Arial"/>
              <a:sym typeface="Arial"/>
            </a:endParaRPr>
          </a:p>
        </p:txBody>
      </p:sp>
      <p:sp>
        <p:nvSpPr>
          <p:cNvPr id="376" name="Google Shape;376;p19"/>
          <p:cNvSpPr txBox="1"/>
          <p:nvPr/>
        </p:nvSpPr>
        <p:spPr>
          <a:xfrm>
            <a:off x="7664900" y="1327364"/>
            <a:ext cx="1143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Heart</a:t>
            </a:r>
            <a:endParaRPr b="0" i="0" sz="1400" u="none" cap="none" strike="noStrike">
              <a:solidFill>
                <a:srgbClr val="000000"/>
              </a:solidFill>
              <a:latin typeface="Arial"/>
              <a:ea typeface="Arial"/>
              <a:cs typeface="Arial"/>
              <a:sym typeface="Arial"/>
            </a:endParaRPr>
          </a:p>
        </p:txBody>
      </p:sp>
      <p:sp>
        <p:nvSpPr>
          <p:cNvPr id="377" name="Google Shape;377;p19"/>
          <p:cNvSpPr txBox="1"/>
          <p:nvPr/>
        </p:nvSpPr>
        <p:spPr>
          <a:xfrm>
            <a:off x="3695700" y="848696"/>
            <a:ext cx="1981200" cy="1004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Superior Vena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Cava</a:t>
            </a:r>
            <a:endParaRPr b="0" i="0" sz="1400" u="none" cap="none" strike="noStrike">
              <a:solidFill>
                <a:srgbClr val="000000"/>
              </a:solidFill>
              <a:latin typeface="Arial"/>
              <a:ea typeface="Arial"/>
              <a:cs typeface="Arial"/>
              <a:sym typeface="Arial"/>
            </a:endParaRPr>
          </a:p>
        </p:txBody>
      </p:sp>
      <p:sp>
        <p:nvSpPr>
          <p:cNvPr id="378" name="Google Shape;378;p19"/>
          <p:cNvSpPr txBox="1"/>
          <p:nvPr/>
        </p:nvSpPr>
        <p:spPr>
          <a:xfrm>
            <a:off x="4355976" y="2739122"/>
            <a:ext cx="16764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Lymph Nodes </a:t>
            </a:r>
            <a:endParaRPr b="0" i="0" sz="1400" u="none" cap="none" strike="noStrike">
              <a:solidFill>
                <a:srgbClr val="000000"/>
              </a:solidFill>
              <a:latin typeface="Arial"/>
              <a:ea typeface="Arial"/>
              <a:cs typeface="Arial"/>
              <a:sym typeface="Arial"/>
            </a:endParaRPr>
          </a:p>
        </p:txBody>
      </p:sp>
      <p:sp>
        <p:nvSpPr>
          <p:cNvPr id="379" name="Google Shape;379;p19"/>
          <p:cNvSpPr txBox="1"/>
          <p:nvPr/>
        </p:nvSpPr>
        <p:spPr>
          <a:xfrm>
            <a:off x="7652720" y="3684350"/>
            <a:ext cx="12192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Lymph Vessels</a:t>
            </a:r>
            <a:endParaRPr b="0" i="0" sz="1400" u="none" cap="none" strike="noStrike">
              <a:solidFill>
                <a:srgbClr val="000000"/>
              </a:solidFill>
              <a:latin typeface="Arial"/>
              <a:ea typeface="Arial"/>
              <a:cs typeface="Arial"/>
              <a:sym typeface="Arial"/>
            </a:endParaRPr>
          </a:p>
        </p:txBody>
      </p:sp>
      <p:sp>
        <p:nvSpPr>
          <p:cNvPr id="380" name="Google Shape;380;p19"/>
          <p:cNvSpPr txBox="1"/>
          <p:nvPr/>
        </p:nvSpPr>
        <p:spPr>
          <a:xfrm>
            <a:off x="0" y="0"/>
            <a:ext cx="3505200" cy="6740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60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Helps to protect the body from disease;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 Lymph nodes filters that collected invaders that cause disease.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60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60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60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0"/>
          <p:cNvSpPr/>
          <p:nvPr/>
        </p:nvSpPr>
        <p:spPr>
          <a:xfrm>
            <a:off x="381000" y="330200"/>
            <a:ext cx="44894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4.  </a:t>
            </a:r>
            <a:r>
              <a:rPr b="1" i="0" lang="en-US" sz="3600" u="sng" cap="none" strike="noStrike">
                <a:solidFill>
                  <a:srgbClr val="D60093"/>
                </a:solidFill>
                <a:latin typeface="Times New Roman"/>
                <a:ea typeface="Times New Roman"/>
                <a:cs typeface="Times New Roman"/>
                <a:sym typeface="Times New Roman"/>
              </a:rPr>
              <a:t>Circulatory System</a:t>
            </a:r>
            <a:endParaRPr b="0" i="0" sz="1400" u="none" cap="none" strike="noStrike">
              <a:solidFill>
                <a:srgbClr val="000000"/>
              </a:solidFill>
              <a:latin typeface="Arial"/>
              <a:ea typeface="Arial"/>
              <a:cs typeface="Arial"/>
              <a:sym typeface="Arial"/>
            </a:endParaRPr>
          </a:p>
        </p:txBody>
      </p:sp>
      <p:sp>
        <p:nvSpPr>
          <p:cNvPr id="387" name="Google Shape;387;p20"/>
          <p:cNvSpPr txBox="1"/>
          <p:nvPr/>
        </p:nvSpPr>
        <p:spPr>
          <a:xfrm>
            <a:off x="381000" y="1412776"/>
            <a:ext cx="4648200"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Structures:</a:t>
            </a:r>
            <a:r>
              <a:rPr b="0" i="0" lang="en-US" sz="3200" u="none" cap="none" strike="noStrike">
                <a:solidFill>
                  <a:schemeClr val="dk1"/>
                </a:solidFill>
                <a:latin typeface="Times New Roman"/>
                <a:ea typeface="Times New Roman"/>
                <a:cs typeface="Times New Roman"/>
                <a:sym typeface="Times New Roman"/>
              </a:rPr>
              <a:t>  Heart, Blood vessels, blood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Functions:</a:t>
            </a:r>
            <a:r>
              <a:rPr b="0" i="0" lang="en-US" sz="3200" u="none" cap="none" strike="noStrike">
                <a:solidFill>
                  <a:schemeClr val="dk1"/>
                </a:solidFill>
                <a:latin typeface="Times New Roman"/>
                <a:ea typeface="Times New Roman"/>
                <a:cs typeface="Times New Roman"/>
                <a:sym typeface="Times New Roman"/>
              </a:rPr>
              <a:t> Brings oxygen, nutrients, and hormones to cells; fights infection; regulates body temperature.</a:t>
            </a:r>
            <a:endParaRPr b="0" i="0" sz="1400" u="none" cap="none" strike="noStrike">
              <a:solidFill>
                <a:srgbClr val="000000"/>
              </a:solidFill>
              <a:latin typeface="Arial"/>
              <a:ea typeface="Arial"/>
              <a:cs typeface="Arial"/>
              <a:sym typeface="Arial"/>
            </a:endParaRPr>
          </a:p>
        </p:txBody>
      </p:sp>
      <p:pic>
        <p:nvPicPr>
          <p:cNvPr descr="body_circulation" id="388" name="Google Shape;388;p20"/>
          <p:cNvPicPr preferRelativeResize="0"/>
          <p:nvPr/>
        </p:nvPicPr>
        <p:blipFill rotWithShape="1">
          <a:blip r:embed="rId3">
            <a:alphaModFix/>
          </a:blip>
          <a:srcRect b="0" l="0" r="0" t="0"/>
          <a:stretch/>
        </p:blipFill>
        <p:spPr>
          <a:xfrm>
            <a:off x="4933287" y="836712"/>
            <a:ext cx="4172585" cy="5486400"/>
          </a:xfrm>
          <a:prstGeom prst="rect">
            <a:avLst/>
          </a:prstGeom>
          <a:noFill/>
          <a:ln>
            <a:noFill/>
          </a:ln>
        </p:spPr>
      </p:pic>
      <p:pic>
        <p:nvPicPr>
          <p:cNvPr descr="heart" id="389" name="Google Shape;389;p20"/>
          <p:cNvPicPr preferRelativeResize="0"/>
          <p:nvPr/>
        </p:nvPicPr>
        <p:blipFill rotWithShape="1">
          <a:blip r:embed="rId4">
            <a:alphaModFix/>
          </a:blip>
          <a:srcRect b="0" l="0" r="0" t="0"/>
          <a:stretch/>
        </p:blipFill>
        <p:spPr>
          <a:xfrm>
            <a:off x="3851920" y="4778214"/>
            <a:ext cx="1752600" cy="199548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1"/>
          <p:cNvSpPr/>
          <p:nvPr/>
        </p:nvSpPr>
        <p:spPr>
          <a:xfrm>
            <a:off x="381000" y="406400"/>
            <a:ext cx="4489450" cy="641350"/>
          </a:xfrm>
          <a:prstGeom prst="rect">
            <a:avLst/>
          </a:prstGeom>
          <a:noFill/>
          <a:ln cap="flat" cmpd="sng" w="9525">
            <a:solidFill>
              <a:srgbClr val="E8E0E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sng" cap="none" strike="noStrike">
                <a:solidFill>
                  <a:srgbClr val="FF0000"/>
                </a:solidFill>
                <a:latin typeface="Times New Roman"/>
                <a:ea typeface="Times New Roman"/>
                <a:cs typeface="Times New Roman"/>
                <a:sym typeface="Times New Roman"/>
              </a:rPr>
              <a:t>5. Respiratory System</a:t>
            </a:r>
            <a:endParaRPr b="0" i="0" sz="1400" u="none" cap="none" strike="noStrike">
              <a:solidFill>
                <a:srgbClr val="000000"/>
              </a:solidFill>
              <a:latin typeface="Arial"/>
              <a:ea typeface="Arial"/>
              <a:cs typeface="Arial"/>
              <a:sym typeface="Arial"/>
            </a:endParaRPr>
          </a:p>
        </p:txBody>
      </p:sp>
      <p:pic>
        <p:nvPicPr>
          <p:cNvPr descr="Breathing" id="395" name="Google Shape;395;p21"/>
          <p:cNvPicPr preferRelativeResize="0"/>
          <p:nvPr/>
        </p:nvPicPr>
        <p:blipFill rotWithShape="1">
          <a:blip r:embed="rId3">
            <a:alphaModFix/>
          </a:blip>
          <a:srcRect b="0" l="0" r="0" t="0"/>
          <a:stretch/>
        </p:blipFill>
        <p:spPr>
          <a:xfrm>
            <a:off x="4965700" y="1371600"/>
            <a:ext cx="4178300" cy="4800600"/>
          </a:xfrm>
          <a:prstGeom prst="rect">
            <a:avLst/>
          </a:prstGeom>
          <a:noFill/>
          <a:ln cap="flat" cmpd="sng" w="9525">
            <a:solidFill>
              <a:srgbClr val="E8E0E2"/>
            </a:solidFill>
            <a:prstDash val="solid"/>
            <a:miter lim="800000"/>
            <a:headEnd len="sm" w="sm" type="none"/>
            <a:tailEnd len="sm" w="sm" type="none"/>
          </a:ln>
        </p:spPr>
      </p:pic>
      <p:sp>
        <p:nvSpPr>
          <p:cNvPr id="396" name="Google Shape;396;p21"/>
          <p:cNvSpPr txBox="1"/>
          <p:nvPr/>
        </p:nvSpPr>
        <p:spPr>
          <a:xfrm>
            <a:off x="0" y="1371600"/>
            <a:ext cx="5257800" cy="3785652"/>
          </a:xfrm>
          <a:prstGeom prst="rect">
            <a:avLst/>
          </a:prstGeom>
          <a:noFill/>
          <a:ln cap="flat" cmpd="sng" w="9525">
            <a:solidFill>
              <a:srgbClr val="E8E0E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Structures:</a:t>
            </a:r>
            <a:r>
              <a:rPr b="0" i="0" lang="en-US" sz="3200" u="none" cap="none" strike="noStrike">
                <a:solidFill>
                  <a:schemeClr val="dk1"/>
                </a:solidFill>
                <a:latin typeface="Times New Roman"/>
                <a:ea typeface="Times New Roman"/>
                <a:cs typeface="Times New Roman"/>
                <a:sym typeface="Times New Roman"/>
              </a:rPr>
              <a:t> Nose, pharynx, larynx, trachea, bronchi, bronchioles, lungs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Functions:</a:t>
            </a:r>
            <a:r>
              <a:rPr b="0" i="0" lang="en-US" sz="3200" u="none" cap="none" strike="noStrike">
                <a:solidFill>
                  <a:schemeClr val="dk1"/>
                </a:solidFill>
                <a:latin typeface="Times New Roman"/>
                <a:ea typeface="Times New Roman"/>
                <a:cs typeface="Times New Roman"/>
                <a:sym typeface="Times New Roman"/>
              </a:rPr>
              <a:t> Provides oxygen needed for cellular respiration and removes carbon dioxide from body.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2"/>
          <p:cNvSpPr txBox="1"/>
          <p:nvPr/>
        </p:nvSpPr>
        <p:spPr>
          <a:xfrm>
            <a:off x="838200" y="762000"/>
            <a:ext cx="143510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Section 37-3</a:t>
            </a:r>
            <a:endParaRPr b="0" i="0" sz="1400" u="none" cap="none" strike="noStrike">
              <a:solidFill>
                <a:srgbClr val="000000"/>
              </a:solidFill>
              <a:latin typeface="Arial"/>
              <a:ea typeface="Arial"/>
              <a:cs typeface="Arial"/>
              <a:sym typeface="Arial"/>
            </a:endParaRPr>
          </a:p>
        </p:txBody>
      </p:sp>
      <p:sp>
        <p:nvSpPr>
          <p:cNvPr id="403" name="Google Shape;403;p22"/>
          <p:cNvSpPr txBox="1"/>
          <p:nvPr/>
        </p:nvSpPr>
        <p:spPr>
          <a:xfrm>
            <a:off x="2590800" y="231775"/>
            <a:ext cx="6057900" cy="396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Arial Black"/>
                <a:ea typeface="Arial Black"/>
                <a:cs typeface="Arial Black"/>
                <a:sym typeface="Arial Black"/>
              </a:rPr>
              <a:t>Figure 37-13 The Respiratory System</a:t>
            </a:r>
            <a:endParaRPr b="0" i="0" sz="1400" u="none" cap="none" strike="noStrike">
              <a:solidFill>
                <a:srgbClr val="000000"/>
              </a:solidFill>
              <a:latin typeface="Arial"/>
              <a:ea typeface="Arial"/>
              <a:cs typeface="Arial"/>
              <a:sym typeface="Arial"/>
            </a:endParaRPr>
          </a:p>
        </p:txBody>
      </p:sp>
      <p:pic>
        <p:nvPicPr>
          <p:cNvPr descr="sb4083a04" id="404" name="Google Shape;404;p22"/>
          <p:cNvPicPr preferRelativeResize="0"/>
          <p:nvPr/>
        </p:nvPicPr>
        <p:blipFill rotWithShape="1">
          <a:blip r:embed="rId3">
            <a:alphaModFix/>
          </a:blip>
          <a:srcRect b="0" l="0" r="0" t="0"/>
          <a:stretch/>
        </p:blipFill>
        <p:spPr>
          <a:xfrm>
            <a:off x="1066800" y="855663"/>
            <a:ext cx="7696200" cy="5359400"/>
          </a:xfrm>
          <a:prstGeom prst="rect">
            <a:avLst/>
          </a:prstGeom>
          <a:noFill/>
          <a:ln>
            <a:noFill/>
          </a:ln>
        </p:spPr>
      </p:pic>
      <p:sp>
        <p:nvSpPr>
          <p:cNvPr id="405" name="Google Shape;405;p22"/>
          <p:cNvSpPr txBox="1"/>
          <p:nvPr/>
        </p:nvSpPr>
        <p:spPr>
          <a:xfrm>
            <a:off x="5105400" y="582613"/>
            <a:ext cx="3962400" cy="1373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Bronchi branch to air sacs known as aveoli where gas exchange occurs</a:t>
            </a:r>
            <a:endParaRPr b="0" i="0" sz="1400" u="none" cap="none" strike="noStrike">
              <a:solidFill>
                <a:srgbClr val="000000"/>
              </a:solidFill>
              <a:latin typeface="Arial"/>
              <a:ea typeface="Arial"/>
              <a:cs typeface="Arial"/>
              <a:sym typeface="Arial"/>
            </a:endParaRPr>
          </a:p>
        </p:txBody>
      </p:sp>
      <p:sp>
        <p:nvSpPr>
          <p:cNvPr id="406" name="Google Shape;406;p22"/>
          <p:cNvSpPr txBox="1"/>
          <p:nvPr/>
        </p:nvSpPr>
        <p:spPr>
          <a:xfrm>
            <a:off x="152400" y="36488"/>
            <a:ext cx="80772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3"/>
          <p:cNvSpPr/>
          <p:nvPr/>
        </p:nvSpPr>
        <p:spPr>
          <a:xfrm>
            <a:off x="0" y="0"/>
            <a:ext cx="40449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0000CC"/>
                </a:solidFill>
                <a:latin typeface="Times New Roman"/>
                <a:ea typeface="Times New Roman"/>
                <a:cs typeface="Times New Roman"/>
                <a:sym typeface="Times New Roman"/>
              </a:rPr>
              <a:t>6</a:t>
            </a:r>
            <a:r>
              <a:rPr b="1" i="0" lang="en-US" sz="3600" u="sng" cap="none" strike="noStrike">
                <a:solidFill>
                  <a:srgbClr val="0000CC"/>
                </a:solidFill>
                <a:latin typeface="Times New Roman"/>
                <a:ea typeface="Times New Roman"/>
                <a:cs typeface="Times New Roman"/>
                <a:sym typeface="Times New Roman"/>
              </a:rPr>
              <a:t>.  Digestive System</a:t>
            </a:r>
            <a:endParaRPr b="0" i="0" sz="1400" u="none" cap="none" strike="noStrike">
              <a:solidFill>
                <a:srgbClr val="000000"/>
              </a:solidFill>
              <a:latin typeface="Arial"/>
              <a:ea typeface="Arial"/>
              <a:cs typeface="Arial"/>
              <a:sym typeface="Arial"/>
            </a:endParaRPr>
          </a:p>
        </p:txBody>
      </p:sp>
      <p:pic>
        <p:nvPicPr>
          <p:cNvPr descr="8710" id="412" name="Google Shape;412;p23"/>
          <p:cNvPicPr preferRelativeResize="0"/>
          <p:nvPr/>
        </p:nvPicPr>
        <p:blipFill rotWithShape="1">
          <a:blip r:embed="rId3">
            <a:alphaModFix/>
          </a:blip>
          <a:srcRect b="8889" l="0" r="0" t="0"/>
          <a:stretch/>
        </p:blipFill>
        <p:spPr>
          <a:xfrm>
            <a:off x="4572000" y="3212977"/>
            <a:ext cx="4572000" cy="2952327"/>
          </a:xfrm>
          <a:prstGeom prst="rect">
            <a:avLst/>
          </a:prstGeom>
          <a:noFill/>
          <a:ln>
            <a:noFill/>
          </a:ln>
        </p:spPr>
      </p:pic>
      <p:sp>
        <p:nvSpPr>
          <p:cNvPr id="413" name="Google Shape;413;p23"/>
          <p:cNvSpPr txBox="1"/>
          <p:nvPr/>
        </p:nvSpPr>
        <p:spPr>
          <a:xfrm>
            <a:off x="0" y="809625"/>
            <a:ext cx="4267200" cy="418576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Structures:</a:t>
            </a:r>
            <a:r>
              <a:rPr b="0" i="0" lang="en-US" sz="2800" u="none" cap="none" strike="noStrike">
                <a:solidFill>
                  <a:schemeClr val="dk1"/>
                </a:solidFill>
                <a:latin typeface="Times New Roman"/>
                <a:ea typeface="Times New Roman"/>
                <a:cs typeface="Times New Roman"/>
                <a:sym typeface="Times New Roman"/>
              </a:rPr>
              <a:t>  Mouth, pharynx, larynx, esophagus, stomach, liver, pancreas, small and large intestines,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Function:</a:t>
            </a:r>
            <a:r>
              <a:rPr b="0" i="0" lang="en-US" sz="2800" u="none" cap="none" strike="noStrike">
                <a:solidFill>
                  <a:schemeClr val="dk1"/>
                </a:solidFill>
                <a:latin typeface="Times New Roman"/>
                <a:ea typeface="Times New Roman"/>
                <a:cs typeface="Times New Roman"/>
                <a:sym typeface="Times New Roman"/>
              </a:rPr>
              <a:t> Breaks down foods into simple molecules that can be used by the body for respiration and building cells</a:t>
            </a:r>
            <a:endParaRPr b="0" i="0" sz="1400" u="none" cap="none" strike="noStrike">
              <a:solidFill>
                <a:srgbClr val="000000"/>
              </a:solidFill>
              <a:latin typeface="Arial"/>
              <a:ea typeface="Arial"/>
              <a:cs typeface="Arial"/>
              <a:sym typeface="Arial"/>
            </a:endParaRPr>
          </a:p>
        </p:txBody>
      </p:sp>
      <p:pic>
        <p:nvPicPr>
          <p:cNvPr descr="fig1" id="414" name="Google Shape;414;p23"/>
          <p:cNvPicPr preferRelativeResize="0"/>
          <p:nvPr/>
        </p:nvPicPr>
        <p:blipFill rotWithShape="1">
          <a:blip r:embed="rId4">
            <a:alphaModFix/>
          </a:blip>
          <a:srcRect b="0" l="0" r="0" t="0"/>
          <a:stretch/>
        </p:blipFill>
        <p:spPr>
          <a:xfrm>
            <a:off x="5638800" y="132080"/>
            <a:ext cx="2317576" cy="292734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descr="bio_ch38_6183" id="419" name="Google Shape;419;p24"/>
          <p:cNvPicPr preferRelativeResize="0"/>
          <p:nvPr/>
        </p:nvPicPr>
        <p:blipFill rotWithShape="1">
          <a:blip r:embed="rId3">
            <a:alphaModFix/>
          </a:blip>
          <a:srcRect b="0" l="0" r="0" t="0"/>
          <a:stretch/>
        </p:blipFill>
        <p:spPr>
          <a:xfrm>
            <a:off x="1295400" y="838200"/>
            <a:ext cx="7086600" cy="5710238"/>
          </a:xfrm>
          <a:prstGeom prst="rect">
            <a:avLst/>
          </a:prstGeom>
          <a:noFill/>
          <a:ln>
            <a:noFill/>
          </a:ln>
        </p:spPr>
      </p:pic>
      <p:sp>
        <p:nvSpPr>
          <p:cNvPr id="420" name="Google Shape;420;p24"/>
          <p:cNvSpPr txBox="1"/>
          <p:nvPr>
            <p:ph type="title"/>
          </p:nvPr>
        </p:nvSpPr>
        <p:spPr>
          <a:xfrm>
            <a:off x="1066800" y="228600"/>
            <a:ext cx="7391400" cy="396875"/>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US"/>
              <a:t> The Digestive System</a:t>
            </a:r>
            <a:endParaRPr/>
          </a:p>
        </p:txBody>
      </p:sp>
      <p:sp>
        <p:nvSpPr>
          <p:cNvPr id="421" name="Google Shape;421;p24"/>
          <p:cNvSpPr txBox="1"/>
          <p:nvPr/>
        </p:nvSpPr>
        <p:spPr>
          <a:xfrm>
            <a:off x="304800" y="1828800"/>
            <a:ext cx="2590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Pharynx</a:t>
            </a:r>
            <a:endParaRPr b="0" i="0" sz="1400" u="none" cap="none" strike="noStrike">
              <a:solidFill>
                <a:srgbClr val="000000"/>
              </a:solidFill>
              <a:latin typeface="Arial"/>
              <a:ea typeface="Arial"/>
              <a:cs typeface="Arial"/>
              <a:sym typeface="Arial"/>
            </a:endParaRPr>
          </a:p>
        </p:txBody>
      </p:sp>
      <p:sp>
        <p:nvSpPr>
          <p:cNvPr id="422" name="Google Shape;422;p24"/>
          <p:cNvSpPr txBox="1"/>
          <p:nvPr/>
        </p:nvSpPr>
        <p:spPr>
          <a:xfrm>
            <a:off x="0" y="2971800"/>
            <a:ext cx="2438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Esophagus</a:t>
            </a:r>
            <a:endParaRPr b="0" i="0" sz="1400" u="none" cap="none" strike="noStrike">
              <a:solidFill>
                <a:srgbClr val="000000"/>
              </a:solidFill>
              <a:latin typeface="Arial"/>
              <a:ea typeface="Arial"/>
              <a:cs typeface="Arial"/>
              <a:sym typeface="Arial"/>
            </a:endParaRPr>
          </a:p>
        </p:txBody>
      </p:sp>
      <p:sp>
        <p:nvSpPr>
          <p:cNvPr id="423" name="Google Shape;423;p24"/>
          <p:cNvSpPr txBox="1"/>
          <p:nvPr/>
        </p:nvSpPr>
        <p:spPr>
          <a:xfrm>
            <a:off x="228600" y="4267200"/>
            <a:ext cx="1295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Liver</a:t>
            </a:r>
            <a:endParaRPr b="0" i="0" sz="1400" u="none" cap="none" strike="noStrike">
              <a:solidFill>
                <a:srgbClr val="000000"/>
              </a:solidFill>
              <a:latin typeface="Arial"/>
              <a:ea typeface="Arial"/>
              <a:cs typeface="Arial"/>
              <a:sym typeface="Arial"/>
            </a:endParaRPr>
          </a:p>
        </p:txBody>
      </p:sp>
      <p:sp>
        <p:nvSpPr>
          <p:cNvPr id="424" name="Google Shape;424;p24"/>
          <p:cNvSpPr txBox="1"/>
          <p:nvPr/>
        </p:nvSpPr>
        <p:spPr>
          <a:xfrm>
            <a:off x="0" y="4876800"/>
            <a:ext cx="1752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Gallbladder</a:t>
            </a:r>
            <a:endParaRPr b="0" i="0" sz="1400" u="none" cap="none" strike="noStrike">
              <a:solidFill>
                <a:srgbClr val="000000"/>
              </a:solidFill>
              <a:latin typeface="Arial"/>
              <a:ea typeface="Arial"/>
              <a:cs typeface="Arial"/>
              <a:sym typeface="Arial"/>
            </a:endParaRPr>
          </a:p>
        </p:txBody>
      </p:sp>
      <p:sp>
        <p:nvSpPr>
          <p:cNvPr id="425" name="Google Shape;425;p24"/>
          <p:cNvSpPr txBox="1"/>
          <p:nvPr/>
        </p:nvSpPr>
        <p:spPr>
          <a:xfrm>
            <a:off x="0" y="6096000"/>
            <a:ext cx="1371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Rectum </a:t>
            </a:r>
            <a:endParaRPr b="0" i="0" sz="1400" u="none" cap="none" strike="noStrike">
              <a:solidFill>
                <a:srgbClr val="000000"/>
              </a:solidFill>
              <a:latin typeface="Arial"/>
              <a:ea typeface="Arial"/>
              <a:cs typeface="Arial"/>
              <a:sym typeface="Arial"/>
            </a:endParaRPr>
          </a:p>
        </p:txBody>
      </p:sp>
      <p:sp>
        <p:nvSpPr>
          <p:cNvPr id="426" name="Google Shape;426;p24"/>
          <p:cNvSpPr txBox="1"/>
          <p:nvPr/>
        </p:nvSpPr>
        <p:spPr>
          <a:xfrm>
            <a:off x="5410200" y="1447800"/>
            <a:ext cx="1524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Mouth </a:t>
            </a:r>
            <a:endParaRPr b="0" i="0" sz="1400" u="none" cap="none" strike="noStrike">
              <a:solidFill>
                <a:srgbClr val="000000"/>
              </a:solidFill>
              <a:latin typeface="Arial"/>
              <a:ea typeface="Arial"/>
              <a:cs typeface="Arial"/>
              <a:sym typeface="Arial"/>
            </a:endParaRPr>
          </a:p>
        </p:txBody>
      </p:sp>
      <p:sp>
        <p:nvSpPr>
          <p:cNvPr id="427" name="Google Shape;427;p24"/>
          <p:cNvSpPr txBox="1"/>
          <p:nvPr/>
        </p:nvSpPr>
        <p:spPr>
          <a:xfrm>
            <a:off x="5486400" y="2209800"/>
            <a:ext cx="14478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Salivary Glands</a:t>
            </a:r>
            <a:endParaRPr b="0" i="0" sz="1400" u="none" cap="none" strike="noStrike">
              <a:solidFill>
                <a:srgbClr val="000000"/>
              </a:solidFill>
              <a:latin typeface="Arial"/>
              <a:ea typeface="Arial"/>
              <a:cs typeface="Arial"/>
              <a:sym typeface="Arial"/>
            </a:endParaRPr>
          </a:p>
        </p:txBody>
      </p:sp>
      <p:sp>
        <p:nvSpPr>
          <p:cNvPr id="428" name="Google Shape;428;p24"/>
          <p:cNvSpPr txBox="1"/>
          <p:nvPr/>
        </p:nvSpPr>
        <p:spPr>
          <a:xfrm>
            <a:off x="5486400" y="4267200"/>
            <a:ext cx="2971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Stomach</a:t>
            </a:r>
            <a:endParaRPr b="0" i="0" sz="1400" u="none" cap="none" strike="noStrike">
              <a:solidFill>
                <a:srgbClr val="000000"/>
              </a:solidFill>
              <a:latin typeface="Arial"/>
              <a:ea typeface="Arial"/>
              <a:cs typeface="Arial"/>
              <a:sym typeface="Arial"/>
            </a:endParaRPr>
          </a:p>
        </p:txBody>
      </p:sp>
      <p:sp>
        <p:nvSpPr>
          <p:cNvPr id="429" name="Google Shape;429;p24"/>
          <p:cNvSpPr txBox="1"/>
          <p:nvPr/>
        </p:nvSpPr>
        <p:spPr>
          <a:xfrm>
            <a:off x="5486400" y="4648200"/>
            <a:ext cx="3352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Pancreas behind stomach</a:t>
            </a:r>
            <a:endParaRPr b="0" i="0" sz="1400" u="none" cap="none" strike="noStrike">
              <a:solidFill>
                <a:srgbClr val="000000"/>
              </a:solidFill>
              <a:latin typeface="Arial"/>
              <a:ea typeface="Arial"/>
              <a:cs typeface="Arial"/>
              <a:sym typeface="Arial"/>
            </a:endParaRPr>
          </a:p>
        </p:txBody>
      </p:sp>
      <p:sp>
        <p:nvSpPr>
          <p:cNvPr id="430" name="Google Shape;430;p24"/>
          <p:cNvSpPr txBox="1"/>
          <p:nvPr/>
        </p:nvSpPr>
        <p:spPr>
          <a:xfrm>
            <a:off x="5638800" y="5105400"/>
            <a:ext cx="2667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Large Intestine</a:t>
            </a:r>
            <a:endParaRPr b="0" i="0" sz="1400" u="none" cap="none" strike="noStrike">
              <a:solidFill>
                <a:srgbClr val="000000"/>
              </a:solidFill>
              <a:latin typeface="Arial"/>
              <a:ea typeface="Arial"/>
              <a:cs typeface="Arial"/>
              <a:sym typeface="Arial"/>
            </a:endParaRPr>
          </a:p>
        </p:txBody>
      </p:sp>
      <p:sp>
        <p:nvSpPr>
          <p:cNvPr id="431" name="Google Shape;431;p24"/>
          <p:cNvSpPr txBox="1"/>
          <p:nvPr/>
        </p:nvSpPr>
        <p:spPr>
          <a:xfrm>
            <a:off x="5486400" y="5638800"/>
            <a:ext cx="2819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Small Intestine</a:t>
            </a:r>
            <a:endParaRPr b="0" i="0" sz="1400" u="none" cap="none" strike="noStrike">
              <a:solidFill>
                <a:srgbClr val="000000"/>
              </a:solidFill>
              <a:latin typeface="Arial"/>
              <a:ea typeface="Arial"/>
              <a:cs typeface="Arial"/>
              <a:sym typeface="Arial"/>
            </a:endParaRPr>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5"/>
          <p:cNvSpPr/>
          <p:nvPr/>
        </p:nvSpPr>
        <p:spPr>
          <a:xfrm>
            <a:off x="152400" y="333375"/>
            <a:ext cx="4545013"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Times New Roman"/>
                <a:ea typeface="Times New Roman"/>
                <a:cs typeface="Times New Roman"/>
                <a:sym typeface="Times New Roman"/>
              </a:rPr>
              <a:t>7. </a:t>
            </a:r>
            <a:r>
              <a:rPr b="1" i="0" lang="en-US" sz="4000" u="sng" cap="none" strike="noStrike">
                <a:solidFill>
                  <a:srgbClr val="9900CC"/>
                </a:solidFill>
                <a:latin typeface="Times New Roman"/>
                <a:ea typeface="Times New Roman"/>
                <a:cs typeface="Times New Roman"/>
                <a:sym typeface="Times New Roman"/>
              </a:rPr>
              <a:t>Excretory System</a:t>
            </a:r>
            <a:endParaRPr b="0" i="0" sz="1400" u="none" cap="none" strike="noStrike">
              <a:solidFill>
                <a:srgbClr val="000000"/>
              </a:solidFill>
              <a:latin typeface="Arial"/>
              <a:ea typeface="Arial"/>
              <a:cs typeface="Arial"/>
              <a:sym typeface="Arial"/>
            </a:endParaRPr>
          </a:p>
        </p:txBody>
      </p:sp>
      <p:sp>
        <p:nvSpPr>
          <p:cNvPr id="437" name="Google Shape;437;p25"/>
          <p:cNvSpPr txBox="1"/>
          <p:nvPr/>
        </p:nvSpPr>
        <p:spPr>
          <a:xfrm>
            <a:off x="227076" y="1484784"/>
            <a:ext cx="4800600" cy="28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Structures:</a:t>
            </a:r>
            <a:r>
              <a:rPr b="0" i="0" lang="en-US" sz="2800" u="none" cap="none" strike="noStrike">
                <a:solidFill>
                  <a:schemeClr val="dk1"/>
                </a:solidFill>
                <a:latin typeface="Times New Roman"/>
                <a:ea typeface="Times New Roman"/>
                <a:cs typeface="Times New Roman"/>
                <a:sym typeface="Times New Roman"/>
              </a:rPr>
              <a:t>  Skin, lungs, kidneys (nephrons), ureters, urinary bladder, urethra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Functions:</a:t>
            </a:r>
            <a:r>
              <a:rPr b="0" i="0" lang="en-US" sz="2800" u="none" cap="none" strike="noStrike">
                <a:solidFill>
                  <a:schemeClr val="dk1"/>
                </a:solidFill>
                <a:latin typeface="Times New Roman"/>
                <a:ea typeface="Times New Roman"/>
                <a:cs typeface="Times New Roman"/>
                <a:sym typeface="Times New Roman"/>
              </a:rPr>
              <a:t>  Removes waste products of metabolism from the body</a:t>
            </a:r>
            <a:endParaRPr b="0" i="0" sz="1400" u="none" cap="none" strike="noStrike">
              <a:solidFill>
                <a:srgbClr val="000000"/>
              </a:solidFill>
              <a:latin typeface="Arial"/>
              <a:ea typeface="Arial"/>
              <a:cs typeface="Arial"/>
              <a:sym typeface="Arial"/>
            </a:endParaRPr>
          </a:p>
        </p:txBody>
      </p:sp>
      <p:pic>
        <p:nvPicPr>
          <p:cNvPr descr="try_excretory_3_good_use" id="438" name="Google Shape;438;p25"/>
          <p:cNvPicPr preferRelativeResize="0"/>
          <p:nvPr/>
        </p:nvPicPr>
        <p:blipFill rotWithShape="1">
          <a:blip r:embed="rId3">
            <a:alphaModFix/>
          </a:blip>
          <a:srcRect b="0" l="0" r="0" t="0"/>
          <a:stretch/>
        </p:blipFill>
        <p:spPr>
          <a:xfrm>
            <a:off x="4899996" y="1556792"/>
            <a:ext cx="4229100" cy="464026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6"/>
          <p:cNvSpPr txBox="1"/>
          <p:nvPr>
            <p:ph idx="1" type="body"/>
          </p:nvPr>
        </p:nvSpPr>
        <p:spPr>
          <a:xfrm>
            <a:off x="179512" y="1052736"/>
            <a:ext cx="8610600" cy="541588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b="1" lang="en-US" u="sng">
                <a:solidFill>
                  <a:schemeClr val="dk1"/>
                </a:solidFill>
              </a:rPr>
              <a:t> </a:t>
            </a:r>
            <a:r>
              <a:rPr b="1" lang="en-US" sz="3600" u="sng">
                <a:solidFill>
                  <a:schemeClr val="dk1"/>
                </a:solidFill>
              </a:rPr>
              <a:t>Excretory  System:</a:t>
            </a:r>
            <a:r>
              <a:rPr lang="en-US" sz="3600">
                <a:solidFill>
                  <a:schemeClr val="dk1"/>
                </a:solidFill>
              </a:rPr>
              <a:t> </a:t>
            </a:r>
            <a:endParaRPr sz="3600">
              <a:solidFill>
                <a:schemeClr val="dk1"/>
              </a:solidFill>
            </a:endParaRPr>
          </a:p>
          <a:p>
            <a:pPr indent="0" lvl="0" marL="0" rtl="0" algn="l">
              <a:lnSpc>
                <a:spcPct val="90000"/>
              </a:lnSpc>
              <a:spcBef>
                <a:spcPts val="725"/>
              </a:spcBef>
              <a:spcAft>
                <a:spcPts val="0"/>
              </a:spcAft>
              <a:buSzPts val="1050"/>
              <a:buNone/>
            </a:pPr>
            <a:r>
              <a:t/>
            </a:r>
            <a:endParaRPr sz="1050">
              <a:solidFill>
                <a:schemeClr val="dk1"/>
              </a:solidFill>
            </a:endParaRPr>
          </a:p>
          <a:p>
            <a:pPr indent="-91440" lvl="0" marL="91440" rtl="0" algn="l">
              <a:lnSpc>
                <a:spcPct val="90000"/>
              </a:lnSpc>
              <a:spcBef>
                <a:spcPts val="1600"/>
              </a:spcBef>
              <a:spcAft>
                <a:spcPts val="0"/>
              </a:spcAft>
              <a:buSzPts val="2800"/>
              <a:buChar char=" "/>
            </a:pPr>
            <a:r>
              <a:rPr lang="en-US" sz="2800">
                <a:solidFill>
                  <a:schemeClr val="dk1"/>
                </a:solidFill>
              </a:rPr>
              <a:t>In the process of obtaining nutrients and carrying out chemical reactions the human body produces wastes (CO</a:t>
            </a:r>
            <a:r>
              <a:rPr baseline="-25000" lang="en-US" sz="2800">
                <a:solidFill>
                  <a:schemeClr val="dk1"/>
                </a:solidFill>
              </a:rPr>
              <a:t>2</a:t>
            </a:r>
            <a:r>
              <a:rPr lang="en-US" sz="2800">
                <a:solidFill>
                  <a:schemeClr val="dk1"/>
                </a:solidFill>
              </a:rPr>
              <a:t>, Urea, Salts).  If some of these wastes are not removed they could threaten our health.   Excess chemicals that are not toxic also need to be removed.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7"/>
          <p:cNvSpPr txBox="1"/>
          <p:nvPr/>
        </p:nvSpPr>
        <p:spPr>
          <a:xfrm>
            <a:off x="228600" y="609600"/>
            <a:ext cx="7086600" cy="350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Other important parts of the bodies excretory system</a:t>
            </a:r>
            <a:endParaRPr b="0" i="0" sz="1400" u="none" cap="none" strike="noStrike">
              <a:solidFill>
                <a:srgbClr val="000000"/>
              </a:solidFill>
              <a:latin typeface="Arial"/>
              <a:ea typeface="Arial"/>
              <a:cs typeface="Arial"/>
              <a:sym typeface="Arial"/>
            </a:endParaRPr>
          </a:p>
          <a:p>
            <a:pPr indent="-203200" lvl="1" marL="457200" marR="0" rtl="0" algn="l">
              <a:lnSpc>
                <a:spcPct val="100000"/>
              </a:lnSpc>
              <a:spcBef>
                <a:spcPts val="160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The skin excretes excess water and salts</a:t>
            </a:r>
            <a:endParaRPr b="0" i="0" sz="1400" u="none" cap="none" strike="noStrike">
              <a:solidFill>
                <a:srgbClr val="000000"/>
              </a:solidFill>
              <a:latin typeface="Arial"/>
              <a:ea typeface="Arial"/>
              <a:cs typeface="Arial"/>
              <a:sym typeface="Arial"/>
            </a:endParaRPr>
          </a:p>
          <a:p>
            <a:pPr indent="-203200" lvl="1" marL="457200" marR="0" rtl="0" algn="l">
              <a:lnSpc>
                <a:spcPct val="100000"/>
              </a:lnSpc>
              <a:spcBef>
                <a:spcPts val="160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The lungs excrete carbon dioxide produced from respiration</a:t>
            </a:r>
            <a:endParaRPr b="0" i="0" sz="1400" u="none" cap="none" strike="noStrike">
              <a:solidFill>
                <a:srgbClr val="000000"/>
              </a:solidFill>
              <a:latin typeface="Arial"/>
              <a:ea typeface="Arial"/>
              <a:cs typeface="Arial"/>
              <a:sym typeface="Arial"/>
            </a:endParaRPr>
          </a:p>
        </p:txBody>
      </p:sp>
      <p:pic>
        <p:nvPicPr>
          <p:cNvPr descr="trashcanc" id="449" name="Google Shape;449;p27">
            <a:hlinkClick r:id="rId3"/>
          </p:cNvPr>
          <p:cNvPicPr preferRelativeResize="0"/>
          <p:nvPr/>
        </p:nvPicPr>
        <p:blipFill rotWithShape="1">
          <a:blip r:embed="rId4">
            <a:alphaModFix/>
          </a:blip>
          <a:srcRect b="0" l="0" r="0" t="0"/>
          <a:stretch/>
        </p:blipFill>
        <p:spPr>
          <a:xfrm>
            <a:off x="6781800" y="212725"/>
            <a:ext cx="2189480" cy="2454275"/>
          </a:xfrm>
          <a:prstGeom prst="rect">
            <a:avLst/>
          </a:prstGeom>
          <a:noFill/>
          <a:ln>
            <a:noFill/>
          </a:ln>
        </p:spPr>
      </p:pic>
      <p:sp>
        <p:nvSpPr>
          <p:cNvPr id="450" name="Google Shape;450;p27"/>
          <p:cNvSpPr/>
          <p:nvPr/>
        </p:nvSpPr>
        <p:spPr>
          <a:xfrm>
            <a:off x="228600" y="4876800"/>
            <a:ext cx="8743950" cy="13112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Both of these body organs serves multiple functions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in the human body.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28"/>
          <p:cNvSpPr/>
          <p:nvPr/>
        </p:nvSpPr>
        <p:spPr>
          <a:xfrm>
            <a:off x="457200" y="330200"/>
            <a:ext cx="38163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Times New Roman"/>
                <a:ea typeface="Times New Roman"/>
                <a:cs typeface="Times New Roman"/>
                <a:sym typeface="Times New Roman"/>
              </a:rPr>
              <a:t>8.  </a:t>
            </a:r>
            <a:r>
              <a:rPr b="1" i="0" lang="en-US" sz="3600" u="none" cap="none" strike="noStrike">
                <a:solidFill>
                  <a:srgbClr val="FF3399"/>
                </a:solidFill>
                <a:latin typeface="Times New Roman"/>
                <a:ea typeface="Times New Roman"/>
                <a:cs typeface="Times New Roman"/>
                <a:sym typeface="Times New Roman"/>
              </a:rPr>
              <a:t>Skeletal System</a:t>
            </a:r>
            <a:endParaRPr b="0" i="0" sz="1400" u="none" cap="none" strike="noStrike">
              <a:solidFill>
                <a:srgbClr val="000000"/>
              </a:solidFill>
              <a:latin typeface="Arial"/>
              <a:ea typeface="Arial"/>
              <a:cs typeface="Arial"/>
              <a:sym typeface="Arial"/>
            </a:endParaRPr>
          </a:p>
        </p:txBody>
      </p:sp>
      <p:pic>
        <p:nvPicPr>
          <p:cNvPr descr="skel0" id="456" name="Google Shape;456;p28"/>
          <p:cNvPicPr preferRelativeResize="0"/>
          <p:nvPr/>
        </p:nvPicPr>
        <p:blipFill rotWithShape="1">
          <a:blip r:embed="rId3">
            <a:alphaModFix/>
          </a:blip>
          <a:srcRect b="0" l="0" r="0" t="0"/>
          <a:stretch/>
        </p:blipFill>
        <p:spPr>
          <a:xfrm>
            <a:off x="5943600" y="685800"/>
            <a:ext cx="3225800" cy="5791200"/>
          </a:xfrm>
          <a:prstGeom prst="rect">
            <a:avLst/>
          </a:prstGeom>
          <a:noFill/>
          <a:ln>
            <a:noFill/>
          </a:ln>
        </p:spPr>
      </p:pic>
      <p:sp>
        <p:nvSpPr>
          <p:cNvPr id="457" name="Google Shape;457;p28"/>
          <p:cNvSpPr txBox="1"/>
          <p:nvPr/>
        </p:nvSpPr>
        <p:spPr>
          <a:xfrm>
            <a:off x="533400" y="1143000"/>
            <a:ext cx="5029200" cy="42780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Structures:</a:t>
            </a:r>
            <a:r>
              <a:rPr b="0" i="0" lang="en-US" sz="3200" u="none" cap="none" strike="noStrike">
                <a:solidFill>
                  <a:schemeClr val="dk1"/>
                </a:solidFill>
                <a:latin typeface="Times New Roman"/>
                <a:ea typeface="Times New Roman"/>
                <a:cs typeface="Times New Roman"/>
                <a:sym typeface="Times New Roman"/>
              </a:rPr>
              <a:t>  Bones, cartilage, ligaments, tendons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Functions:</a:t>
            </a:r>
            <a:r>
              <a:rPr b="0" i="0" lang="en-US" sz="3200" u="none" cap="none" strike="noStrike">
                <a:solidFill>
                  <a:schemeClr val="dk1"/>
                </a:solidFill>
                <a:latin typeface="Times New Roman"/>
                <a:ea typeface="Times New Roman"/>
                <a:cs typeface="Times New Roman"/>
                <a:sym typeface="Times New Roman"/>
              </a:rPr>
              <a:t> Supports the body; protects internal organs; allows movement; stores mineral reserves; provides a site for blood formation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id="462" name="Google Shape;462;p29"/>
          <p:cNvPicPr preferRelativeResize="0"/>
          <p:nvPr/>
        </p:nvPicPr>
        <p:blipFill rotWithShape="1">
          <a:blip r:embed="rId3">
            <a:alphaModFix/>
          </a:blip>
          <a:srcRect b="0" l="0" r="0" t="0"/>
          <a:stretch/>
        </p:blipFill>
        <p:spPr>
          <a:xfrm>
            <a:off x="4878705" y="106045"/>
            <a:ext cx="2759075" cy="6705600"/>
          </a:xfrm>
          <a:prstGeom prst="rect">
            <a:avLst/>
          </a:prstGeom>
          <a:noFill/>
          <a:ln>
            <a:noFill/>
          </a:ln>
        </p:spPr>
      </p:pic>
      <p:cxnSp>
        <p:nvCxnSpPr>
          <p:cNvPr id="463" name="Google Shape;463;p29"/>
          <p:cNvCxnSpPr/>
          <p:nvPr/>
        </p:nvCxnSpPr>
        <p:spPr>
          <a:xfrm flipH="1" rot="10800000">
            <a:off x="4295775" y="2549525"/>
            <a:ext cx="152400" cy="76200"/>
          </a:xfrm>
          <a:prstGeom prst="straightConnector1">
            <a:avLst/>
          </a:prstGeom>
          <a:noFill/>
          <a:ln cap="flat" cmpd="sng" w="9525">
            <a:solidFill>
              <a:srgbClr val="FF0000"/>
            </a:solidFill>
            <a:prstDash val="solid"/>
            <a:round/>
            <a:headEnd len="sm" w="sm" type="none"/>
            <a:tailEnd len="sm" w="sm" type="none"/>
          </a:ln>
        </p:spPr>
      </p:cxnSp>
      <p:cxnSp>
        <p:nvCxnSpPr>
          <p:cNvPr id="464" name="Google Shape;464;p29"/>
          <p:cNvCxnSpPr/>
          <p:nvPr/>
        </p:nvCxnSpPr>
        <p:spPr>
          <a:xfrm>
            <a:off x="4314825" y="2628900"/>
            <a:ext cx="120650" cy="82550"/>
          </a:xfrm>
          <a:prstGeom prst="straightConnector1">
            <a:avLst/>
          </a:prstGeom>
          <a:noFill/>
          <a:ln cap="flat" cmpd="sng" w="9525">
            <a:solidFill>
              <a:srgbClr val="FF0000"/>
            </a:solidFill>
            <a:prstDash val="solid"/>
            <a:round/>
            <a:headEnd len="sm" w="sm" type="none"/>
            <a:tailEnd len="sm" w="sm" type="none"/>
          </a:ln>
        </p:spPr>
      </p:cxnSp>
      <p:grpSp>
        <p:nvGrpSpPr>
          <p:cNvPr id="465" name="Google Shape;465;p29"/>
          <p:cNvGrpSpPr/>
          <p:nvPr/>
        </p:nvGrpSpPr>
        <p:grpSpPr>
          <a:xfrm>
            <a:off x="3200400" y="152400"/>
            <a:ext cx="1589088" cy="2692400"/>
            <a:chOff x="1821" y="864"/>
            <a:chExt cx="590" cy="1322"/>
          </a:xfrm>
        </p:grpSpPr>
        <p:sp>
          <p:nvSpPr>
            <p:cNvPr id="466" name="Google Shape;466;p29"/>
            <p:cNvSpPr txBox="1"/>
            <p:nvPr/>
          </p:nvSpPr>
          <p:spPr>
            <a:xfrm>
              <a:off x="1957" y="864"/>
              <a:ext cx="454" cy="19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Skull</a:t>
              </a:r>
              <a:endParaRPr b="0" i="0" sz="1400" u="none" cap="none" strike="noStrike">
                <a:solidFill>
                  <a:srgbClr val="000000"/>
                </a:solidFill>
                <a:latin typeface="Arial"/>
                <a:ea typeface="Arial"/>
                <a:cs typeface="Arial"/>
                <a:sym typeface="Arial"/>
              </a:endParaRPr>
            </a:p>
          </p:txBody>
        </p:sp>
        <p:sp>
          <p:nvSpPr>
            <p:cNvPr id="467" name="Google Shape;467;p29"/>
            <p:cNvSpPr txBox="1"/>
            <p:nvPr/>
          </p:nvSpPr>
          <p:spPr>
            <a:xfrm>
              <a:off x="1821" y="1355"/>
              <a:ext cx="590" cy="19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Sternum</a:t>
              </a:r>
              <a:endParaRPr b="0" i="0" sz="1400" u="none" cap="none" strike="noStrike">
                <a:solidFill>
                  <a:srgbClr val="000000"/>
                </a:solidFill>
                <a:latin typeface="Arial"/>
                <a:ea typeface="Arial"/>
                <a:cs typeface="Arial"/>
                <a:sym typeface="Arial"/>
              </a:endParaRPr>
            </a:p>
          </p:txBody>
        </p:sp>
        <p:sp>
          <p:nvSpPr>
            <p:cNvPr id="468" name="Google Shape;468;p29"/>
            <p:cNvSpPr txBox="1"/>
            <p:nvPr/>
          </p:nvSpPr>
          <p:spPr>
            <a:xfrm>
              <a:off x="1864" y="1575"/>
              <a:ext cx="547" cy="19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Ribs</a:t>
              </a:r>
              <a:endParaRPr b="0" i="0" sz="1400" u="none" cap="none" strike="noStrike">
                <a:solidFill>
                  <a:srgbClr val="000000"/>
                </a:solidFill>
                <a:latin typeface="Arial"/>
                <a:ea typeface="Arial"/>
                <a:cs typeface="Arial"/>
                <a:sym typeface="Arial"/>
              </a:endParaRPr>
            </a:p>
          </p:txBody>
        </p:sp>
        <p:sp>
          <p:nvSpPr>
            <p:cNvPr id="469" name="Google Shape;469;p29"/>
            <p:cNvSpPr txBox="1"/>
            <p:nvPr/>
          </p:nvSpPr>
          <p:spPr>
            <a:xfrm>
              <a:off x="1889" y="1842"/>
              <a:ext cx="522" cy="34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Vertebral column</a:t>
              </a:r>
              <a:endParaRPr b="0" i="0" sz="1400" u="none" cap="none" strike="noStrike">
                <a:solidFill>
                  <a:srgbClr val="000000"/>
                </a:solidFill>
                <a:latin typeface="Arial"/>
                <a:ea typeface="Arial"/>
                <a:cs typeface="Arial"/>
                <a:sym typeface="Arial"/>
              </a:endParaRPr>
            </a:p>
          </p:txBody>
        </p:sp>
      </p:grpSp>
      <p:grpSp>
        <p:nvGrpSpPr>
          <p:cNvPr id="470" name="Google Shape;470;p29"/>
          <p:cNvGrpSpPr/>
          <p:nvPr/>
        </p:nvGrpSpPr>
        <p:grpSpPr>
          <a:xfrm>
            <a:off x="7543800" y="990600"/>
            <a:ext cx="2667000" cy="5821363"/>
            <a:chOff x="3700" y="1205"/>
            <a:chExt cx="848" cy="2570"/>
          </a:xfrm>
        </p:grpSpPr>
        <p:sp>
          <p:nvSpPr>
            <p:cNvPr id="471" name="Google Shape;471;p29"/>
            <p:cNvSpPr txBox="1"/>
            <p:nvPr/>
          </p:nvSpPr>
          <p:spPr>
            <a:xfrm>
              <a:off x="3706" y="3453"/>
              <a:ext cx="725" cy="1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Metatarsals</a:t>
              </a:r>
              <a:endParaRPr b="0" i="0" sz="1400" u="none" cap="none" strike="noStrike">
                <a:solidFill>
                  <a:srgbClr val="000000"/>
                </a:solidFill>
                <a:latin typeface="Arial"/>
                <a:ea typeface="Arial"/>
                <a:cs typeface="Arial"/>
                <a:sym typeface="Arial"/>
              </a:endParaRPr>
            </a:p>
          </p:txBody>
        </p:sp>
        <p:grpSp>
          <p:nvGrpSpPr>
            <p:cNvPr id="472" name="Google Shape;472;p29"/>
            <p:cNvGrpSpPr/>
            <p:nvPr/>
          </p:nvGrpSpPr>
          <p:grpSpPr>
            <a:xfrm>
              <a:off x="3700" y="1205"/>
              <a:ext cx="848" cy="2570"/>
              <a:chOff x="3700" y="1205"/>
              <a:chExt cx="848" cy="2570"/>
            </a:xfrm>
          </p:grpSpPr>
          <p:sp>
            <p:nvSpPr>
              <p:cNvPr id="473" name="Google Shape;473;p29"/>
              <p:cNvSpPr txBox="1"/>
              <p:nvPr/>
            </p:nvSpPr>
            <p:spPr>
              <a:xfrm>
                <a:off x="3706" y="2253"/>
                <a:ext cx="842" cy="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Metacarpals</a:t>
                </a:r>
                <a:endParaRPr b="0" i="0" sz="1400" u="none" cap="none" strike="noStrike">
                  <a:solidFill>
                    <a:srgbClr val="000000"/>
                  </a:solidFill>
                  <a:latin typeface="Arial"/>
                  <a:ea typeface="Arial"/>
                  <a:cs typeface="Arial"/>
                  <a:sym typeface="Arial"/>
                </a:endParaRPr>
              </a:p>
            </p:txBody>
          </p:sp>
          <p:sp>
            <p:nvSpPr>
              <p:cNvPr id="474" name="Google Shape;474;p29"/>
              <p:cNvSpPr txBox="1"/>
              <p:nvPr/>
            </p:nvSpPr>
            <p:spPr>
              <a:xfrm>
                <a:off x="3706" y="2510"/>
                <a:ext cx="825" cy="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Phalanges</a:t>
                </a:r>
                <a:endParaRPr b="0" i="0" sz="1400" u="none" cap="none" strike="noStrike">
                  <a:solidFill>
                    <a:srgbClr val="000000"/>
                  </a:solidFill>
                  <a:latin typeface="Arial"/>
                  <a:ea typeface="Arial"/>
                  <a:cs typeface="Arial"/>
                  <a:sym typeface="Arial"/>
                </a:endParaRPr>
              </a:p>
            </p:txBody>
          </p:sp>
          <p:grpSp>
            <p:nvGrpSpPr>
              <p:cNvPr id="475" name="Google Shape;475;p29"/>
              <p:cNvGrpSpPr/>
              <p:nvPr/>
            </p:nvGrpSpPr>
            <p:grpSpPr>
              <a:xfrm>
                <a:off x="3700" y="1205"/>
                <a:ext cx="722" cy="2570"/>
                <a:chOff x="3700" y="1205"/>
                <a:chExt cx="722" cy="2570"/>
              </a:xfrm>
            </p:grpSpPr>
            <p:sp>
              <p:nvSpPr>
                <p:cNvPr id="476" name="Google Shape;476;p29"/>
                <p:cNvSpPr txBox="1"/>
                <p:nvPr/>
              </p:nvSpPr>
              <p:spPr>
                <a:xfrm>
                  <a:off x="3706" y="1205"/>
                  <a:ext cx="463" cy="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Clavicle</a:t>
                  </a:r>
                  <a:endParaRPr b="0" i="0" sz="1400" u="none" cap="none" strike="noStrike">
                    <a:solidFill>
                      <a:srgbClr val="000000"/>
                    </a:solidFill>
                    <a:latin typeface="Arial"/>
                    <a:ea typeface="Arial"/>
                    <a:cs typeface="Arial"/>
                    <a:sym typeface="Arial"/>
                  </a:endParaRPr>
                </a:p>
              </p:txBody>
            </p:sp>
            <p:sp>
              <p:nvSpPr>
                <p:cNvPr id="477" name="Google Shape;477;p29"/>
                <p:cNvSpPr txBox="1"/>
                <p:nvPr/>
              </p:nvSpPr>
              <p:spPr>
                <a:xfrm>
                  <a:off x="3706" y="1356"/>
                  <a:ext cx="480" cy="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Scapula</a:t>
                  </a:r>
                  <a:endParaRPr b="0" i="0" sz="1400" u="none" cap="none" strike="noStrike">
                    <a:solidFill>
                      <a:srgbClr val="000000"/>
                    </a:solidFill>
                    <a:latin typeface="Arial"/>
                    <a:ea typeface="Arial"/>
                    <a:cs typeface="Arial"/>
                    <a:sym typeface="Arial"/>
                  </a:endParaRPr>
                </a:p>
              </p:txBody>
            </p:sp>
            <p:sp>
              <p:nvSpPr>
                <p:cNvPr id="478" name="Google Shape;478;p29"/>
                <p:cNvSpPr txBox="1"/>
                <p:nvPr/>
              </p:nvSpPr>
              <p:spPr>
                <a:xfrm>
                  <a:off x="3706" y="1550"/>
                  <a:ext cx="529" cy="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Humerus</a:t>
                  </a:r>
                  <a:endParaRPr b="0" i="0" sz="1400" u="none" cap="none" strike="noStrike">
                    <a:solidFill>
                      <a:srgbClr val="000000"/>
                    </a:solidFill>
                    <a:latin typeface="Arial"/>
                    <a:ea typeface="Arial"/>
                    <a:cs typeface="Arial"/>
                    <a:sym typeface="Arial"/>
                  </a:endParaRPr>
                </a:p>
              </p:txBody>
            </p:sp>
            <p:sp>
              <p:nvSpPr>
                <p:cNvPr id="479" name="Google Shape;479;p29"/>
                <p:cNvSpPr txBox="1"/>
                <p:nvPr/>
              </p:nvSpPr>
              <p:spPr>
                <a:xfrm>
                  <a:off x="3706" y="1802"/>
                  <a:ext cx="547" cy="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Radius</a:t>
                  </a:r>
                  <a:endParaRPr b="0" i="0" sz="1400" u="none" cap="none" strike="noStrike">
                    <a:solidFill>
                      <a:srgbClr val="000000"/>
                    </a:solidFill>
                    <a:latin typeface="Arial"/>
                    <a:ea typeface="Arial"/>
                    <a:cs typeface="Arial"/>
                    <a:sym typeface="Arial"/>
                  </a:endParaRPr>
                </a:p>
              </p:txBody>
            </p:sp>
            <p:sp>
              <p:nvSpPr>
                <p:cNvPr id="480" name="Google Shape;480;p29"/>
                <p:cNvSpPr txBox="1"/>
                <p:nvPr/>
              </p:nvSpPr>
              <p:spPr>
                <a:xfrm>
                  <a:off x="3706" y="1904"/>
                  <a:ext cx="455" cy="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Pelvis</a:t>
                  </a:r>
                  <a:endParaRPr b="0" i="0" sz="1400" u="none" cap="none" strike="noStrike">
                    <a:solidFill>
                      <a:srgbClr val="000000"/>
                    </a:solidFill>
                    <a:latin typeface="Arial"/>
                    <a:ea typeface="Arial"/>
                    <a:cs typeface="Arial"/>
                    <a:sym typeface="Arial"/>
                  </a:endParaRPr>
                </a:p>
              </p:txBody>
            </p:sp>
            <p:sp>
              <p:nvSpPr>
                <p:cNvPr id="481" name="Google Shape;481;p29"/>
                <p:cNvSpPr txBox="1"/>
                <p:nvPr/>
              </p:nvSpPr>
              <p:spPr>
                <a:xfrm>
                  <a:off x="3706" y="2024"/>
                  <a:ext cx="716" cy="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Ulna</a:t>
                  </a:r>
                  <a:endParaRPr b="0" i="0" sz="1400" u="none" cap="none" strike="noStrike">
                    <a:solidFill>
                      <a:srgbClr val="000000"/>
                    </a:solidFill>
                    <a:latin typeface="Arial"/>
                    <a:ea typeface="Arial"/>
                    <a:cs typeface="Arial"/>
                    <a:sym typeface="Arial"/>
                  </a:endParaRPr>
                </a:p>
              </p:txBody>
            </p:sp>
            <p:sp>
              <p:nvSpPr>
                <p:cNvPr id="482" name="Google Shape;482;p29"/>
                <p:cNvSpPr txBox="1"/>
                <p:nvPr/>
              </p:nvSpPr>
              <p:spPr>
                <a:xfrm>
                  <a:off x="3700" y="2137"/>
                  <a:ext cx="623" cy="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Carpals</a:t>
                  </a:r>
                  <a:endParaRPr b="0" i="0" sz="1400" u="none" cap="none" strike="noStrike">
                    <a:solidFill>
                      <a:srgbClr val="000000"/>
                    </a:solidFill>
                    <a:latin typeface="Arial"/>
                    <a:ea typeface="Arial"/>
                    <a:cs typeface="Arial"/>
                    <a:sym typeface="Arial"/>
                  </a:endParaRPr>
                </a:p>
              </p:txBody>
            </p:sp>
            <p:sp>
              <p:nvSpPr>
                <p:cNvPr id="483" name="Google Shape;483;p29"/>
                <p:cNvSpPr txBox="1"/>
                <p:nvPr/>
              </p:nvSpPr>
              <p:spPr>
                <a:xfrm>
                  <a:off x="3726" y="2612"/>
                  <a:ext cx="614" cy="1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Femur</a:t>
                  </a:r>
                  <a:endParaRPr b="0" i="0" sz="1400" u="none" cap="none" strike="noStrike">
                    <a:solidFill>
                      <a:srgbClr val="000000"/>
                    </a:solidFill>
                    <a:latin typeface="Arial"/>
                    <a:ea typeface="Arial"/>
                    <a:cs typeface="Arial"/>
                    <a:sym typeface="Arial"/>
                  </a:endParaRPr>
                </a:p>
              </p:txBody>
            </p:sp>
            <p:sp>
              <p:nvSpPr>
                <p:cNvPr id="484" name="Google Shape;484;p29"/>
                <p:cNvSpPr txBox="1"/>
                <p:nvPr/>
              </p:nvSpPr>
              <p:spPr>
                <a:xfrm>
                  <a:off x="3706" y="2821"/>
                  <a:ext cx="421" cy="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Patella</a:t>
                  </a:r>
                  <a:endParaRPr b="0" i="0" sz="1400" u="none" cap="none" strike="noStrike">
                    <a:solidFill>
                      <a:srgbClr val="000000"/>
                    </a:solidFill>
                    <a:latin typeface="Arial"/>
                    <a:ea typeface="Arial"/>
                    <a:cs typeface="Arial"/>
                    <a:sym typeface="Arial"/>
                  </a:endParaRPr>
                </a:p>
              </p:txBody>
            </p:sp>
            <p:sp>
              <p:nvSpPr>
                <p:cNvPr id="485" name="Google Shape;485;p29"/>
                <p:cNvSpPr txBox="1"/>
                <p:nvPr/>
              </p:nvSpPr>
              <p:spPr>
                <a:xfrm>
                  <a:off x="3706" y="3007"/>
                  <a:ext cx="496" cy="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Fibula</a:t>
                  </a:r>
                  <a:endParaRPr b="0" i="0" sz="1400" u="none" cap="none" strike="noStrike">
                    <a:solidFill>
                      <a:srgbClr val="000000"/>
                    </a:solidFill>
                    <a:latin typeface="Arial"/>
                    <a:ea typeface="Arial"/>
                    <a:cs typeface="Arial"/>
                    <a:sym typeface="Arial"/>
                  </a:endParaRPr>
                </a:p>
              </p:txBody>
            </p:sp>
            <p:sp>
              <p:nvSpPr>
                <p:cNvPr id="486" name="Google Shape;486;p29"/>
                <p:cNvSpPr txBox="1"/>
                <p:nvPr/>
              </p:nvSpPr>
              <p:spPr>
                <a:xfrm>
                  <a:off x="3717" y="3151"/>
                  <a:ext cx="396" cy="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Tibia</a:t>
                  </a:r>
                  <a:endParaRPr b="0" i="0" sz="1400" u="none" cap="none" strike="noStrike">
                    <a:solidFill>
                      <a:srgbClr val="000000"/>
                    </a:solidFill>
                    <a:latin typeface="Arial"/>
                    <a:ea typeface="Arial"/>
                    <a:cs typeface="Arial"/>
                    <a:sym typeface="Arial"/>
                  </a:endParaRPr>
                </a:p>
              </p:txBody>
            </p:sp>
            <p:sp>
              <p:nvSpPr>
                <p:cNvPr id="487" name="Google Shape;487;p29"/>
                <p:cNvSpPr txBox="1"/>
                <p:nvPr/>
              </p:nvSpPr>
              <p:spPr>
                <a:xfrm>
                  <a:off x="3706" y="3284"/>
                  <a:ext cx="573" cy="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Tarsals</a:t>
                  </a:r>
                  <a:endParaRPr b="0" i="0" sz="1400" u="none" cap="none" strike="noStrike">
                    <a:solidFill>
                      <a:srgbClr val="000000"/>
                    </a:solidFill>
                    <a:latin typeface="Arial"/>
                    <a:ea typeface="Arial"/>
                    <a:cs typeface="Arial"/>
                    <a:sym typeface="Arial"/>
                  </a:endParaRPr>
                </a:p>
              </p:txBody>
            </p:sp>
            <p:sp>
              <p:nvSpPr>
                <p:cNvPr id="488" name="Google Shape;488;p29"/>
                <p:cNvSpPr txBox="1"/>
                <p:nvPr/>
              </p:nvSpPr>
              <p:spPr>
                <a:xfrm>
                  <a:off x="3706" y="3600"/>
                  <a:ext cx="583" cy="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Phalanges</a:t>
                  </a:r>
                  <a:endParaRPr b="0" i="0" sz="1400" u="none" cap="none" strike="noStrike">
                    <a:solidFill>
                      <a:srgbClr val="000000"/>
                    </a:solidFill>
                    <a:latin typeface="Arial"/>
                    <a:ea typeface="Arial"/>
                    <a:cs typeface="Arial"/>
                    <a:sym typeface="Arial"/>
                  </a:endParaRPr>
                </a:p>
              </p:txBody>
            </p:sp>
          </p:grpSp>
        </p:grpSp>
      </p:grpSp>
      <p:cxnSp>
        <p:nvCxnSpPr>
          <p:cNvPr id="489" name="Google Shape;489;p29"/>
          <p:cNvCxnSpPr/>
          <p:nvPr/>
        </p:nvCxnSpPr>
        <p:spPr>
          <a:xfrm>
            <a:off x="5143500" y="5746750"/>
            <a:ext cx="130175" cy="149225"/>
          </a:xfrm>
          <a:prstGeom prst="straightConnector1">
            <a:avLst/>
          </a:prstGeom>
          <a:noFill/>
          <a:ln cap="flat" cmpd="sng" w="9525">
            <a:solidFill>
              <a:srgbClr val="FF0000"/>
            </a:solidFill>
            <a:prstDash val="solid"/>
            <a:round/>
            <a:headEnd len="sm" w="sm" type="none"/>
            <a:tailEnd len="sm" w="sm" type="none"/>
          </a:ln>
        </p:spPr>
      </p:cxnSp>
      <p:cxnSp>
        <p:nvCxnSpPr>
          <p:cNvPr id="490" name="Google Shape;490;p29"/>
          <p:cNvCxnSpPr/>
          <p:nvPr/>
        </p:nvCxnSpPr>
        <p:spPr>
          <a:xfrm flipH="1">
            <a:off x="5156200" y="5797550"/>
            <a:ext cx="25400" cy="28575"/>
          </a:xfrm>
          <a:prstGeom prst="straightConnector1">
            <a:avLst/>
          </a:prstGeom>
          <a:noFill/>
          <a:ln cap="flat" cmpd="sng" w="9525">
            <a:solidFill>
              <a:srgbClr val="FF0000"/>
            </a:solidFill>
            <a:prstDash val="solid"/>
            <a:round/>
            <a:headEnd len="sm" w="sm" type="none"/>
            <a:tailEnd len="sm" w="sm" type="none"/>
          </a:ln>
        </p:spPr>
      </p:cxnSp>
      <p:cxnSp>
        <p:nvCxnSpPr>
          <p:cNvPr id="491" name="Google Shape;491;p29"/>
          <p:cNvCxnSpPr/>
          <p:nvPr/>
        </p:nvCxnSpPr>
        <p:spPr>
          <a:xfrm flipH="1">
            <a:off x="5207000" y="5857875"/>
            <a:ext cx="34925" cy="15875"/>
          </a:xfrm>
          <a:prstGeom prst="straightConnector1">
            <a:avLst/>
          </a:prstGeom>
          <a:noFill/>
          <a:ln cap="flat" cmpd="sng" w="9525">
            <a:solidFill>
              <a:srgbClr val="FF0000"/>
            </a:solidFill>
            <a:prstDash val="solid"/>
            <a:round/>
            <a:headEnd len="sm" w="sm" type="none"/>
            <a:tailEnd len="sm" w="sm" type="none"/>
          </a:ln>
        </p:spPr>
      </p:cxnSp>
      <p:cxnSp>
        <p:nvCxnSpPr>
          <p:cNvPr id="492" name="Google Shape;492;p29"/>
          <p:cNvCxnSpPr/>
          <p:nvPr/>
        </p:nvCxnSpPr>
        <p:spPr>
          <a:xfrm>
            <a:off x="5276850" y="5905500"/>
            <a:ext cx="0" cy="22225"/>
          </a:xfrm>
          <a:prstGeom prst="straightConnector1">
            <a:avLst/>
          </a:prstGeom>
          <a:noFill/>
          <a:ln cap="flat" cmpd="sng" w="9525">
            <a:solidFill>
              <a:srgbClr val="FF0000"/>
            </a:solidFill>
            <a:prstDash val="solid"/>
            <a:round/>
            <a:headEnd len="sm" w="sm" type="none"/>
            <a:tailEnd len="sm" w="sm" type="none"/>
          </a:ln>
        </p:spPr>
      </p:cxnSp>
      <p:cxnSp>
        <p:nvCxnSpPr>
          <p:cNvPr id="493" name="Google Shape;493;p29"/>
          <p:cNvCxnSpPr/>
          <p:nvPr/>
        </p:nvCxnSpPr>
        <p:spPr>
          <a:xfrm flipH="1">
            <a:off x="5108575" y="5740400"/>
            <a:ext cx="28575" cy="9525"/>
          </a:xfrm>
          <a:prstGeom prst="straightConnector1">
            <a:avLst/>
          </a:prstGeom>
          <a:noFill/>
          <a:ln cap="flat" cmpd="sng" w="9525">
            <a:solidFill>
              <a:srgbClr val="FF0000"/>
            </a:solidFill>
            <a:prstDash val="solid"/>
            <a:round/>
            <a:headEnd len="sm" w="sm" type="none"/>
            <a:tailEnd len="sm" w="sm" type="none"/>
          </a:ln>
        </p:spPr>
      </p:cxnSp>
      <p:sp>
        <p:nvSpPr>
          <p:cNvPr id="494" name="Google Shape;494;p29"/>
          <p:cNvSpPr txBox="1"/>
          <p:nvPr/>
        </p:nvSpPr>
        <p:spPr>
          <a:xfrm>
            <a:off x="0" y="0"/>
            <a:ext cx="3276600" cy="83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Arial Black"/>
                <a:ea typeface="Arial Black"/>
                <a:cs typeface="Arial Black"/>
                <a:sym typeface="Arial Black"/>
              </a:rPr>
              <a:t>A.</a:t>
            </a:r>
            <a:r>
              <a:rPr b="0" i="0" lang="en-US" sz="2000" u="none" cap="none" strike="noStrike">
                <a:solidFill>
                  <a:schemeClr val="lt1"/>
                </a:solidFill>
                <a:latin typeface="Arial Black"/>
                <a:ea typeface="Arial Black"/>
                <a:cs typeface="Arial Black"/>
                <a:sym typeface="Arial Black"/>
              </a:rPr>
              <a:t> </a:t>
            </a:r>
            <a:r>
              <a:rPr b="0" i="0" lang="en-US" sz="3600" u="none" cap="none" strike="noStrike">
                <a:solidFill>
                  <a:schemeClr val="dk1"/>
                </a:solidFill>
                <a:latin typeface="Arial Black"/>
                <a:ea typeface="Arial Black"/>
                <a:cs typeface="Arial Black"/>
                <a:sym typeface="Arial Black"/>
              </a:rPr>
              <a:t>Skeletal 	System </a:t>
            </a:r>
            <a:endParaRPr b="0" i="0" sz="1400" u="none" cap="none" strike="noStrike">
              <a:solidFill>
                <a:srgbClr val="000000"/>
              </a:solidFill>
              <a:latin typeface="Arial"/>
              <a:ea typeface="Arial"/>
              <a:cs typeface="Arial"/>
              <a:sym typeface="Arial"/>
            </a:endParaRPr>
          </a:p>
        </p:txBody>
      </p:sp>
      <p:sp>
        <p:nvSpPr>
          <p:cNvPr id="495" name="Google Shape;495;p29"/>
          <p:cNvSpPr txBox="1"/>
          <p:nvPr/>
        </p:nvSpPr>
        <p:spPr>
          <a:xfrm>
            <a:off x="0" y="1273175"/>
            <a:ext cx="3657600" cy="40318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There are 206 bones in the adult human body.  These bones provide a system of supports and levers on which muscles can produce movement</a:t>
            </a:r>
            <a:endParaRPr b="0" i="0" sz="1400" u="none" cap="none" strike="noStrike">
              <a:solidFill>
                <a:srgbClr val="000000"/>
              </a:solidFill>
              <a:latin typeface="Arial"/>
              <a:ea typeface="Arial"/>
              <a:cs typeface="Arial"/>
              <a:sym typeface="Arial"/>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500"/>
                                        <p:tgtEl>
                                          <p:spTgt spid="4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500"/>
                                        <p:tgtEl>
                                          <p:spTgt spid="4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pic>
        <p:nvPicPr>
          <p:cNvPr id="501" name="Google Shape;501;p30"/>
          <p:cNvPicPr preferRelativeResize="0"/>
          <p:nvPr/>
        </p:nvPicPr>
        <p:blipFill rotWithShape="1">
          <a:blip r:embed="rId3">
            <a:alphaModFix/>
          </a:blip>
          <a:srcRect b="0" l="0" r="0" t="0"/>
          <a:stretch/>
        </p:blipFill>
        <p:spPr>
          <a:xfrm>
            <a:off x="2051685" y="2277110"/>
            <a:ext cx="5760675" cy="3993692"/>
          </a:xfrm>
          <a:prstGeom prst="rect">
            <a:avLst/>
          </a:prstGeom>
          <a:noFill/>
          <a:ln>
            <a:noFill/>
          </a:ln>
        </p:spPr>
      </p:pic>
      <p:sp>
        <p:nvSpPr>
          <p:cNvPr id="502" name="Google Shape;502;p30"/>
          <p:cNvSpPr txBox="1"/>
          <p:nvPr/>
        </p:nvSpPr>
        <p:spPr>
          <a:xfrm>
            <a:off x="2590800" y="231775"/>
            <a:ext cx="5105400" cy="396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Black"/>
              <a:ea typeface="Arial Black"/>
              <a:cs typeface="Arial Black"/>
              <a:sym typeface="Arial Black"/>
            </a:endParaRPr>
          </a:p>
        </p:txBody>
      </p:sp>
      <p:sp>
        <p:nvSpPr>
          <p:cNvPr id="503" name="Google Shape;503;p30"/>
          <p:cNvSpPr txBox="1"/>
          <p:nvPr/>
        </p:nvSpPr>
        <p:spPr>
          <a:xfrm>
            <a:off x="304800" y="762000"/>
            <a:ext cx="8534400" cy="15700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Bones</a:t>
            </a:r>
            <a:r>
              <a:rPr b="0" i="0" lang="en-US" sz="3200" u="none" cap="none" strike="noStrike">
                <a:solidFill>
                  <a:schemeClr val="dk1"/>
                </a:solidFill>
                <a:latin typeface="Times New Roman"/>
                <a:ea typeface="Times New Roman"/>
                <a:cs typeface="Times New Roman"/>
                <a:sym typeface="Times New Roman"/>
              </a:rPr>
              <a:t> are a solid network of living cells and protein fibers that are surrounded by calcium deposits.  </a:t>
            </a:r>
            <a:endParaRPr b="0" i="0" sz="1400" u="none" cap="none" strike="noStrike">
              <a:solidFill>
                <a:srgbClr val="000000"/>
              </a:solidFill>
              <a:latin typeface="Arial"/>
              <a:ea typeface="Arial"/>
              <a:cs typeface="Arial"/>
              <a:sym typeface="Arial"/>
            </a:endParaRPr>
          </a:p>
        </p:txBody>
      </p:sp>
      <p:sp>
        <p:nvSpPr>
          <p:cNvPr id="504" name="Google Shape;504;p30"/>
          <p:cNvSpPr txBox="1"/>
          <p:nvPr/>
        </p:nvSpPr>
        <p:spPr>
          <a:xfrm>
            <a:off x="381000" y="3581400"/>
            <a:ext cx="1828800" cy="1066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Bone Marrow</a:t>
            </a:r>
            <a:endParaRPr b="0" i="0" sz="1400" u="none" cap="none" strike="noStrike">
              <a:solidFill>
                <a:srgbClr val="000000"/>
              </a:solidFill>
              <a:latin typeface="Arial"/>
              <a:ea typeface="Arial"/>
              <a:cs typeface="Arial"/>
              <a:sym typeface="Arial"/>
            </a:endParaRPr>
          </a:p>
        </p:txBody>
      </p:sp>
      <p:cxnSp>
        <p:nvCxnSpPr>
          <p:cNvPr id="505" name="Google Shape;505;p30"/>
          <p:cNvCxnSpPr/>
          <p:nvPr/>
        </p:nvCxnSpPr>
        <p:spPr>
          <a:xfrm>
            <a:off x="1828800" y="4267200"/>
            <a:ext cx="533400" cy="304800"/>
          </a:xfrm>
          <a:prstGeom prst="straightConnector1">
            <a:avLst/>
          </a:prstGeom>
          <a:noFill/>
          <a:ln cap="flat" cmpd="sng" w="57150">
            <a:solidFill>
              <a:schemeClr val="dk1"/>
            </a:solidFill>
            <a:prstDash val="solid"/>
            <a:round/>
            <a:headEnd len="sm" w="sm" type="none"/>
            <a:tailEnd len="med" w="med" type="triangle"/>
          </a:ln>
        </p:spPr>
      </p:cxnSp>
    </p:spTree>
  </p:cSld>
  <p:clrMapOvr>
    <a:masterClrMapping/>
  </p:clrMapOvr>
  <p:transition>
    <p:fade thruBlk="1"/>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id="511" name="Google Shape;511;p31"/>
          <p:cNvPicPr preferRelativeResize="0"/>
          <p:nvPr/>
        </p:nvPicPr>
        <p:blipFill rotWithShape="1">
          <a:blip r:embed="rId3">
            <a:alphaModFix/>
          </a:blip>
          <a:srcRect b="0" l="0" r="0" t="0"/>
          <a:stretch/>
        </p:blipFill>
        <p:spPr>
          <a:xfrm>
            <a:off x="179512" y="3140968"/>
            <a:ext cx="8507413" cy="2566988"/>
          </a:xfrm>
          <a:prstGeom prst="rect">
            <a:avLst/>
          </a:prstGeom>
          <a:noFill/>
          <a:ln>
            <a:noFill/>
          </a:ln>
        </p:spPr>
      </p:pic>
      <p:sp>
        <p:nvSpPr>
          <p:cNvPr id="512" name="Google Shape;512;p31"/>
          <p:cNvSpPr txBox="1"/>
          <p:nvPr/>
        </p:nvSpPr>
        <p:spPr>
          <a:xfrm>
            <a:off x="0" y="2060848"/>
            <a:ext cx="41941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Ball-and-Socket Joint</a:t>
            </a:r>
            <a:endParaRPr b="0" i="0" sz="1400" u="none" cap="none" strike="noStrike">
              <a:solidFill>
                <a:srgbClr val="000000"/>
              </a:solidFill>
              <a:latin typeface="Arial"/>
              <a:ea typeface="Arial"/>
              <a:cs typeface="Arial"/>
              <a:sym typeface="Arial"/>
            </a:endParaRPr>
          </a:p>
        </p:txBody>
      </p:sp>
      <p:sp>
        <p:nvSpPr>
          <p:cNvPr id="513" name="Google Shape;513;p31"/>
          <p:cNvSpPr txBox="1"/>
          <p:nvPr/>
        </p:nvSpPr>
        <p:spPr>
          <a:xfrm>
            <a:off x="2743200" y="4114800"/>
            <a:ext cx="14478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Hinge Joint</a:t>
            </a:r>
            <a:endParaRPr b="0" i="0" sz="1400" u="none" cap="none" strike="noStrike">
              <a:solidFill>
                <a:srgbClr val="000000"/>
              </a:solidFill>
              <a:latin typeface="Arial"/>
              <a:ea typeface="Arial"/>
              <a:cs typeface="Arial"/>
              <a:sym typeface="Arial"/>
            </a:endParaRPr>
          </a:p>
        </p:txBody>
      </p:sp>
      <p:sp>
        <p:nvSpPr>
          <p:cNvPr id="514" name="Google Shape;514;p31"/>
          <p:cNvSpPr txBox="1"/>
          <p:nvPr/>
        </p:nvSpPr>
        <p:spPr>
          <a:xfrm>
            <a:off x="5076056" y="1988840"/>
            <a:ext cx="2052638" cy="5191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Pivot Joint</a:t>
            </a:r>
            <a:endParaRPr b="0" i="0" sz="1400" u="none" cap="none" strike="noStrike">
              <a:solidFill>
                <a:srgbClr val="000000"/>
              </a:solidFill>
              <a:latin typeface="Arial"/>
              <a:ea typeface="Arial"/>
              <a:cs typeface="Arial"/>
              <a:sym typeface="Arial"/>
            </a:endParaRPr>
          </a:p>
        </p:txBody>
      </p:sp>
      <p:sp>
        <p:nvSpPr>
          <p:cNvPr id="515" name="Google Shape;515;p31"/>
          <p:cNvSpPr txBox="1"/>
          <p:nvPr/>
        </p:nvSpPr>
        <p:spPr>
          <a:xfrm>
            <a:off x="6484938" y="4344988"/>
            <a:ext cx="23304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Saddle Joint</a:t>
            </a:r>
            <a:endParaRPr b="0" i="0" sz="1400" u="none" cap="none" strike="noStrike">
              <a:solidFill>
                <a:srgbClr val="000000"/>
              </a:solidFill>
              <a:latin typeface="Arial"/>
              <a:ea typeface="Arial"/>
              <a:cs typeface="Arial"/>
              <a:sym typeface="Arial"/>
            </a:endParaRPr>
          </a:p>
        </p:txBody>
      </p:sp>
      <p:grpSp>
        <p:nvGrpSpPr>
          <p:cNvPr id="516" name="Google Shape;516;p31"/>
          <p:cNvGrpSpPr/>
          <p:nvPr/>
        </p:nvGrpSpPr>
        <p:grpSpPr>
          <a:xfrm>
            <a:off x="0" y="2637463"/>
            <a:ext cx="2360613" cy="2301250"/>
            <a:chOff x="88" y="906"/>
            <a:chExt cx="1301" cy="1289"/>
          </a:xfrm>
        </p:grpSpPr>
        <p:sp>
          <p:nvSpPr>
            <p:cNvPr id="517" name="Google Shape;517;p31"/>
            <p:cNvSpPr txBox="1"/>
            <p:nvPr/>
          </p:nvSpPr>
          <p:spPr>
            <a:xfrm>
              <a:off x="544" y="906"/>
              <a:ext cx="573" cy="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Clavicle</a:t>
              </a:r>
              <a:endParaRPr b="0" i="0" sz="1400" u="none" cap="none" strike="noStrike">
                <a:solidFill>
                  <a:srgbClr val="000000"/>
                </a:solidFill>
                <a:latin typeface="Arial"/>
                <a:ea typeface="Arial"/>
                <a:cs typeface="Arial"/>
                <a:sym typeface="Arial"/>
              </a:endParaRPr>
            </a:p>
          </p:txBody>
        </p:sp>
        <p:sp>
          <p:nvSpPr>
            <p:cNvPr id="518" name="Google Shape;518;p31"/>
            <p:cNvSpPr txBox="1"/>
            <p:nvPr/>
          </p:nvSpPr>
          <p:spPr>
            <a:xfrm>
              <a:off x="816" y="1456"/>
              <a:ext cx="57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519" name="Google Shape;519;p31"/>
            <p:cNvSpPr txBox="1"/>
            <p:nvPr/>
          </p:nvSpPr>
          <p:spPr>
            <a:xfrm>
              <a:off x="734" y="1917"/>
              <a:ext cx="497"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520" name="Google Shape;520;p31"/>
            <p:cNvSpPr txBox="1"/>
            <p:nvPr/>
          </p:nvSpPr>
          <p:spPr>
            <a:xfrm>
              <a:off x="88" y="2041"/>
              <a:ext cx="792"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grpSp>
      <p:sp>
        <p:nvSpPr>
          <p:cNvPr id="521" name="Google Shape;521;p31"/>
          <p:cNvSpPr txBox="1"/>
          <p:nvPr/>
        </p:nvSpPr>
        <p:spPr>
          <a:xfrm>
            <a:off x="1331640" y="5949280"/>
            <a:ext cx="6529388"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lt1"/>
                </a:solidFill>
                <a:latin typeface="Arial Black"/>
                <a:ea typeface="Arial Black"/>
                <a:cs typeface="Arial Black"/>
                <a:sym typeface="Arial Black"/>
              </a:rPr>
              <a:t>Freely Movable Joints and Their Movements</a:t>
            </a:r>
            <a:endParaRPr b="0" i="0" sz="1400" u="none" cap="none" strike="noStrike">
              <a:solidFill>
                <a:srgbClr val="000000"/>
              </a:solidFill>
              <a:latin typeface="Arial"/>
              <a:ea typeface="Arial"/>
              <a:cs typeface="Arial"/>
              <a:sym typeface="Arial"/>
            </a:endParaRPr>
          </a:p>
        </p:txBody>
      </p:sp>
      <p:sp>
        <p:nvSpPr>
          <p:cNvPr id="522" name="Google Shape;522;p31"/>
          <p:cNvSpPr txBox="1"/>
          <p:nvPr/>
        </p:nvSpPr>
        <p:spPr>
          <a:xfrm>
            <a:off x="179512" y="620688"/>
            <a:ext cx="8686800" cy="10779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Joints</a:t>
            </a:r>
            <a:r>
              <a:rPr b="0" i="0" lang="en-US" sz="3200" u="none" cap="none" strike="noStrike">
                <a:solidFill>
                  <a:schemeClr val="dk1"/>
                </a:solidFill>
                <a:latin typeface="Times New Roman"/>
                <a:ea typeface="Times New Roman"/>
                <a:cs typeface="Times New Roman"/>
                <a:sym typeface="Times New Roman"/>
              </a:rPr>
              <a:t> are places where one bone attaches to another.  </a:t>
            </a:r>
            <a:endParaRPr b="0" i="0" sz="1400" u="none" cap="none" strike="noStrike">
              <a:solidFill>
                <a:srgbClr val="000000"/>
              </a:solidFill>
              <a:latin typeface="Arial"/>
              <a:ea typeface="Arial"/>
              <a:cs typeface="Arial"/>
              <a:sym typeface="Arial"/>
            </a:endParaRPr>
          </a:p>
        </p:txBody>
      </p:sp>
      <p:sp>
        <p:nvSpPr>
          <p:cNvPr id="523" name="Google Shape;523;p31"/>
          <p:cNvSpPr txBox="1"/>
          <p:nvPr/>
        </p:nvSpPr>
        <p:spPr>
          <a:xfrm>
            <a:off x="1752600" y="4724400"/>
            <a:ext cx="838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Knee</a:t>
            </a:r>
            <a:endParaRPr b="0" i="0" sz="1400" u="none" cap="none" strike="noStrike">
              <a:solidFill>
                <a:srgbClr val="000000"/>
              </a:solidFill>
              <a:latin typeface="Arial"/>
              <a:ea typeface="Arial"/>
              <a:cs typeface="Arial"/>
              <a:sym typeface="Arial"/>
            </a:endParaRPr>
          </a:p>
        </p:txBody>
      </p:sp>
      <p:sp>
        <p:nvSpPr>
          <p:cNvPr id="524" name="Google Shape;524;p31"/>
          <p:cNvSpPr txBox="1"/>
          <p:nvPr/>
        </p:nvSpPr>
        <p:spPr>
          <a:xfrm>
            <a:off x="5436096" y="2564904"/>
            <a:ext cx="1905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Elbow</a:t>
            </a:r>
            <a:endParaRPr b="0" i="0" sz="1400" u="none" cap="none" strike="noStrike">
              <a:solidFill>
                <a:srgbClr val="000000"/>
              </a:solidFill>
              <a:latin typeface="Arial"/>
              <a:ea typeface="Arial"/>
              <a:cs typeface="Arial"/>
              <a:sym typeface="Arial"/>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32"/>
          <p:cNvSpPr/>
          <p:nvPr/>
        </p:nvSpPr>
        <p:spPr>
          <a:xfrm>
            <a:off x="457200" y="358775"/>
            <a:ext cx="4462463"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sng" cap="none" strike="noStrike">
                <a:solidFill>
                  <a:schemeClr val="dk1"/>
                </a:solidFill>
                <a:latin typeface="Times New Roman"/>
                <a:ea typeface="Times New Roman"/>
                <a:cs typeface="Times New Roman"/>
                <a:sym typeface="Times New Roman"/>
              </a:rPr>
              <a:t>9. </a:t>
            </a:r>
            <a:r>
              <a:rPr b="1" i="0" lang="en-US" sz="4000" u="sng" cap="none" strike="noStrike">
                <a:solidFill>
                  <a:srgbClr val="336699"/>
                </a:solidFill>
                <a:latin typeface="Times New Roman"/>
                <a:ea typeface="Times New Roman"/>
                <a:cs typeface="Times New Roman"/>
                <a:sym typeface="Times New Roman"/>
              </a:rPr>
              <a:t>Muscular System</a:t>
            </a:r>
            <a:endParaRPr b="0" i="0" sz="1400" u="none" cap="none" strike="noStrike">
              <a:solidFill>
                <a:srgbClr val="000000"/>
              </a:solidFill>
              <a:latin typeface="Arial"/>
              <a:ea typeface="Arial"/>
              <a:cs typeface="Arial"/>
              <a:sym typeface="Arial"/>
            </a:endParaRPr>
          </a:p>
        </p:txBody>
      </p:sp>
      <p:pic>
        <p:nvPicPr>
          <p:cNvPr descr="muscleprint" id="530" name="Google Shape;530;p32"/>
          <p:cNvPicPr preferRelativeResize="0"/>
          <p:nvPr/>
        </p:nvPicPr>
        <p:blipFill rotWithShape="1">
          <a:blip r:embed="rId3">
            <a:alphaModFix/>
          </a:blip>
          <a:srcRect b="0" l="0" r="0" t="0"/>
          <a:stretch/>
        </p:blipFill>
        <p:spPr>
          <a:xfrm>
            <a:off x="6235846" y="659315"/>
            <a:ext cx="2364432" cy="2428335"/>
          </a:xfrm>
          <a:prstGeom prst="rect">
            <a:avLst/>
          </a:prstGeom>
          <a:noFill/>
          <a:ln>
            <a:noFill/>
          </a:ln>
        </p:spPr>
      </p:pic>
      <p:pic>
        <p:nvPicPr>
          <p:cNvPr descr="sh378-aa" id="531" name="Google Shape;531;p32"/>
          <p:cNvPicPr preferRelativeResize="0"/>
          <p:nvPr/>
        </p:nvPicPr>
        <p:blipFill rotWithShape="1">
          <a:blip r:embed="rId4">
            <a:alphaModFix/>
          </a:blip>
          <a:srcRect b="0" l="0" r="0" t="0"/>
          <a:stretch/>
        </p:blipFill>
        <p:spPr>
          <a:xfrm>
            <a:off x="6257128" y="3115834"/>
            <a:ext cx="2343150" cy="3200400"/>
          </a:xfrm>
          <a:prstGeom prst="rect">
            <a:avLst/>
          </a:prstGeom>
          <a:noFill/>
          <a:ln>
            <a:noFill/>
          </a:ln>
        </p:spPr>
      </p:pic>
      <p:sp>
        <p:nvSpPr>
          <p:cNvPr id="532" name="Google Shape;532;p32"/>
          <p:cNvSpPr txBox="1"/>
          <p:nvPr/>
        </p:nvSpPr>
        <p:spPr>
          <a:xfrm>
            <a:off x="228600" y="1219200"/>
            <a:ext cx="5486400"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Structures:</a:t>
            </a:r>
            <a:r>
              <a:rPr b="0" i="0" lang="en-US" sz="3200" u="none" cap="none" strike="noStrike">
                <a:solidFill>
                  <a:schemeClr val="dk1"/>
                </a:solidFill>
                <a:latin typeface="Times New Roman"/>
                <a:ea typeface="Times New Roman"/>
                <a:cs typeface="Times New Roman"/>
                <a:sym typeface="Times New Roman"/>
              </a:rPr>
              <a:t> Skeletal muscle, smooth muscle, cardiac muscle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Function:</a:t>
            </a:r>
            <a:r>
              <a:rPr b="0" i="0" lang="en-US" sz="3200" u="none" cap="none" strike="noStrike">
                <a:solidFill>
                  <a:schemeClr val="dk1"/>
                </a:solidFill>
                <a:latin typeface="Times New Roman"/>
                <a:ea typeface="Times New Roman"/>
                <a:cs typeface="Times New Roman"/>
                <a:sym typeface="Times New Roman"/>
              </a:rPr>
              <a:t>  Works with skeletal system to produce voluntary movement; helps circulate blood and move food through the digestive system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3"/>
          <p:cNvSpPr txBox="1"/>
          <p:nvPr/>
        </p:nvSpPr>
        <p:spPr>
          <a:xfrm>
            <a:off x="304800" y="228600"/>
            <a:ext cx="8839200"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sng" cap="none" strike="noStrike">
                <a:solidFill>
                  <a:schemeClr val="dk1"/>
                </a:solidFill>
                <a:latin typeface="Times New Roman"/>
                <a:ea typeface="Times New Roman"/>
                <a:cs typeface="Times New Roman"/>
                <a:sym typeface="Times New Roman"/>
              </a:rPr>
              <a:t>The Muscular System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More than 40% of the average human is muscle.  Muscles are involved in both voluntary actions and involuntary actions.  Three types of muscles cells are: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2800"/>
              <a:buFont typeface="Times New Roman"/>
              <a:buChar char="•"/>
            </a:pPr>
            <a:r>
              <a:rPr b="0" i="0" lang="en-US" sz="2800" u="sng" cap="none" strike="noStrike">
                <a:solidFill>
                  <a:schemeClr val="dk1"/>
                </a:solidFill>
                <a:latin typeface="Times New Roman"/>
                <a:ea typeface="Times New Roman"/>
                <a:cs typeface="Times New Roman"/>
                <a:sym typeface="Times New Roman"/>
              </a:rPr>
              <a:t>Skeletal</a:t>
            </a:r>
            <a:r>
              <a:rPr b="0" i="0" lang="en-US" sz="2800" u="none" cap="none" strike="noStrike">
                <a:solidFill>
                  <a:schemeClr val="dk1"/>
                </a:solidFill>
                <a:latin typeface="Times New Roman"/>
                <a:ea typeface="Times New Roman"/>
                <a:cs typeface="Times New Roman"/>
                <a:sym typeface="Times New Roman"/>
              </a:rPr>
              <a:t> – Attached to bones for voluntary actions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2800"/>
              <a:buFont typeface="Times New Roman"/>
              <a:buChar char="•"/>
            </a:pPr>
            <a:r>
              <a:rPr b="0" i="0" lang="en-US" sz="2800" u="sng" cap="none" strike="noStrike">
                <a:solidFill>
                  <a:schemeClr val="dk1"/>
                </a:solidFill>
                <a:latin typeface="Times New Roman"/>
                <a:ea typeface="Times New Roman"/>
                <a:cs typeface="Times New Roman"/>
                <a:sym typeface="Times New Roman"/>
              </a:rPr>
              <a:t>Smooth</a:t>
            </a:r>
            <a:r>
              <a:rPr b="0" i="0" lang="en-US" sz="2800" u="none" cap="none" strike="noStrike">
                <a:solidFill>
                  <a:schemeClr val="dk1"/>
                </a:solidFill>
                <a:latin typeface="Times New Roman"/>
                <a:ea typeface="Times New Roman"/>
                <a:cs typeface="Times New Roman"/>
                <a:sym typeface="Times New Roman"/>
              </a:rPr>
              <a:t> – Found in body`s visceral organs e.g  digestive tract and the blood vessels to move food and blood.  	Control involuntary actions (you do not decide for them to work)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2800"/>
              <a:buFont typeface="Times New Roman"/>
              <a:buChar char="•"/>
            </a:pPr>
            <a:r>
              <a:rPr b="0" i="0" lang="en-US" sz="2800" u="sng" cap="none" strike="noStrike">
                <a:solidFill>
                  <a:schemeClr val="dk1"/>
                </a:solidFill>
                <a:latin typeface="Times New Roman"/>
                <a:ea typeface="Times New Roman"/>
                <a:cs typeface="Times New Roman"/>
                <a:sym typeface="Times New Roman"/>
              </a:rPr>
              <a:t>Cardiac</a:t>
            </a:r>
            <a:r>
              <a:rPr b="0" i="0" lang="en-US" sz="2800" u="none" cap="none" strike="noStrike">
                <a:solidFill>
                  <a:schemeClr val="dk1"/>
                </a:solidFill>
                <a:latin typeface="Times New Roman"/>
                <a:ea typeface="Times New Roman"/>
                <a:cs typeface="Times New Roman"/>
                <a:sym typeface="Times New Roman"/>
              </a:rPr>
              <a:t> – Heart muscle cells are involuntary.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34"/>
          <p:cNvSpPr/>
          <p:nvPr/>
        </p:nvSpPr>
        <p:spPr>
          <a:xfrm>
            <a:off x="152400" y="152400"/>
            <a:ext cx="66103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Times New Roman"/>
                <a:ea typeface="Times New Roman"/>
                <a:cs typeface="Times New Roman"/>
                <a:sym typeface="Times New Roman"/>
              </a:rPr>
              <a:t>10. </a:t>
            </a:r>
            <a:r>
              <a:rPr b="1" i="0" lang="en-US" sz="3600" u="none" cap="none" strike="noStrike">
                <a:solidFill>
                  <a:srgbClr val="0070C0"/>
                </a:solidFill>
                <a:latin typeface="Times New Roman"/>
                <a:ea typeface="Times New Roman"/>
                <a:cs typeface="Times New Roman"/>
                <a:sym typeface="Times New Roman"/>
              </a:rPr>
              <a:t>Integumentary System (Skin)</a:t>
            </a:r>
            <a:endParaRPr b="0" i="0" sz="1400" u="none" cap="none" strike="noStrike">
              <a:solidFill>
                <a:srgbClr val="000000"/>
              </a:solidFill>
              <a:latin typeface="Arial"/>
              <a:ea typeface="Arial"/>
              <a:cs typeface="Arial"/>
              <a:sym typeface="Arial"/>
            </a:endParaRPr>
          </a:p>
        </p:txBody>
      </p:sp>
      <p:pic>
        <p:nvPicPr>
          <p:cNvPr descr="integumentary" id="543" name="Google Shape;543;p34"/>
          <p:cNvPicPr preferRelativeResize="0"/>
          <p:nvPr/>
        </p:nvPicPr>
        <p:blipFill rotWithShape="1">
          <a:blip r:embed="rId3">
            <a:alphaModFix/>
          </a:blip>
          <a:srcRect b="0" l="0" r="0" t="0"/>
          <a:stretch/>
        </p:blipFill>
        <p:spPr>
          <a:xfrm>
            <a:off x="6172200" y="1447800"/>
            <a:ext cx="2971800" cy="1141413"/>
          </a:xfrm>
          <a:prstGeom prst="rect">
            <a:avLst/>
          </a:prstGeom>
          <a:noFill/>
          <a:ln>
            <a:noFill/>
          </a:ln>
        </p:spPr>
      </p:pic>
      <p:sp>
        <p:nvSpPr>
          <p:cNvPr id="544" name="Google Shape;544;p34"/>
          <p:cNvSpPr txBox="1"/>
          <p:nvPr/>
        </p:nvSpPr>
        <p:spPr>
          <a:xfrm>
            <a:off x="228600" y="855663"/>
            <a:ext cx="8915400"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sng" cap="none" strike="noStrike">
                <a:solidFill>
                  <a:schemeClr val="dk1"/>
                </a:solidFill>
                <a:latin typeface="Times New Roman"/>
                <a:ea typeface="Times New Roman"/>
                <a:cs typeface="Times New Roman"/>
                <a:sym typeface="Times New Roman"/>
              </a:rPr>
              <a:t>Structures:</a:t>
            </a:r>
            <a:r>
              <a:rPr b="0" i="0" lang="en-US" sz="2800" u="none" cap="none" strike="noStrike">
                <a:solidFill>
                  <a:schemeClr val="dk1"/>
                </a:solidFill>
                <a:latin typeface="Times New Roman"/>
                <a:ea typeface="Times New Roman"/>
                <a:cs typeface="Times New Roman"/>
                <a:sym typeface="Times New Roman"/>
              </a:rPr>
              <a:t>  Skin, Hair, Nails, Sweat and Oil Glands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2800"/>
              <a:buFont typeface="Arial"/>
              <a:buNone/>
            </a:pPr>
            <a:r>
              <a:rPr b="1" i="0" lang="en-US" sz="2800" u="sng" cap="none" strike="noStrike">
                <a:solidFill>
                  <a:schemeClr val="dk1"/>
                </a:solidFill>
                <a:latin typeface="Times New Roman"/>
                <a:ea typeface="Times New Roman"/>
                <a:cs typeface="Times New Roman"/>
                <a:sym typeface="Times New Roman"/>
              </a:rPr>
              <a:t>Functions:</a:t>
            </a:r>
            <a:r>
              <a:rPr b="0" i="0" lang="en-US" sz="28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Serves as a barrier against infection and injury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 Helps regulate body temperature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 removes excess salts and water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 Protects internal cells from UV radiation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 Serves as one link between the nervous system and the environment (receives information on pressure, temperature, pain)</a:t>
            </a:r>
            <a:endParaRPr b="0" i="0" sz="1400" u="none" cap="none" strike="noStrike">
              <a:solidFill>
                <a:srgbClr val="000000"/>
              </a:solidFill>
              <a:latin typeface="Arial"/>
              <a:ea typeface="Arial"/>
              <a:cs typeface="Arial"/>
              <a:sym typeface="Arial"/>
            </a:endParaRPr>
          </a:p>
        </p:txBody>
      </p:sp>
      <p:pic>
        <p:nvPicPr>
          <p:cNvPr descr="sunbathing" id="545" name="Google Shape;545;p34"/>
          <p:cNvPicPr preferRelativeResize="0"/>
          <p:nvPr/>
        </p:nvPicPr>
        <p:blipFill rotWithShape="1">
          <a:blip r:embed="rId4">
            <a:alphaModFix/>
          </a:blip>
          <a:srcRect b="0" l="0" r="0" t="0"/>
          <a:stretch/>
        </p:blipFill>
        <p:spPr>
          <a:xfrm>
            <a:off x="7543800" y="2971800"/>
            <a:ext cx="1600200" cy="178276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35"/>
          <p:cNvSpPr txBox="1"/>
          <p:nvPr/>
        </p:nvSpPr>
        <p:spPr>
          <a:xfrm>
            <a:off x="0" y="476672"/>
            <a:ext cx="6477000" cy="58631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dk1"/>
                </a:solidFill>
                <a:latin typeface="Times New Roman"/>
                <a:ea typeface="Times New Roman"/>
                <a:cs typeface="Times New Roman"/>
                <a:sym typeface="Times New Roman"/>
              </a:rPr>
              <a:t>Hair and Nails</a:t>
            </a:r>
            <a:r>
              <a:rPr b="0" i="0" lang="en-US" sz="3000" u="none" cap="none" strike="noStrike">
                <a:solidFill>
                  <a:schemeClr val="dk1"/>
                </a:solidFill>
                <a:latin typeface="Times New Roman"/>
                <a:ea typeface="Times New Roman"/>
                <a:cs typeface="Times New Roman"/>
                <a:sym typeface="Times New Roman"/>
              </a:rPr>
              <a:t> are made up of a substance known as </a:t>
            </a:r>
            <a:r>
              <a:rPr b="1" i="0" lang="en-US" sz="3000" u="none" cap="none" strike="noStrike">
                <a:solidFill>
                  <a:schemeClr val="dk1"/>
                </a:solidFill>
                <a:latin typeface="Times New Roman"/>
                <a:ea typeface="Times New Roman"/>
                <a:cs typeface="Times New Roman"/>
                <a:sym typeface="Times New Roman"/>
              </a:rPr>
              <a:t>keratin</a:t>
            </a:r>
            <a:r>
              <a:rPr b="0" i="0" lang="en-US" sz="3000" u="none" cap="none" strike="noStrike">
                <a:solidFill>
                  <a:schemeClr val="dk1"/>
                </a:solidFill>
                <a:latin typeface="Times New Roman"/>
                <a:ea typeface="Times New Roman"/>
                <a:cs typeface="Times New Roman"/>
                <a:sym typeface="Times New Roman"/>
              </a:rPr>
              <a:t>.  They are both used to protect the skin from damage: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500"/>
              </a:spcBef>
              <a:spcAft>
                <a:spcPts val="0"/>
              </a:spcAft>
              <a:buClr>
                <a:schemeClr val="dk1"/>
              </a:buClr>
              <a:buSzPts val="3000"/>
              <a:buFont typeface="Times New Roman"/>
              <a:buChar char="•"/>
            </a:pPr>
            <a:r>
              <a:rPr b="0" i="0" lang="en-US" sz="3000" u="none" cap="none" strike="noStrike">
                <a:solidFill>
                  <a:schemeClr val="dk1"/>
                </a:solidFill>
                <a:latin typeface="Times New Roman"/>
                <a:ea typeface="Times New Roman"/>
                <a:cs typeface="Times New Roman"/>
                <a:sym typeface="Times New Roman"/>
              </a:rPr>
              <a:t> Fingernails and toe nails protect the tips of your toes and fingers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500"/>
              </a:spcBef>
              <a:spcAft>
                <a:spcPts val="0"/>
              </a:spcAft>
              <a:buClr>
                <a:schemeClr val="dk1"/>
              </a:buClr>
              <a:buSzPts val="3000"/>
              <a:buFont typeface="Times New Roman"/>
              <a:buChar char="•"/>
            </a:pPr>
            <a:r>
              <a:rPr b="0" i="0" lang="en-US" sz="3000" u="none" cap="none" strike="noStrike">
                <a:solidFill>
                  <a:schemeClr val="dk1"/>
                </a:solidFill>
                <a:latin typeface="Times New Roman"/>
                <a:ea typeface="Times New Roman"/>
                <a:cs typeface="Times New Roman"/>
                <a:sym typeface="Times New Roman"/>
              </a:rPr>
              <a:t>Hair on your head protects from UV rays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500"/>
              </a:spcBef>
              <a:spcAft>
                <a:spcPts val="0"/>
              </a:spcAft>
              <a:buClr>
                <a:schemeClr val="dk1"/>
              </a:buClr>
              <a:buSzPts val="3000"/>
              <a:buFont typeface="Times New Roman"/>
              <a:buChar char="•"/>
            </a:pPr>
            <a:r>
              <a:rPr b="0" i="0" lang="en-US" sz="3000" u="none" cap="none" strike="noStrike">
                <a:solidFill>
                  <a:schemeClr val="dk1"/>
                </a:solidFill>
                <a:latin typeface="Times New Roman"/>
                <a:ea typeface="Times New Roman"/>
                <a:cs typeface="Times New Roman"/>
                <a:sym typeface="Times New Roman"/>
              </a:rPr>
              <a:t>Eyelashes, Nose Hair and Ear Hair prevent dirt and other particles from entering the body.</a:t>
            </a:r>
            <a:endParaRPr b="0" i="0" sz="1400" u="none" cap="none" strike="noStrike">
              <a:solidFill>
                <a:srgbClr val="000000"/>
              </a:solidFill>
              <a:latin typeface="Arial"/>
              <a:ea typeface="Arial"/>
              <a:cs typeface="Arial"/>
              <a:sym typeface="Arial"/>
            </a:endParaRPr>
          </a:p>
        </p:txBody>
      </p:sp>
      <p:pic>
        <p:nvPicPr>
          <p:cNvPr descr="04_21120" id="551" name="Google Shape;551;p35">
            <a:hlinkClick r:id="rId3"/>
          </p:cNvPr>
          <p:cNvPicPr preferRelativeResize="0"/>
          <p:nvPr/>
        </p:nvPicPr>
        <p:blipFill rotWithShape="1">
          <a:blip r:embed="rId4">
            <a:alphaModFix/>
          </a:blip>
          <a:srcRect b="0" l="0" r="0" t="0"/>
          <a:stretch/>
        </p:blipFill>
        <p:spPr>
          <a:xfrm>
            <a:off x="6448742" y="2132856"/>
            <a:ext cx="2626995" cy="3974465"/>
          </a:xfrm>
          <a:prstGeom prst="rect">
            <a:avLst/>
          </a:prstGeom>
          <a:noFill/>
          <a:ln>
            <a:noFill/>
          </a:ln>
        </p:spPr>
      </p:pic>
      <p:pic>
        <p:nvPicPr>
          <p:cNvPr descr="Fingernails" id="552" name="Google Shape;552;p35">
            <a:hlinkClick r:id="rId5"/>
          </p:cNvPr>
          <p:cNvPicPr preferRelativeResize="0"/>
          <p:nvPr/>
        </p:nvPicPr>
        <p:blipFill rotWithShape="1">
          <a:blip r:embed="rId6">
            <a:alphaModFix/>
          </a:blip>
          <a:srcRect b="0" l="0" r="0" t="0"/>
          <a:stretch/>
        </p:blipFill>
        <p:spPr>
          <a:xfrm>
            <a:off x="6505257" y="116632"/>
            <a:ext cx="2570480" cy="16827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pic>
        <p:nvPicPr>
          <p:cNvPr descr="FemaleReproductiveSystem" id="557" name="Google Shape;557;p36"/>
          <p:cNvPicPr preferRelativeResize="0"/>
          <p:nvPr/>
        </p:nvPicPr>
        <p:blipFill rotWithShape="1">
          <a:blip r:embed="rId3">
            <a:alphaModFix/>
          </a:blip>
          <a:srcRect b="0" l="0" r="0" t="0"/>
          <a:stretch/>
        </p:blipFill>
        <p:spPr>
          <a:xfrm>
            <a:off x="5334000" y="260648"/>
            <a:ext cx="3737932" cy="3541872"/>
          </a:xfrm>
          <a:prstGeom prst="rect">
            <a:avLst/>
          </a:prstGeom>
          <a:noFill/>
          <a:ln>
            <a:noFill/>
          </a:ln>
        </p:spPr>
      </p:pic>
      <p:pic>
        <p:nvPicPr>
          <p:cNvPr descr="brochur2c" id="558" name="Google Shape;558;p36"/>
          <p:cNvPicPr preferRelativeResize="0"/>
          <p:nvPr/>
        </p:nvPicPr>
        <p:blipFill rotWithShape="1">
          <a:blip r:embed="rId4">
            <a:alphaModFix/>
          </a:blip>
          <a:srcRect b="0" l="0" r="0" t="0"/>
          <a:stretch/>
        </p:blipFill>
        <p:spPr>
          <a:xfrm>
            <a:off x="6012160" y="3802520"/>
            <a:ext cx="2588840" cy="2575654"/>
          </a:xfrm>
          <a:prstGeom prst="rect">
            <a:avLst/>
          </a:prstGeom>
          <a:noFill/>
          <a:ln>
            <a:noFill/>
          </a:ln>
        </p:spPr>
      </p:pic>
      <p:sp>
        <p:nvSpPr>
          <p:cNvPr id="559" name="Google Shape;559;p36"/>
          <p:cNvSpPr txBox="1"/>
          <p:nvPr/>
        </p:nvSpPr>
        <p:spPr>
          <a:xfrm>
            <a:off x="0" y="609600"/>
            <a:ext cx="5334000" cy="46166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Structures: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2800"/>
              <a:buFont typeface="Arial"/>
              <a:buNone/>
            </a:pPr>
            <a:r>
              <a:rPr b="1" i="0" lang="en-US" sz="2800" u="sng" cap="none" strike="noStrike">
                <a:solidFill>
                  <a:schemeClr val="dk1"/>
                </a:solidFill>
                <a:latin typeface="Times New Roman"/>
                <a:ea typeface="Times New Roman"/>
                <a:cs typeface="Times New Roman"/>
                <a:sym typeface="Times New Roman"/>
              </a:rPr>
              <a:t>Female</a:t>
            </a:r>
            <a:r>
              <a:rPr b="0" i="0" lang="en-US" sz="2800" u="none" cap="none" strike="noStrike">
                <a:solidFill>
                  <a:schemeClr val="dk1"/>
                </a:solidFill>
                <a:latin typeface="Times New Roman"/>
                <a:ea typeface="Times New Roman"/>
                <a:cs typeface="Times New Roman"/>
                <a:sym typeface="Times New Roman"/>
              </a:rPr>
              <a:t>- Uterus, Fallopian tubes, ovary, cervical canal, cervix, vagina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2800"/>
              <a:buFont typeface="Arial"/>
              <a:buNone/>
            </a:pPr>
            <a:r>
              <a:rPr b="1" i="0" lang="en-US" sz="2800" u="sng" cap="none" strike="noStrike">
                <a:solidFill>
                  <a:schemeClr val="dk1"/>
                </a:solidFill>
                <a:latin typeface="Times New Roman"/>
                <a:ea typeface="Times New Roman"/>
                <a:cs typeface="Times New Roman"/>
                <a:sym typeface="Times New Roman"/>
              </a:rPr>
              <a:t>Male</a:t>
            </a:r>
            <a:r>
              <a:rPr b="0" i="0" lang="en-US" sz="2800" u="sng" cap="none" strike="noStrike">
                <a:solidFill>
                  <a:schemeClr val="dk1"/>
                </a:solidFill>
                <a:latin typeface="Times New Roman"/>
                <a:ea typeface="Times New Roman"/>
                <a:cs typeface="Times New Roman"/>
                <a:sym typeface="Times New Roman"/>
              </a:rPr>
              <a:t> </a:t>
            </a:r>
            <a:r>
              <a:rPr b="0" i="0" lang="en-US" sz="2800" u="none" cap="none" strike="noStrike">
                <a:solidFill>
                  <a:schemeClr val="dk1"/>
                </a:solidFill>
                <a:latin typeface="Times New Roman"/>
                <a:ea typeface="Times New Roman"/>
                <a:cs typeface="Times New Roman"/>
                <a:sym typeface="Times New Roman"/>
              </a:rPr>
              <a:t>– Penis, Vas Deferens, Prostate, Epididymis, Testes, Scrotal Sac, Seminal Vesicle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2800"/>
              <a:buFont typeface="Arial"/>
              <a:buNone/>
            </a:pPr>
            <a:r>
              <a:rPr b="1" i="0" lang="en-US" sz="2800" u="sng" cap="none" strike="noStrike">
                <a:solidFill>
                  <a:schemeClr val="dk1"/>
                </a:solidFill>
                <a:latin typeface="Times New Roman"/>
                <a:ea typeface="Times New Roman"/>
                <a:cs typeface="Times New Roman"/>
                <a:sym typeface="Times New Roman"/>
              </a:rPr>
              <a:t>Function</a:t>
            </a:r>
            <a:r>
              <a:rPr b="0" i="0" lang="en-US" sz="2800" u="none" cap="none" strike="noStrike">
                <a:solidFill>
                  <a:schemeClr val="dk1"/>
                </a:solidFill>
                <a:latin typeface="Times New Roman"/>
                <a:ea typeface="Times New Roman"/>
                <a:cs typeface="Times New Roman"/>
                <a:sym typeface="Times New Roman"/>
              </a:rPr>
              <a:t>: Produces reproductive cells; in females nurtures and protects developing embryo</a:t>
            </a:r>
            <a:endParaRPr b="0" i="0" sz="1400" u="none" cap="none" strike="noStrike">
              <a:solidFill>
                <a:srgbClr val="000000"/>
              </a:solidFill>
              <a:latin typeface="Arial"/>
              <a:ea typeface="Arial"/>
              <a:cs typeface="Arial"/>
              <a:sym typeface="Arial"/>
            </a:endParaRPr>
          </a:p>
        </p:txBody>
      </p:sp>
      <p:sp>
        <p:nvSpPr>
          <p:cNvPr id="560" name="Google Shape;560;p36"/>
          <p:cNvSpPr/>
          <p:nvPr/>
        </p:nvSpPr>
        <p:spPr>
          <a:xfrm>
            <a:off x="0" y="0"/>
            <a:ext cx="56388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sng" cap="none" strike="noStrike">
                <a:solidFill>
                  <a:schemeClr val="dk1"/>
                </a:solidFill>
                <a:latin typeface="Times New Roman"/>
                <a:ea typeface="Times New Roman"/>
                <a:cs typeface="Times New Roman"/>
                <a:sym typeface="Times New Roman"/>
              </a:rPr>
              <a:t>11. </a:t>
            </a:r>
            <a:r>
              <a:rPr b="1" i="0" lang="en-US" sz="3600" u="sng" cap="none" strike="noStrike">
                <a:solidFill>
                  <a:srgbClr val="008080"/>
                </a:solidFill>
                <a:latin typeface="Times New Roman"/>
                <a:ea typeface="Times New Roman"/>
                <a:cs typeface="Times New Roman"/>
                <a:sym typeface="Times New Roman"/>
              </a:rPr>
              <a:t>Reproductive System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7"/>
          <p:cNvSpPr txBox="1"/>
          <p:nvPr/>
        </p:nvSpPr>
        <p:spPr>
          <a:xfrm>
            <a:off x="228600" y="228600"/>
            <a:ext cx="8953500" cy="52322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sng" cap="none" strike="noStrike">
                <a:solidFill>
                  <a:schemeClr val="dk1"/>
                </a:solidFill>
                <a:latin typeface="Times New Roman"/>
                <a:ea typeface="Times New Roman"/>
                <a:cs typeface="Times New Roman"/>
                <a:sym typeface="Times New Roman"/>
              </a:rPr>
              <a:t>All Our body system are working together to carry out all needed life functions in a coordinated way</a:t>
            </a:r>
            <a:r>
              <a:rPr b="0" i="0" lang="en-US" sz="3200" u="sng"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40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Human Body Regulate all these body systems and make them work together with the help of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        Nervous System</a:t>
            </a:r>
            <a:r>
              <a:rPr b="0" i="0" lang="en-US" sz="2800" u="none" cap="none" strike="noStrike">
                <a:solidFill>
                  <a:schemeClr val="dk1"/>
                </a:solidFill>
                <a:latin typeface="Times New Roman"/>
                <a:ea typeface="Times New Roman"/>
                <a:cs typeface="Times New Roman"/>
                <a:sym typeface="Times New Roman"/>
              </a:rPr>
              <a:t> &amp; </a:t>
            </a:r>
            <a:r>
              <a:rPr b="1" i="0" lang="en-US" sz="2800" u="none" cap="none" strike="noStrike">
                <a:solidFill>
                  <a:schemeClr val="dk1"/>
                </a:solidFill>
                <a:latin typeface="Times New Roman"/>
                <a:ea typeface="Times New Roman"/>
                <a:cs typeface="Times New Roman"/>
                <a:sym typeface="Times New Roman"/>
              </a:rPr>
              <a:t>Endocrine System</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40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The </a:t>
            </a:r>
            <a:r>
              <a:rPr b="1" i="0" lang="en-US" sz="2800" u="none" cap="none" strike="noStrike">
                <a:solidFill>
                  <a:schemeClr val="dk1"/>
                </a:solidFill>
                <a:latin typeface="Times New Roman"/>
                <a:ea typeface="Times New Roman"/>
                <a:cs typeface="Times New Roman"/>
                <a:sym typeface="Times New Roman"/>
              </a:rPr>
              <a:t>Respiratory System</a:t>
            </a:r>
            <a:r>
              <a:rPr b="0" i="0" lang="en-US" sz="2800" u="none" cap="none" strike="noStrike">
                <a:solidFill>
                  <a:schemeClr val="dk1"/>
                </a:solidFill>
                <a:latin typeface="Times New Roman"/>
                <a:ea typeface="Times New Roman"/>
                <a:cs typeface="Times New Roman"/>
                <a:sym typeface="Times New Roman"/>
              </a:rPr>
              <a:t> links to the </a:t>
            </a:r>
            <a:r>
              <a:rPr b="1" i="0" lang="en-US" sz="2800" u="none" cap="none" strike="noStrike">
                <a:solidFill>
                  <a:schemeClr val="dk1"/>
                </a:solidFill>
                <a:latin typeface="Times New Roman"/>
                <a:ea typeface="Times New Roman"/>
                <a:cs typeface="Times New Roman"/>
                <a:sym typeface="Times New Roman"/>
              </a:rPr>
              <a:t>Circulatory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    System</a:t>
            </a:r>
            <a:r>
              <a:rPr b="0" i="0" lang="en-US" sz="2800" u="none" cap="none" strike="noStrike">
                <a:solidFill>
                  <a:schemeClr val="dk1"/>
                </a:solidFill>
                <a:latin typeface="Times New Roman"/>
                <a:ea typeface="Times New Roman"/>
                <a:cs typeface="Times New Roman"/>
                <a:sym typeface="Times New Roman"/>
              </a:rPr>
              <a:t> to provide cells with oxygen and remove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     carbon dioxide.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38"/>
          <p:cNvSpPr txBox="1"/>
          <p:nvPr/>
        </p:nvSpPr>
        <p:spPr>
          <a:xfrm>
            <a:off x="228600" y="228600"/>
            <a:ext cx="8534400" cy="1004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71" name="Google Shape;571;p38"/>
          <p:cNvSpPr txBox="1"/>
          <p:nvPr/>
        </p:nvSpPr>
        <p:spPr>
          <a:xfrm>
            <a:off x="228600" y="304800"/>
            <a:ext cx="8458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72" name="Google Shape;572;p38"/>
          <p:cNvSpPr txBox="1"/>
          <p:nvPr/>
        </p:nvSpPr>
        <p:spPr>
          <a:xfrm>
            <a:off x="0" y="457200"/>
            <a:ext cx="6248400" cy="2554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We move from place to place and have the ability to run, blink or build things </a:t>
            </a:r>
            <a:r>
              <a:rPr b="1" i="0" lang="en-US" sz="2800" u="none" cap="none" strike="noStrike">
                <a:solidFill>
                  <a:schemeClr val="dk1"/>
                </a:solidFill>
                <a:latin typeface="Times New Roman"/>
                <a:ea typeface="Times New Roman"/>
                <a:cs typeface="Times New Roman"/>
                <a:sym typeface="Times New Roman"/>
              </a:rPr>
              <a:t>. . . . . </a:t>
            </a:r>
            <a:r>
              <a:rPr b="0" i="0" lang="en-US" sz="2800" u="none" cap="none" strike="noStrike">
                <a:solidFill>
                  <a:schemeClr val="dk1"/>
                </a:solidFill>
                <a:latin typeface="Times New Roman"/>
                <a:ea typeface="Times New Roman"/>
                <a:cs typeface="Times New Roman"/>
                <a:sym typeface="Times New Roman"/>
              </a:rPr>
              <a:t>These things are all made possible by the skeletal and muscular systems.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pic>
        <p:nvPicPr>
          <p:cNvPr descr="runner" id="573" name="Google Shape;573;p38">
            <a:hlinkClick r:id="rId3"/>
          </p:cNvPr>
          <p:cNvPicPr preferRelativeResize="0"/>
          <p:nvPr/>
        </p:nvPicPr>
        <p:blipFill rotWithShape="1">
          <a:blip r:embed="rId4">
            <a:alphaModFix/>
          </a:blip>
          <a:srcRect b="0" l="0" r="0" t="0"/>
          <a:stretch/>
        </p:blipFill>
        <p:spPr>
          <a:xfrm>
            <a:off x="6096000" y="152400"/>
            <a:ext cx="3048000" cy="2432050"/>
          </a:xfrm>
          <a:prstGeom prst="rect">
            <a:avLst/>
          </a:prstGeom>
          <a:noFill/>
          <a:ln>
            <a:noFill/>
          </a:ln>
        </p:spPr>
      </p:pic>
      <p:sp>
        <p:nvSpPr>
          <p:cNvPr id="574" name="Google Shape;574;p38"/>
          <p:cNvSpPr txBox="1"/>
          <p:nvPr/>
        </p:nvSpPr>
        <p:spPr>
          <a:xfrm>
            <a:off x="228600" y="3124200"/>
            <a:ext cx="8458200" cy="138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The </a:t>
            </a:r>
            <a:r>
              <a:rPr b="1" i="0" lang="en-US" sz="2800" u="none" cap="none" strike="noStrike">
                <a:solidFill>
                  <a:schemeClr val="dk1"/>
                </a:solidFill>
                <a:latin typeface="Times New Roman"/>
                <a:ea typeface="Times New Roman"/>
                <a:cs typeface="Times New Roman"/>
                <a:sym typeface="Times New Roman"/>
              </a:rPr>
              <a:t>Digestive and Excretory Systems</a:t>
            </a:r>
            <a:r>
              <a:rPr b="0" i="0" lang="en-US" sz="2800" u="none" cap="none" strike="noStrike">
                <a:solidFill>
                  <a:schemeClr val="dk1"/>
                </a:solidFill>
                <a:latin typeface="Times New Roman"/>
                <a:ea typeface="Times New Roman"/>
                <a:cs typeface="Times New Roman"/>
                <a:sym typeface="Times New Roman"/>
              </a:rPr>
              <a:t> together are responsible for bringing in food and getting rid of the leftovers. </a:t>
            </a:r>
            <a:endParaRPr b="0" i="0" sz="1400" u="none" cap="none" strike="noStrike">
              <a:solidFill>
                <a:srgbClr val="000000"/>
              </a:solidFill>
              <a:latin typeface="Arial"/>
              <a:ea typeface="Arial"/>
              <a:cs typeface="Arial"/>
              <a:sym typeface="Arial"/>
            </a:endParaRPr>
          </a:p>
        </p:txBody>
      </p:sp>
      <p:pic>
        <p:nvPicPr>
          <p:cNvPr descr="a7_baby_highchair" id="575" name="Google Shape;575;p38"/>
          <p:cNvPicPr preferRelativeResize="0"/>
          <p:nvPr/>
        </p:nvPicPr>
        <p:blipFill rotWithShape="1">
          <a:blip r:embed="rId5">
            <a:alphaModFix/>
          </a:blip>
          <a:srcRect b="0" l="0" r="0" t="0"/>
          <a:stretch/>
        </p:blipFill>
        <p:spPr>
          <a:xfrm>
            <a:off x="5374481" y="4183364"/>
            <a:ext cx="1443038" cy="2317750"/>
          </a:xfrm>
          <a:prstGeom prst="rect">
            <a:avLst/>
          </a:prstGeom>
          <a:noFill/>
          <a:ln>
            <a:noFill/>
          </a:ln>
        </p:spPr>
      </p:pic>
      <p:pic>
        <p:nvPicPr>
          <p:cNvPr descr="B0001LQJXA" id="576" name="Google Shape;576;p38">
            <a:hlinkClick r:id="rId6"/>
          </p:cNvPr>
          <p:cNvPicPr preferRelativeResize="0"/>
          <p:nvPr/>
        </p:nvPicPr>
        <p:blipFill rotWithShape="1">
          <a:blip r:embed="rId7">
            <a:alphaModFix/>
          </a:blip>
          <a:srcRect b="0" l="0" r="0" t="0"/>
          <a:stretch/>
        </p:blipFill>
        <p:spPr>
          <a:xfrm>
            <a:off x="7001256" y="4687185"/>
            <a:ext cx="1828800" cy="146526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39"/>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Scope and Relevance of Physiology to Dentistry</a:t>
            </a:r>
            <a:endParaRPr/>
          </a:p>
        </p:txBody>
      </p:sp>
      <p:sp>
        <p:nvSpPr>
          <p:cNvPr id="582" name="Google Shape;582;p39"/>
          <p:cNvSpPr txBox="1"/>
          <p:nvPr/>
        </p:nvSpPr>
        <p:spPr>
          <a:xfrm>
            <a:off x="694684" y="1844824"/>
            <a:ext cx="7653020" cy="358394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Physiology</a:t>
            </a:r>
            <a:r>
              <a:rPr b="0" i="0" lang="en-US" sz="2800" u="none" cap="none" strike="noStrike">
                <a:solidFill>
                  <a:schemeClr val="dk1"/>
                </a:solidFill>
                <a:latin typeface="Times New Roman"/>
                <a:ea typeface="Times New Roman"/>
                <a:cs typeface="Times New Roman"/>
                <a:sym typeface="Times New Roman"/>
              </a:rPr>
              <a:t> is the branch of science that deals with the normal functions of the human body.</a:t>
            </a:r>
            <a:endParaRPr b="0" i="0" sz="1400" u="none" cap="none" strike="noStrike">
              <a:solidFill>
                <a:srgbClr val="000000"/>
              </a:solidFill>
              <a:latin typeface="Arial"/>
              <a:ea typeface="Arial"/>
              <a:cs typeface="Arial"/>
              <a:sym typeface="Arial"/>
            </a:endParaRPr>
          </a:p>
          <a:p>
            <a:pPr indent="0" lvl="0" marL="0" marR="0" rtl="0" algn="l">
              <a:lnSpc>
                <a:spcPct val="107000"/>
              </a:lnSpc>
              <a:spcBef>
                <a:spcPts val="80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 In dentistry, physiology provides the fundamental understanding required to diagnose, treat, and prevent oral and systemic diseases.</a:t>
            </a:r>
            <a:endParaRPr b="0" i="0" sz="1400" u="none" cap="none" strike="noStrike">
              <a:solidFill>
                <a:srgbClr val="000000"/>
              </a:solidFill>
              <a:latin typeface="Arial"/>
              <a:ea typeface="Arial"/>
              <a:cs typeface="Arial"/>
              <a:sym typeface="Arial"/>
            </a:endParaRPr>
          </a:p>
          <a:p>
            <a:pPr indent="0" lvl="0" marL="0" marR="0" rtl="0" algn="l">
              <a:lnSpc>
                <a:spcPct val="107000"/>
              </a:lnSpc>
              <a:spcBef>
                <a:spcPts val="80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In dentistry, understanding physiology is essential because dental practice deals directly with living tissues and their functions.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40"/>
          <p:cNvSpPr txBox="1"/>
          <p:nvPr/>
        </p:nvSpPr>
        <p:spPr>
          <a:xfrm>
            <a:off x="627380" y="344170"/>
            <a:ext cx="7596505" cy="609981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Scope of Physiology in Dentistry</a:t>
            </a:r>
            <a:endParaRPr b="0" i="0" sz="1400" u="none" cap="none" strike="noStrike">
              <a:solidFill>
                <a:srgbClr val="000000"/>
              </a:solidFill>
              <a:latin typeface="Arial"/>
              <a:ea typeface="Arial"/>
              <a:cs typeface="Arial"/>
              <a:sym typeface="Arial"/>
            </a:endParaRPr>
          </a:p>
          <a:p>
            <a:pPr indent="-228600" lvl="0" marL="914400" marR="0" rtl="0" algn="l">
              <a:lnSpc>
                <a:spcPct val="107000"/>
              </a:lnSpc>
              <a:spcBef>
                <a:spcPts val="500"/>
              </a:spcBef>
              <a:spcAft>
                <a:spcPts val="0"/>
              </a:spcAft>
              <a:buClr>
                <a:schemeClr val="dk1"/>
              </a:buClr>
              <a:buSzPts val="1800"/>
              <a:buFont typeface="Times New Roman"/>
              <a:buAutoNum type="arabicPeriod"/>
            </a:pPr>
            <a:r>
              <a:rPr b="1" i="0" lang="en-US" sz="1800" u="none" cap="none" strike="noStrike">
                <a:solidFill>
                  <a:schemeClr val="dk1"/>
                </a:solidFill>
                <a:latin typeface="Times New Roman"/>
                <a:ea typeface="Times New Roman"/>
                <a:cs typeface="Times New Roman"/>
                <a:sym typeface="Times New Roman"/>
              </a:rPr>
              <a:t>Oral and Dental Physiology</a:t>
            </a:r>
            <a:endParaRPr b="0" i="0" sz="1400" u="none" cap="none" strike="noStrike">
              <a:solidFill>
                <a:srgbClr val="000000"/>
              </a:solidFill>
              <a:latin typeface="Arial"/>
              <a:ea typeface="Arial"/>
              <a:cs typeface="Arial"/>
              <a:sym typeface="Arial"/>
            </a:endParaRPr>
          </a:p>
          <a:p>
            <a:pPr indent="0" lvl="1" marL="1600200" marR="0" rtl="0" algn="l">
              <a:lnSpc>
                <a:spcPct val="107000"/>
              </a:lnSpc>
              <a:spcBef>
                <a:spcPts val="1000"/>
              </a:spcBef>
              <a:spcAft>
                <a:spcPts val="0"/>
              </a:spcAft>
              <a:buClr>
                <a:schemeClr val="dk1"/>
              </a:buClr>
              <a:buSzPts val="1800"/>
              <a:buFont typeface="Courier New"/>
              <a:buNone/>
            </a:pPr>
            <a:r>
              <a:rPr b="0" i="0" lang="en-US" sz="1800" u="none" cap="none" strike="noStrike">
                <a:solidFill>
                  <a:schemeClr val="dk1"/>
                </a:solidFill>
                <a:latin typeface="Times New Roman"/>
                <a:ea typeface="Times New Roman"/>
                <a:cs typeface="Times New Roman"/>
                <a:sym typeface="Times New Roman"/>
              </a:rPr>
              <a:t>Structure and function of teeth, periodontium, oral mucosa, tongue, and salivary glands</a:t>
            </a:r>
            <a:endParaRPr b="0" i="0" sz="1400" u="none" cap="none" strike="noStrike">
              <a:solidFill>
                <a:srgbClr val="000000"/>
              </a:solidFill>
              <a:latin typeface="Arial"/>
              <a:ea typeface="Arial"/>
              <a:cs typeface="Arial"/>
              <a:sym typeface="Arial"/>
            </a:endParaRPr>
          </a:p>
          <a:p>
            <a:pPr indent="0" lvl="1" marL="1600200" marR="0" rtl="0" algn="l">
              <a:lnSpc>
                <a:spcPct val="107000"/>
              </a:lnSpc>
              <a:spcBef>
                <a:spcPts val="1000"/>
              </a:spcBef>
              <a:spcAft>
                <a:spcPts val="0"/>
              </a:spcAft>
              <a:buClr>
                <a:schemeClr val="dk1"/>
              </a:buClr>
              <a:buSzPts val="1800"/>
              <a:buFont typeface="Courier New"/>
              <a:buNone/>
            </a:pPr>
            <a:r>
              <a:rPr b="0" i="0" lang="en-US" sz="1800" u="none" cap="none" strike="noStrike">
                <a:solidFill>
                  <a:schemeClr val="dk1"/>
                </a:solidFill>
                <a:latin typeface="Times New Roman"/>
                <a:ea typeface="Times New Roman"/>
                <a:cs typeface="Times New Roman"/>
                <a:sym typeface="Times New Roman"/>
              </a:rPr>
              <a:t>Saliva formation, composition, and functions</a:t>
            </a:r>
            <a:endParaRPr b="0" i="0" sz="1400" u="none" cap="none" strike="noStrike">
              <a:solidFill>
                <a:srgbClr val="000000"/>
              </a:solidFill>
              <a:latin typeface="Arial"/>
              <a:ea typeface="Arial"/>
              <a:cs typeface="Arial"/>
              <a:sym typeface="Arial"/>
            </a:endParaRPr>
          </a:p>
          <a:p>
            <a:pPr indent="0" lvl="1" marL="1600200" marR="0" rtl="0" algn="l">
              <a:lnSpc>
                <a:spcPct val="107000"/>
              </a:lnSpc>
              <a:spcBef>
                <a:spcPts val="1000"/>
              </a:spcBef>
              <a:spcAft>
                <a:spcPts val="0"/>
              </a:spcAft>
              <a:buClr>
                <a:schemeClr val="dk1"/>
              </a:buClr>
              <a:buSzPts val="1800"/>
              <a:buFont typeface="Courier New"/>
              <a:buNone/>
            </a:pPr>
            <a:r>
              <a:rPr b="0" i="0" lang="en-US" sz="1800" u="none" cap="none" strike="noStrike">
                <a:solidFill>
                  <a:schemeClr val="dk1"/>
                </a:solidFill>
                <a:latin typeface="Times New Roman"/>
                <a:ea typeface="Times New Roman"/>
                <a:cs typeface="Times New Roman"/>
                <a:sym typeface="Times New Roman"/>
              </a:rPr>
              <a:t>Mastication, deglutition (swallowing), and speech</a:t>
            </a:r>
            <a:endParaRPr b="0" i="0" sz="1400" u="none" cap="none" strike="noStrike">
              <a:solidFill>
                <a:srgbClr val="000000"/>
              </a:solidFill>
              <a:latin typeface="Arial"/>
              <a:ea typeface="Arial"/>
              <a:cs typeface="Arial"/>
              <a:sym typeface="Arial"/>
            </a:endParaRPr>
          </a:p>
          <a:p>
            <a:pPr indent="0" lvl="0" marL="685800" marR="0" rtl="0" algn="l">
              <a:lnSpc>
                <a:spcPct val="107000"/>
              </a:lnSpc>
              <a:spcBef>
                <a:spcPts val="100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2. Neurophysiology</a:t>
            </a:r>
            <a:endParaRPr b="0" i="0" sz="1400" u="none" cap="none" strike="noStrike">
              <a:solidFill>
                <a:srgbClr val="000000"/>
              </a:solidFill>
              <a:latin typeface="Arial"/>
              <a:ea typeface="Arial"/>
              <a:cs typeface="Arial"/>
              <a:sym typeface="Arial"/>
            </a:endParaRPr>
          </a:p>
          <a:p>
            <a:pPr indent="0" lvl="1" marL="1600200" marR="0" rtl="0" algn="l">
              <a:lnSpc>
                <a:spcPct val="107000"/>
              </a:lnSpc>
              <a:spcBef>
                <a:spcPts val="1000"/>
              </a:spcBef>
              <a:spcAft>
                <a:spcPts val="0"/>
              </a:spcAft>
              <a:buClr>
                <a:schemeClr val="dk1"/>
              </a:buClr>
              <a:buSzPts val="1800"/>
              <a:buFont typeface="Courier New"/>
              <a:buNone/>
            </a:pPr>
            <a:r>
              <a:rPr b="0" i="0" lang="en-US" sz="1800" u="none" cap="none" strike="noStrike">
                <a:solidFill>
                  <a:schemeClr val="dk1"/>
                </a:solidFill>
                <a:latin typeface="Times New Roman"/>
                <a:ea typeface="Times New Roman"/>
                <a:cs typeface="Times New Roman"/>
                <a:sym typeface="Times New Roman"/>
              </a:rPr>
              <a:t>Sensation of pain, touch, pressure, and temperature in oral tissues</a:t>
            </a:r>
            <a:endParaRPr b="0" i="0" sz="1400" u="none" cap="none" strike="noStrike">
              <a:solidFill>
                <a:srgbClr val="000000"/>
              </a:solidFill>
              <a:latin typeface="Arial"/>
              <a:ea typeface="Arial"/>
              <a:cs typeface="Arial"/>
              <a:sym typeface="Arial"/>
            </a:endParaRPr>
          </a:p>
          <a:p>
            <a:pPr indent="0" lvl="1" marL="1600200" marR="0" rtl="0" algn="l">
              <a:lnSpc>
                <a:spcPct val="107000"/>
              </a:lnSpc>
              <a:spcBef>
                <a:spcPts val="1000"/>
              </a:spcBef>
              <a:spcAft>
                <a:spcPts val="0"/>
              </a:spcAft>
              <a:buClr>
                <a:schemeClr val="dk1"/>
              </a:buClr>
              <a:buSzPts val="1800"/>
              <a:buFont typeface="Courier New"/>
              <a:buNone/>
            </a:pPr>
            <a:r>
              <a:rPr b="0" i="0" lang="en-US" sz="1800" u="none" cap="none" strike="noStrike">
                <a:solidFill>
                  <a:schemeClr val="dk1"/>
                </a:solidFill>
                <a:latin typeface="Times New Roman"/>
                <a:ea typeface="Times New Roman"/>
                <a:cs typeface="Times New Roman"/>
                <a:sym typeface="Times New Roman"/>
              </a:rPr>
              <a:t>Trigeminal nerve function</a:t>
            </a:r>
            <a:endParaRPr b="0" i="0" sz="1400" u="none" cap="none" strike="noStrike">
              <a:solidFill>
                <a:srgbClr val="000000"/>
              </a:solidFill>
              <a:latin typeface="Arial"/>
              <a:ea typeface="Arial"/>
              <a:cs typeface="Arial"/>
              <a:sym typeface="Arial"/>
            </a:endParaRPr>
          </a:p>
          <a:p>
            <a:pPr indent="0" lvl="1" marL="1600200" marR="0" rtl="0" algn="l">
              <a:lnSpc>
                <a:spcPct val="107000"/>
              </a:lnSpc>
              <a:spcBef>
                <a:spcPts val="1000"/>
              </a:spcBef>
              <a:spcAft>
                <a:spcPts val="0"/>
              </a:spcAft>
              <a:buClr>
                <a:schemeClr val="dk1"/>
              </a:buClr>
              <a:buSzPts val="1800"/>
              <a:buFont typeface="Courier New"/>
              <a:buNone/>
            </a:pPr>
            <a:r>
              <a:rPr b="0" i="0" lang="en-US" sz="1800" u="none" cap="none" strike="noStrike">
                <a:solidFill>
                  <a:schemeClr val="dk1"/>
                </a:solidFill>
                <a:latin typeface="Times New Roman"/>
                <a:ea typeface="Times New Roman"/>
                <a:cs typeface="Times New Roman"/>
                <a:sym typeface="Times New Roman"/>
              </a:rPr>
              <a:t>Mechanism of local anesthesia</a:t>
            </a:r>
            <a:endParaRPr b="0" i="0" sz="1400" u="none" cap="none" strike="noStrike">
              <a:solidFill>
                <a:srgbClr val="000000"/>
              </a:solidFill>
              <a:latin typeface="Arial"/>
              <a:ea typeface="Arial"/>
              <a:cs typeface="Arial"/>
              <a:sym typeface="Arial"/>
            </a:endParaRPr>
          </a:p>
          <a:p>
            <a:pPr indent="0" lvl="0" marL="685800" marR="0" rtl="0" algn="l">
              <a:lnSpc>
                <a:spcPct val="107000"/>
              </a:lnSpc>
              <a:spcBef>
                <a:spcPts val="100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3. Muscle Physiology</a:t>
            </a:r>
            <a:endParaRPr b="0" i="0" sz="1400" u="none" cap="none" strike="noStrike">
              <a:solidFill>
                <a:srgbClr val="000000"/>
              </a:solidFill>
              <a:latin typeface="Arial"/>
              <a:ea typeface="Arial"/>
              <a:cs typeface="Arial"/>
              <a:sym typeface="Arial"/>
            </a:endParaRPr>
          </a:p>
          <a:p>
            <a:pPr indent="0" lvl="1" marL="1600200" marR="0" rtl="0" algn="l">
              <a:lnSpc>
                <a:spcPct val="107000"/>
              </a:lnSpc>
              <a:spcBef>
                <a:spcPts val="1000"/>
              </a:spcBef>
              <a:spcAft>
                <a:spcPts val="0"/>
              </a:spcAft>
              <a:buClr>
                <a:schemeClr val="dk1"/>
              </a:buClr>
              <a:buSzPts val="1800"/>
              <a:buFont typeface="Courier New"/>
              <a:buNone/>
            </a:pPr>
            <a:r>
              <a:rPr b="0" i="0" lang="en-US" sz="1800" u="none" cap="none" strike="noStrike">
                <a:solidFill>
                  <a:schemeClr val="dk1"/>
                </a:solidFill>
                <a:latin typeface="Times New Roman"/>
                <a:ea typeface="Times New Roman"/>
                <a:cs typeface="Times New Roman"/>
                <a:sym typeface="Times New Roman"/>
              </a:rPr>
              <a:t>Muscles of mastication and facial expression</a:t>
            </a:r>
            <a:endParaRPr b="0" i="0" sz="1400" u="none" cap="none" strike="noStrike">
              <a:solidFill>
                <a:srgbClr val="000000"/>
              </a:solidFill>
              <a:latin typeface="Arial"/>
              <a:ea typeface="Arial"/>
              <a:cs typeface="Arial"/>
              <a:sym typeface="Arial"/>
            </a:endParaRPr>
          </a:p>
          <a:p>
            <a:pPr indent="0" lvl="1" marL="1600200" marR="0" rtl="0" algn="l">
              <a:lnSpc>
                <a:spcPct val="107000"/>
              </a:lnSpc>
              <a:spcBef>
                <a:spcPts val="1000"/>
              </a:spcBef>
              <a:spcAft>
                <a:spcPts val="0"/>
              </a:spcAft>
              <a:buClr>
                <a:schemeClr val="dk1"/>
              </a:buClr>
              <a:buSzPts val="1800"/>
              <a:buFont typeface="Courier New"/>
              <a:buNone/>
            </a:pPr>
            <a:r>
              <a:rPr b="0" i="0" lang="en-US" sz="1800" u="none" cap="none" strike="noStrike">
                <a:solidFill>
                  <a:schemeClr val="dk1"/>
                </a:solidFill>
                <a:latin typeface="Times New Roman"/>
                <a:ea typeface="Times New Roman"/>
                <a:cs typeface="Times New Roman"/>
                <a:sym typeface="Times New Roman"/>
              </a:rPr>
              <a:t>Jaw movements and occlusion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41"/>
          <p:cNvSpPr txBox="1"/>
          <p:nvPr/>
        </p:nvSpPr>
        <p:spPr>
          <a:xfrm>
            <a:off x="798830" y="263525"/>
            <a:ext cx="7625080" cy="6139180"/>
          </a:xfrm>
          <a:prstGeom prst="rect">
            <a:avLst/>
          </a:prstGeom>
          <a:noFill/>
          <a:ln>
            <a:noFill/>
          </a:ln>
        </p:spPr>
        <p:txBody>
          <a:bodyPr anchorCtr="0" anchor="t" bIns="45700" lIns="91425" spcFirstLastPara="1" rIns="91425" wrap="square" tIns="45700">
            <a:noAutofit/>
          </a:bodyPr>
          <a:lstStyle/>
          <a:p>
            <a:pPr indent="0" lvl="0" marL="685800" marR="0" rtl="0" algn="l">
              <a:lnSpc>
                <a:spcPct val="107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4. Muscle Physiology</a:t>
            </a:r>
            <a:endParaRPr b="0" i="0" sz="1400" u="none" cap="none" strike="noStrike">
              <a:solidFill>
                <a:srgbClr val="000000"/>
              </a:solidFill>
              <a:latin typeface="Arial"/>
              <a:ea typeface="Arial"/>
              <a:cs typeface="Arial"/>
              <a:sym typeface="Arial"/>
            </a:endParaRPr>
          </a:p>
          <a:p>
            <a:pPr indent="0" lvl="1" marL="1600200" marR="0" rtl="0" algn="l">
              <a:lnSpc>
                <a:spcPct val="107000"/>
              </a:lnSpc>
              <a:spcBef>
                <a:spcPts val="1000"/>
              </a:spcBef>
              <a:spcAft>
                <a:spcPts val="0"/>
              </a:spcAft>
              <a:buClr>
                <a:schemeClr val="dk1"/>
              </a:buClr>
              <a:buSzPts val="2000"/>
              <a:buFont typeface="Courier New"/>
              <a:buNone/>
            </a:pPr>
            <a:r>
              <a:rPr b="0" i="0" lang="en-US" sz="2000" u="none" cap="none" strike="noStrike">
                <a:solidFill>
                  <a:schemeClr val="dk1"/>
                </a:solidFill>
                <a:latin typeface="Times New Roman"/>
                <a:ea typeface="Times New Roman"/>
                <a:cs typeface="Times New Roman"/>
                <a:sym typeface="Times New Roman"/>
              </a:rPr>
              <a:t>Muscles of mastication and facial expression</a:t>
            </a:r>
            <a:endParaRPr b="0" i="0" sz="1400" u="none" cap="none" strike="noStrike">
              <a:solidFill>
                <a:srgbClr val="000000"/>
              </a:solidFill>
              <a:latin typeface="Arial"/>
              <a:ea typeface="Arial"/>
              <a:cs typeface="Arial"/>
              <a:sym typeface="Arial"/>
            </a:endParaRPr>
          </a:p>
          <a:p>
            <a:pPr indent="0" lvl="1" marL="1600200" marR="0" rtl="0" algn="l">
              <a:lnSpc>
                <a:spcPct val="107000"/>
              </a:lnSpc>
              <a:spcBef>
                <a:spcPts val="1000"/>
              </a:spcBef>
              <a:spcAft>
                <a:spcPts val="0"/>
              </a:spcAft>
              <a:buClr>
                <a:schemeClr val="dk1"/>
              </a:buClr>
              <a:buSzPts val="2000"/>
              <a:buFont typeface="Courier New"/>
              <a:buNone/>
            </a:pPr>
            <a:r>
              <a:rPr b="0" i="0" lang="en-US" sz="2000" u="none" cap="none" strike="noStrike">
                <a:solidFill>
                  <a:schemeClr val="dk1"/>
                </a:solidFill>
                <a:latin typeface="Times New Roman"/>
                <a:ea typeface="Times New Roman"/>
                <a:cs typeface="Times New Roman"/>
                <a:sym typeface="Times New Roman"/>
              </a:rPr>
              <a:t>Jaw movements and occlusion</a:t>
            </a:r>
            <a:endParaRPr b="0" i="0" sz="1400" u="none" cap="none" strike="noStrike">
              <a:solidFill>
                <a:srgbClr val="000000"/>
              </a:solidFill>
              <a:latin typeface="Arial"/>
              <a:ea typeface="Arial"/>
              <a:cs typeface="Arial"/>
              <a:sym typeface="Arial"/>
            </a:endParaRPr>
          </a:p>
          <a:p>
            <a:pPr indent="0" lvl="0" marL="685800" marR="0" rtl="0" algn="l">
              <a:lnSpc>
                <a:spcPct val="107000"/>
              </a:lnSpc>
              <a:spcBef>
                <a:spcPts val="100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5. Cardiovascular Physiology</a:t>
            </a:r>
            <a:endParaRPr b="0" i="0" sz="1400" u="none" cap="none" strike="noStrike">
              <a:solidFill>
                <a:srgbClr val="000000"/>
              </a:solidFill>
              <a:latin typeface="Arial"/>
              <a:ea typeface="Arial"/>
              <a:cs typeface="Arial"/>
              <a:sym typeface="Arial"/>
            </a:endParaRPr>
          </a:p>
          <a:p>
            <a:pPr indent="0" lvl="1" marL="1600200" marR="0" rtl="0" algn="l">
              <a:lnSpc>
                <a:spcPct val="107000"/>
              </a:lnSpc>
              <a:spcBef>
                <a:spcPts val="1000"/>
              </a:spcBef>
              <a:spcAft>
                <a:spcPts val="0"/>
              </a:spcAft>
              <a:buClr>
                <a:schemeClr val="dk1"/>
              </a:buClr>
              <a:buSzPts val="2000"/>
              <a:buFont typeface="Courier New"/>
              <a:buNone/>
            </a:pPr>
            <a:r>
              <a:rPr b="0" i="0" lang="en-US" sz="2000" u="none" cap="none" strike="noStrike">
                <a:solidFill>
                  <a:schemeClr val="dk1"/>
                </a:solidFill>
                <a:latin typeface="Times New Roman"/>
                <a:ea typeface="Times New Roman"/>
                <a:cs typeface="Times New Roman"/>
                <a:sym typeface="Times New Roman"/>
              </a:rPr>
              <a:t>Blood supply to oral tissues</a:t>
            </a:r>
            <a:endParaRPr b="0" i="0" sz="1400" u="none" cap="none" strike="noStrike">
              <a:solidFill>
                <a:srgbClr val="000000"/>
              </a:solidFill>
              <a:latin typeface="Arial"/>
              <a:ea typeface="Arial"/>
              <a:cs typeface="Arial"/>
              <a:sym typeface="Arial"/>
            </a:endParaRPr>
          </a:p>
          <a:p>
            <a:pPr indent="0" lvl="1" marL="1600200" marR="0" rtl="0" algn="l">
              <a:lnSpc>
                <a:spcPct val="107000"/>
              </a:lnSpc>
              <a:spcBef>
                <a:spcPts val="1000"/>
              </a:spcBef>
              <a:spcAft>
                <a:spcPts val="0"/>
              </a:spcAft>
              <a:buClr>
                <a:schemeClr val="dk1"/>
              </a:buClr>
              <a:buSzPts val="2000"/>
              <a:buFont typeface="Courier New"/>
              <a:buNone/>
            </a:pPr>
            <a:r>
              <a:rPr b="0" i="0" lang="en-US" sz="2000" u="none" cap="none" strike="noStrike">
                <a:solidFill>
                  <a:schemeClr val="dk1"/>
                </a:solidFill>
                <a:latin typeface="Times New Roman"/>
                <a:ea typeface="Times New Roman"/>
                <a:cs typeface="Times New Roman"/>
                <a:sym typeface="Times New Roman"/>
              </a:rPr>
              <a:t>Management of patients with hypertension, heart disease, and shock.</a:t>
            </a:r>
            <a:endParaRPr b="0" i="0" sz="1400" u="none" cap="none" strike="noStrike">
              <a:solidFill>
                <a:srgbClr val="000000"/>
              </a:solidFill>
              <a:latin typeface="Arial"/>
              <a:ea typeface="Arial"/>
              <a:cs typeface="Arial"/>
              <a:sym typeface="Arial"/>
            </a:endParaRPr>
          </a:p>
          <a:p>
            <a:pPr indent="0" lvl="1" marL="685800" marR="0" rtl="0" algn="l">
              <a:lnSpc>
                <a:spcPct val="107000"/>
              </a:lnSpc>
              <a:spcBef>
                <a:spcPts val="100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6. Endocrine Physiology</a:t>
            </a:r>
            <a:endParaRPr b="1" i="0" sz="2000" u="none" cap="none" strike="noStrike">
              <a:solidFill>
                <a:schemeClr val="dk1"/>
              </a:solidFill>
              <a:latin typeface="Times New Roman"/>
              <a:ea typeface="Times New Roman"/>
              <a:cs typeface="Times New Roman"/>
              <a:sym typeface="Times New Roman"/>
            </a:endParaRPr>
          </a:p>
          <a:p>
            <a:pPr indent="0" lvl="1" marL="1600200" marR="0" rtl="0" algn="l">
              <a:lnSpc>
                <a:spcPct val="107000"/>
              </a:lnSpc>
              <a:spcBef>
                <a:spcPts val="1000"/>
              </a:spcBef>
              <a:spcAft>
                <a:spcPts val="0"/>
              </a:spcAft>
              <a:buClr>
                <a:schemeClr val="dk1"/>
              </a:buClr>
              <a:buSzPts val="2000"/>
              <a:buFont typeface="Courier New"/>
              <a:buNone/>
            </a:pPr>
            <a:r>
              <a:rPr b="0" i="0" lang="en-US" sz="2000" u="none" cap="none" strike="noStrike">
                <a:solidFill>
                  <a:schemeClr val="dk1"/>
                </a:solidFill>
                <a:latin typeface="Times New Roman"/>
                <a:ea typeface="Times New Roman"/>
                <a:cs typeface="Times New Roman"/>
                <a:sym typeface="Times New Roman"/>
              </a:rPr>
              <a:t>Hormonal influences on growth, tooth eruption, bone metabolism, and periodontal health.</a:t>
            </a:r>
            <a:endParaRPr b="0" i="0" sz="1400" u="none" cap="none" strike="noStrike">
              <a:solidFill>
                <a:srgbClr val="000000"/>
              </a:solidFill>
              <a:latin typeface="Arial"/>
              <a:ea typeface="Arial"/>
              <a:cs typeface="Arial"/>
              <a:sym typeface="Arial"/>
            </a:endParaRPr>
          </a:p>
          <a:p>
            <a:pPr indent="0" lvl="1" marL="685800" marR="0" rtl="0" algn="l">
              <a:lnSpc>
                <a:spcPct val="107000"/>
              </a:lnSpc>
              <a:spcBef>
                <a:spcPts val="100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7. Hematological and Immune Physiology</a:t>
            </a:r>
            <a:endParaRPr b="0" i="0" sz="1400" u="none" cap="none" strike="noStrike">
              <a:solidFill>
                <a:srgbClr val="000000"/>
              </a:solidFill>
              <a:latin typeface="Arial"/>
              <a:ea typeface="Arial"/>
              <a:cs typeface="Arial"/>
              <a:sym typeface="Arial"/>
            </a:endParaRPr>
          </a:p>
          <a:p>
            <a:pPr indent="0" lvl="1" marL="1600200" marR="0" rtl="0" algn="l">
              <a:lnSpc>
                <a:spcPct val="107000"/>
              </a:lnSpc>
              <a:spcBef>
                <a:spcPts val="1000"/>
              </a:spcBef>
              <a:spcAft>
                <a:spcPts val="0"/>
              </a:spcAft>
              <a:buClr>
                <a:schemeClr val="dk1"/>
              </a:buClr>
              <a:buSzPts val="2000"/>
              <a:buFont typeface="Courier New"/>
              <a:buNone/>
            </a:pPr>
            <a:r>
              <a:rPr b="0" i="0" lang="en-US" sz="2000" u="none" cap="none" strike="noStrike">
                <a:solidFill>
                  <a:schemeClr val="dk1"/>
                </a:solidFill>
                <a:latin typeface="Times New Roman"/>
                <a:ea typeface="Times New Roman"/>
                <a:cs typeface="Times New Roman"/>
                <a:sym typeface="Times New Roman"/>
              </a:rPr>
              <a:t>blood clotting, healing, and defense mechanisms</a:t>
            </a:r>
            <a:endParaRPr b="0" i="0" sz="1400" u="none" cap="none" strike="noStrike">
              <a:solidFill>
                <a:srgbClr val="000000"/>
              </a:solidFill>
              <a:latin typeface="Arial"/>
              <a:ea typeface="Arial"/>
              <a:cs typeface="Arial"/>
              <a:sym typeface="Arial"/>
            </a:endParaRPr>
          </a:p>
          <a:p>
            <a:pPr indent="0" lvl="1" marL="1600200" marR="0" rtl="0" algn="l">
              <a:lnSpc>
                <a:spcPct val="107000"/>
              </a:lnSpc>
              <a:spcBef>
                <a:spcPts val="1000"/>
              </a:spcBef>
              <a:spcAft>
                <a:spcPts val="0"/>
              </a:spcAft>
              <a:buClr>
                <a:schemeClr val="dk1"/>
              </a:buClr>
              <a:buSzPts val="2000"/>
              <a:buFont typeface="Courier New"/>
              <a:buNone/>
            </a:pPr>
            <a:r>
              <a:rPr b="0" i="0" lang="en-US" sz="2000" u="none" cap="none" strike="noStrike">
                <a:solidFill>
                  <a:schemeClr val="dk1"/>
                </a:solidFill>
                <a:latin typeface="Times New Roman"/>
                <a:ea typeface="Times New Roman"/>
                <a:cs typeface="Times New Roman"/>
                <a:sym typeface="Times New Roman"/>
              </a:rPr>
              <a:t>Management of bleeding disorders and infections</a:t>
            </a:r>
            <a:endParaRPr b="0" i="0" sz="1400" u="none" cap="none" strike="noStrike">
              <a:solidFill>
                <a:srgbClr val="000000"/>
              </a:solidFill>
              <a:latin typeface="Arial"/>
              <a:ea typeface="Arial"/>
              <a:cs typeface="Arial"/>
              <a:sym typeface="Arial"/>
            </a:endParaRPr>
          </a:p>
          <a:p>
            <a:pPr indent="0" lvl="0" marL="685800" marR="0" rtl="0" algn="l">
              <a:lnSpc>
                <a:spcPct val="107000"/>
              </a:lnSpc>
              <a:spcBef>
                <a:spcPts val="1000"/>
              </a:spcBef>
              <a:spcAft>
                <a:spcPts val="0"/>
              </a:spcAft>
              <a:buClr>
                <a:schemeClr val="dk1"/>
              </a:buClr>
              <a:buSzPts val="2000"/>
              <a:buFont typeface="Times New Roman"/>
              <a:buNone/>
            </a:pPr>
            <a:r>
              <a:t/>
            </a:r>
            <a:endParaRPr b="1" i="0" sz="2000" u="none" cap="none" strike="noStrike">
              <a:solidFill>
                <a:schemeClr val="dk1"/>
              </a:solidFill>
              <a:latin typeface="Times New Roman"/>
              <a:ea typeface="Times New Roman"/>
              <a:cs typeface="Times New Roman"/>
              <a:sym typeface="Times New Roman"/>
            </a:endParaRPr>
          </a:p>
          <a:p>
            <a:pPr indent="0" lvl="1" marL="1600200" marR="0" rtl="0" algn="l">
              <a:lnSpc>
                <a:spcPct val="107000"/>
              </a:lnSpc>
              <a:spcBef>
                <a:spcPts val="1000"/>
              </a:spcBef>
              <a:spcAft>
                <a:spcPts val="0"/>
              </a:spcAft>
              <a:buClr>
                <a:schemeClr val="dk1"/>
              </a:buClr>
              <a:buSzPts val="2000"/>
              <a:buFont typeface="Courier New"/>
              <a:buNone/>
            </a:pPr>
            <a:r>
              <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2"/>
          <p:cNvSpPr txBox="1"/>
          <p:nvPr/>
        </p:nvSpPr>
        <p:spPr>
          <a:xfrm>
            <a:off x="656590" y="235585"/>
            <a:ext cx="8190865" cy="6435725"/>
          </a:xfrm>
          <a:prstGeom prst="rect">
            <a:avLst/>
          </a:prstGeom>
          <a:noFill/>
          <a:ln>
            <a:noFill/>
          </a:ln>
        </p:spPr>
        <p:txBody>
          <a:bodyPr anchorCtr="0" anchor="t" bIns="45700" lIns="91425" spcFirstLastPara="1" rIns="91425" wrap="square" tIns="45700">
            <a:noAutofit/>
          </a:bodyPr>
          <a:lstStyle/>
          <a:p>
            <a:pPr indent="0" lvl="0" marL="685800" marR="0" rtl="0" algn="l">
              <a:lnSpc>
                <a:spcPct val="107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Relevance of Physiology to Dentistry</a:t>
            </a:r>
            <a:endParaRPr b="0" i="0" sz="1400" u="none" cap="none" strike="noStrike">
              <a:solidFill>
                <a:srgbClr val="000000"/>
              </a:solidFill>
              <a:latin typeface="Arial"/>
              <a:ea typeface="Arial"/>
              <a:cs typeface="Arial"/>
              <a:sym typeface="Arial"/>
            </a:endParaRPr>
          </a:p>
          <a:p>
            <a:pPr indent="0" lvl="0" marL="457200" marR="0" rtl="0" algn="l">
              <a:lnSpc>
                <a:spcPct val="107000"/>
              </a:lnSpc>
              <a:spcBef>
                <a:spcPts val="100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Basis for Clinical Practice</a:t>
            </a:r>
            <a:endParaRPr b="0" i="0" sz="1400" u="none" cap="none" strike="noStrike">
              <a:solidFill>
                <a:srgbClr val="000000"/>
              </a:solidFill>
              <a:latin typeface="Arial"/>
              <a:ea typeface="Arial"/>
              <a:cs typeface="Arial"/>
              <a:sym typeface="Arial"/>
            </a:endParaRPr>
          </a:p>
          <a:p>
            <a:pPr indent="0" lvl="0" marL="457200" marR="0" rtl="0" algn="l">
              <a:lnSpc>
                <a:spcPct val="107000"/>
              </a:lnSpc>
              <a:spcBef>
                <a:spcPts val="100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Helps understand normal oral functions and identify abnormalities</a:t>
            </a:r>
            <a:endParaRPr b="0" i="0" sz="1400" u="none" cap="none" strike="noStrike">
              <a:solidFill>
                <a:srgbClr val="000000"/>
              </a:solidFill>
              <a:latin typeface="Arial"/>
              <a:ea typeface="Arial"/>
              <a:cs typeface="Arial"/>
              <a:sym typeface="Arial"/>
            </a:endParaRPr>
          </a:p>
          <a:p>
            <a:pPr indent="0" lvl="0" marL="457200" marR="0" rtl="0" algn="l">
              <a:lnSpc>
                <a:spcPct val="107000"/>
              </a:lnSpc>
              <a:spcBef>
                <a:spcPts val="100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Pain Control and Anesthesia</a:t>
            </a:r>
            <a:endParaRPr b="0" i="0" sz="1400" u="none" cap="none" strike="noStrike">
              <a:solidFill>
                <a:srgbClr val="000000"/>
              </a:solidFill>
              <a:latin typeface="Arial"/>
              <a:ea typeface="Arial"/>
              <a:cs typeface="Arial"/>
              <a:sym typeface="Arial"/>
            </a:endParaRPr>
          </a:p>
          <a:p>
            <a:pPr indent="0" lvl="0" marL="457200" marR="0" rtl="0" algn="l">
              <a:lnSpc>
                <a:spcPct val="107000"/>
              </a:lnSpc>
              <a:spcBef>
                <a:spcPts val="100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Essential for safe and effective use of local and general anesthesia</a:t>
            </a:r>
            <a:endParaRPr b="0" i="0" sz="1400" u="none" cap="none" strike="noStrike">
              <a:solidFill>
                <a:srgbClr val="000000"/>
              </a:solidFill>
              <a:latin typeface="Arial"/>
              <a:ea typeface="Arial"/>
              <a:cs typeface="Arial"/>
              <a:sym typeface="Arial"/>
            </a:endParaRPr>
          </a:p>
          <a:p>
            <a:pPr indent="0" lvl="0" marL="685800" marR="0" rtl="0" algn="l">
              <a:lnSpc>
                <a:spcPct val="107000"/>
              </a:lnSpc>
              <a:spcBef>
                <a:spcPts val="100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Diagnosis and Treatment Planning</a:t>
            </a:r>
            <a:endParaRPr b="0" i="0" sz="1400" u="none" cap="none" strike="noStrike">
              <a:solidFill>
                <a:srgbClr val="000000"/>
              </a:solidFill>
              <a:latin typeface="Arial"/>
              <a:ea typeface="Arial"/>
              <a:cs typeface="Arial"/>
              <a:sym typeface="Arial"/>
            </a:endParaRPr>
          </a:p>
          <a:p>
            <a:pPr indent="0" lvl="0" marL="457200" marR="0" rtl="0" algn="l">
              <a:lnSpc>
                <a:spcPct val="107000"/>
              </a:lnSpc>
              <a:spcBef>
                <a:spcPts val="100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Understanding systemic conditions affecting oral health</a:t>
            </a:r>
            <a:endParaRPr b="0" i="0" sz="1400" u="none" cap="none" strike="noStrike">
              <a:solidFill>
                <a:srgbClr val="000000"/>
              </a:solidFill>
              <a:latin typeface="Arial"/>
              <a:ea typeface="Arial"/>
              <a:cs typeface="Arial"/>
              <a:sym typeface="Arial"/>
            </a:endParaRPr>
          </a:p>
          <a:p>
            <a:pPr indent="0" lvl="0" marL="457200" marR="0" rtl="0" algn="l">
              <a:lnSpc>
                <a:spcPct val="107000"/>
              </a:lnSpc>
              <a:spcBef>
                <a:spcPts val="100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Dental Materials and Procedures</a:t>
            </a:r>
            <a:endParaRPr b="0" i="0" sz="1400" u="none" cap="none" strike="noStrike">
              <a:solidFill>
                <a:srgbClr val="000000"/>
              </a:solidFill>
              <a:latin typeface="Arial"/>
              <a:ea typeface="Arial"/>
              <a:cs typeface="Arial"/>
              <a:sym typeface="Arial"/>
            </a:endParaRPr>
          </a:p>
          <a:p>
            <a:pPr indent="0" lvl="0" marL="457200" marR="0" rtl="0" algn="l">
              <a:lnSpc>
                <a:spcPct val="107000"/>
              </a:lnSpc>
              <a:spcBef>
                <a:spcPts val="100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Tissue response to restorative materials, implants, and prostheses</a:t>
            </a:r>
            <a:endParaRPr b="0" i="0" sz="1400" u="none" cap="none" strike="noStrike">
              <a:solidFill>
                <a:srgbClr val="000000"/>
              </a:solidFill>
              <a:latin typeface="Arial"/>
              <a:ea typeface="Arial"/>
              <a:cs typeface="Arial"/>
              <a:sym typeface="Arial"/>
            </a:endParaRPr>
          </a:p>
          <a:p>
            <a:pPr indent="0" lvl="0" marL="457200" marR="0" rtl="0" algn="l">
              <a:lnSpc>
                <a:spcPct val="107000"/>
              </a:lnSpc>
              <a:spcBef>
                <a:spcPts val="100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Management of Medically Compromised Patients</a:t>
            </a:r>
            <a:endParaRPr b="0" i="0" sz="1400" u="none" cap="none" strike="noStrike">
              <a:solidFill>
                <a:srgbClr val="000000"/>
              </a:solidFill>
              <a:latin typeface="Arial"/>
              <a:ea typeface="Arial"/>
              <a:cs typeface="Arial"/>
              <a:sym typeface="Arial"/>
            </a:endParaRPr>
          </a:p>
          <a:p>
            <a:pPr indent="0" lvl="0" marL="457200" marR="0" rtl="0" algn="l">
              <a:lnSpc>
                <a:spcPct val="107000"/>
              </a:lnSpc>
              <a:spcBef>
                <a:spcPts val="100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Safe dental care for patients with systemic diseases</a:t>
            </a:r>
            <a:endParaRPr b="0" i="0" sz="1400" u="none" cap="none" strike="noStrike">
              <a:solidFill>
                <a:srgbClr val="000000"/>
              </a:solidFill>
              <a:latin typeface="Arial"/>
              <a:ea typeface="Arial"/>
              <a:cs typeface="Arial"/>
              <a:sym typeface="Arial"/>
            </a:endParaRPr>
          </a:p>
          <a:p>
            <a:pPr indent="0" lvl="0" marL="457200" marR="0" rtl="0" algn="l">
              <a:lnSpc>
                <a:spcPct val="107000"/>
              </a:lnSpc>
              <a:spcBef>
                <a:spcPts val="100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Prevention and Health Promotion</a:t>
            </a:r>
            <a:endParaRPr b="0" i="0" sz="1400" u="none" cap="none" strike="noStrike">
              <a:solidFill>
                <a:srgbClr val="000000"/>
              </a:solidFill>
              <a:latin typeface="Arial"/>
              <a:ea typeface="Arial"/>
              <a:cs typeface="Arial"/>
              <a:sym typeface="Arial"/>
            </a:endParaRPr>
          </a:p>
          <a:p>
            <a:pPr indent="0" lvl="0" marL="457200" marR="0" rtl="0" algn="l">
              <a:lnSpc>
                <a:spcPct val="107000"/>
              </a:lnSpc>
              <a:spcBef>
                <a:spcPts val="100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Understanding saliva, diet, and oral defense mechanisms</a:t>
            </a:r>
            <a:endParaRPr b="0" i="0" sz="1400" u="none" cap="none" strike="noStrike">
              <a:solidFill>
                <a:srgbClr val="000000"/>
              </a:solidFill>
              <a:latin typeface="Arial"/>
              <a:ea typeface="Arial"/>
              <a:cs typeface="Arial"/>
              <a:sym typeface="Arial"/>
            </a:endParaRPr>
          </a:p>
          <a:p>
            <a:pPr indent="0" lvl="0" marL="457200" marR="0" rtl="0" algn="l">
              <a:lnSpc>
                <a:spcPct val="107000"/>
              </a:lnSpc>
              <a:spcBef>
                <a:spcPts val="100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43"/>
          <p:cNvSpPr txBox="1"/>
          <p:nvPr/>
        </p:nvSpPr>
        <p:spPr>
          <a:xfrm>
            <a:off x="683895" y="981075"/>
            <a:ext cx="7759065" cy="5541645"/>
          </a:xfrm>
          <a:prstGeom prst="rect">
            <a:avLst/>
          </a:prstGeom>
          <a:noFill/>
          <a:ln>
            <a:noFill/>
          </a:ln>
        </p:spPr>
        <p:txBody>
          <a:bodyPr anchorCtr="0" anchor="t" bIns="45700" lIns="91425" spcFirstLastPara="1" rIns="91425" wrap="square" tIns="45700">
            <a:noAutofit/>
          </a:bodyPr>
          <a:lstStyle/>
          <a:p>
            <a:pPr indent="0" lvl="0" marL="457200" marR="0" rtl="0" algn="l">
              <a:lnSpc>
                <a:spcPct val="107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Conclusion</a:t>
            </a:r>
            <a:endParaRPr b="0" i="0" sz="1400" u="none" cap="none" strike="noStrike">
              <a:solidFill>
                <a:srgbClr val="000000"/>
              </a:solidFill>
              <a:latin typeface="Arial"/>
              <a:ea typeface="Arial"/>
              <a:cs typeface="Arial"/>
              <a:sym typeface="Arial"/>
            </a:endParaRPr>
          </a:p>
          <a:p>
            <a:pPr indent="0" lvl="0" marL="457200" marR="0" rtl="0" algn="l">
              <a:lnSpc>
                <a:spcPct val="107000"/>
              </a:lnSpc>
              <a:spcBef>
                <a:spcPts val="100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457200" marR="0" rtl="0" algn="l">
              <a:lnSpc>
                <a:spcPct val="107000"/>
              </a:lnSpc>
              <a:spcBef>
                <a:spcPts val="100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Physiology provides the scientific foundation for dentistry. A thorough knowledge of physiological principles enables dentists to diagnose accurately, treat safely, manage systemic conditions, and promote oral and general health effectively.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Retrospect">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2023-01-13T14:45:00Z</dcterms:created>
  <dc:creator>MS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195A56E9795D4734B16670A391FB8F0B_12</vt:lpwstr>
  </property>
  <property fmtid="{D5CDD505-2E9C-101B-9397-08002B2CF9AE}" pid="3" name="KSOProductBuildVer">
    <vt:lpwstr>1033-12.2.0.23196</vt:lpwstr>
  </property>
</Properties>
</file>