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81" r:id="rId2"/>
    <p:sldId id="256" r:id="rId3"/>
    <p:sldId id="257" r:id="rId4"/>
    <p:sldId id="334" r:id="rId5"/>
    <p:sldId id="335" r:id="rId6"/>
    <p:sldId id="336" r:id="rId7"/>
    <p:sldId id="305" r:id="rId8"/>
    <p:sldId id="306" r:id="rId9"/>
    <p:sldId id="307" r:id="rId10"/>
    <p:sldId id="308" r:id="rId11"/>
    <p:sldId id="309" r:id="rId12"/>
    <p:sldId id="310" r:id="rId13"/>
    <p:sldId id="311" r:id="rId14"/>
    <p:sldId id="312" r:id="rId15"/>
    <p:sldId id="313" r:id="rId16"/>
    <p:sldId id="314" r:id="rId17"/>
    <p:sldId id="315" r:id="rId18"/>
    <p:sldId id="316" r:id="rId19"/>
    <p:sldId id="317" r:id="rId20"/>
    <p:sldId id="318" r:id="rId21"/>
    <p:sldId id="319" r:id="rId22"/>
    <p:sldId id="320" r:id="rId23"/>
    <p:sldId id="321" r:id="rId24"/>
    <p:sldId id="322" r:id="rId25"/>
    <p:sldId id="323" r:id="rId26"/>
    <p:sldId id="324" r:id="rId27"/>
    <p:sldId id="326" r:id="rId28"/>
    <p:sldId id="327" r:id="rId29"/>
    <p:sldId id="328" r:id="rId30"/>
    <p:sldId id="329" r:id="rId31"/>
    <p:sldId id="330" r:id="rId32"/>
    <p:sldId id="331" r:id="rId33"/>
    <p:sldId id="332" r:id="rId34"/>
    <p:sldId id="333"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C624262-8833-42CC-9DEE-E68B77D237C0}">
          <p14:sldIdLst>
            <p14:sldId id="281"/>
            <p14:sldId id="256"/>
            <p14:sldId id="257"/>
            <p14:sldId id="334"/>
            <p14:sldId id="335"/>
            <p14:sldId id="336"/>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6"/>
            <p14:sldId id="327"/>
            <p14:sldId id="328"/>
            <p14:sldId id="329"/>
            <p14:sldId id="330"/>
            <p14:sldId id="331"/>
            <p14:sldId id="332"/>
            <p14:sldId id="333"/>
          </p14:sldIdLst>
        </p14:section>
        <p14:section name="Untitled Section" id="{5E355262-F24B-43E4-8E8B-2E1603F2F758}">
          <p14:sldIdLst/>
        </p14:section>
      </p14:sectionLst>
    </p:ext>
    <p:ext uri="{EFAFB233-063F-42B5-8137-9DF3F51BA10A}">
      <p15:sldGuideLst xmlns:p15="http://schemas.microsoft.com/office/powerpoint/2012/main">
        <p15:guide id="1" orient="horz" pos="2160" userDrawn="1">
          <p15:clr>
            <a:srgbClr val="A4A3A4"/>
          </p15:clr>
        </p15:guide>
        <p15:guide id="2" pos="28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5" d="100"/>
          <a:sy n="105" d="100"/>
        </p:scale>
        <p:origin x="1794" y="96"/>
      </p:cViewPr>
      <p:guideLst>
        <p:guide orient="horz" pos="2160"/>
        <p:guide pos="288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1BB25E-F4E6-48D7-9D3D-283853CBEA4C}" type="datetimeFigureOut">
              <a:rPr lang="en-US" smtClean="0"/>
              <a:t>1/26/2026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AEFAAD-9E14-4C76-A230-423125F7B03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7</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8</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15</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18</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19</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20</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21</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22</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23</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24</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25</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26</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29</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30</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31</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32</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33</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DFAEFAAD-9E14-4C76-A230-423125F7B037}" type="slidenum">
              <a:rPr lang="en-US" smtClean="0"/>
              <a:t>34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CC424E0-D48B-4E7C-87C3-9BE818091E1A}"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C424E0-D48B-4E7C-87C3-9BE818091E1A}"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C424E0-D48B-4E7C-87C3-9BE818091E1A}"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CC424E0-D48B-4E7C-87C3-9BE818091E1A}"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CC424E0-D48B-4E7C-87C3-9BE818091E1A}" type="datetimeFigureOut">
              <a:rPr lang="en-US" smtClean="0"/>
              <a:t>1/26/2026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CC424E0-D48B-4E7C-87C3-9BE818091E1A}" type="datetimeFigureOut">
              <a:rPr lang="en-US" smtClean="0"/>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C424E0-D48B-4E7C-87C3-9BE818091E1A}" type="datetimeFigureOut">
              <a:rPr lang="en-US" smtClean="0"/>
              <a:t>1/26/2026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C424E0-D48B-4E7C-87C3-9BE818091E1A}"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C424E0-D48B-4E7C-87C3-9BE818091E1A}"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C424E0-D48B-4E7C-87C3-9BE818091E1A}"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C424E0-D48B-4E7C-87C3-9BE818091E1A}"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7583C7-F5C4-4D8C-95D4-E27B9F956D4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C424E0-D48B-4E7C-87C3-9BE818091E1A}" type="datetimeFigureOut">
              <a:rPr lang="en-US" smtClean="0"/>
              <a:t>1/26/2026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7583C7-F5C4-4D8C-95D4-E27B9F956D4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harappa.com/har/har0.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worldhistory.org/Indus_Valley_Civilization/" TargetMode="External"/><Relationship Id="rId7" Type="http://schemas.openxmlformats.org/officeDocument/2006/relationships/hyperlink" Target="https://www.worldhistory.org/disambiguation/Egyptian/"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www.worldhistory.org/india/" TargetMode="External"/><Relationship Id="rId5" Type="http://schemas.openxmlformats.org/officeDocument/2006/relationships/hyperlink" Target="https://www.worldhistory.org/Mesopotamia/" TargetMode="External"/><Relationship Id="rId4" Type="http://schemas.openxmlformats.org/officeDocument/2006/relationships/hyperlink" Target="https://www.worldhistory.org/egypt/"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t>
            </a:r>
          </a:p>
        </p:txBody>
      </p:sp>
      <p:sp>
        <p:nvSpPr>
          <p:cNvPr id="3" name="Content Placeholder 2"/>
          <p:cNvSpPr>
            <a:spLocks noGrp="1"/>
          </p:cNvSpPr>
          <p:nvPr>
            <p:ph idx="1"/>
          </p:nvPr>
        </p:nvSpPr>
        <p:spPr>
          <a:xfrm>
            <a:off x="539552" y="1268760"/>
            <a:ext cx="8229600" cy="4752528"/>
          </a:xfrm>
        </p:spPr>
        <p:txBody>
          <a:bodyPr>
            <a:normAutofit fontScale="85000" lnSpcReduction="20000"/>
          </a:bodyPr>
          <a:lstStyle/>
          <a:p>
            <a:pPr marL="0" indent="0">
              <a:buNone/>
            </a:pPr>
            <a:r>
              <a:rPr lang="en-US" b="1" dirty="0"/>
              <a:t> </a:t>
            </a:r>
            <a:endParaRPr lang="en-US" dirty="0"/>
          </a:p>
          <a:p>
            <a:pPr marL="0" indent="0">
              <a:buNone/>
            </a:pPr>
            <a:r>
              <a:rPr lang="en-US" b="1" dirty="0"/>
              <a:t> </a:t>
            </a:r>
            <a:endParaRPr lang="en-US" dirty="0"/>
          </a:p>
          <a:p>
            <a:pPr marL="0" indent="0">
              <a:buNone/>
            </a:pPr>
            <a:r>
              <a:rPr lang="en-US" b="1" dirty="0"/>
              <a:t> </a:t>
            </a:r>
            <a:r>
              <a:rPr lang="en-US" sz="5600" b="1" dirty="0"/>
              <a:t>               Pakistan studies </a:t>
            </a:r>
            <a:endParaRPr lang="en-US" sz="5600" dirty="0"/>
          </a:p>
          <a:p>
            <a:pPr marL="0" indent="0">
              <a:buNone/>
            </a:pPr>
            <a:r>
              <a:rPr lang="en-US" sz="4200" b="1" dirty="0"/>
              <a:t> </a:t>
            </a:r>
            <a:endParaRPr lang="en-US" sz="4200" dirty="0"/>
          </a:p>
          <a:p>
            <a:pPr marL="0" indent="0">
              <a:buNone/>
            </a:pPr>
            <a:r>
              <a:rPr lang="en-US" b="1" dirty="0"/>
              <a:t> </a:t>
            </a:r>
            <a:endParaRPr lang="en-US" dirty="0"/>
          </a:p>
          <a:p>
            <a:pPr marL="0" indent="0">
              <a:buNone/>
            </a:pPr>
            <a:r>
              <a:rPr lang="en-US" b="1" dirty="0"/>
              <a:t> </a:t>
            </a:r>
            <a:endParaRPr lang="en-US" dirty="0"/>
          </a:p>
          <a:p>
            <a:pPr marL="0" indent="0">
              <a:buNone/>
            </a:pPr>
            <a:r>
              <a:rPr lang="en-US" b="1" dirty="0"/>
              <a:t> </a:t>
            </a:r>
            <a:endParaRPr lang="en-US" dirty="0"/>
          </a:p>
          <a:p>
            <a:pPr marL="0" indent="0">
              <a:buNone/>
            </a:pPr>
            <a:r>
              <a:rPr lang="en-US" b="1" dirty="0"/>
              <a:t> </a:t>
            </a:r>
            <a:endParaRPr lang="en-US" dirty="0"/>
          </a:p>
          <a:p>
            <a:pPr marL="0" indent="0">
              <a:buNone/>
            </a:pPr>
            <a:r>
              <a:rPr lang="en-US" b="1" dirty="0"/>
              <a:t> </a:t>
            </a:r>
            <a:endParaRPr lang="en-US" dirty="0"/>
          </a:p>
          <a:p>
            <a:pPr marL="0" indent="0">
              <a:buNone/>
            </a:pPr>
            <a:r>
              <a:rPr lang="en-US" b="1" dirty="0"/>
              <a:t>                                                            </a:t>
            </a:r>
            <a:endParaRPr lang="en-US" sz="2800" dirty="0"/>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2996952"/>
            <a:ext cx="3168352"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212976"/>
            <a:ext cx="7772400" cy="1729320"/>
          </a:xfrm>
        </p:spPr>
        <p:txBody>
          <a:bodyPr>
            <a:normAutofit fontScale="90000"/>
          </a:bodyPr>
          <a:lstStyle/>
          <a:p>
            <a:br>
              <a:rPr lang="en-US" dirty="0"/>
            </a:br>
            <a:r>
              <a:rPr lang="en-US" dirty="0"/>
              <a:t>Pakistan studies </a:t>
            </a:r>
            <a:br>
              <a:rPr lang="en-US" dirty="0"/>
            </a:br>
            <a:r>
              <a:rPr lang="en-US" sz="3600" b="1" dirty="0"/>
              <a:t>Chapter 1</a:t>
            </a:r>
            <a:r>
              <a:rPr lang="en-US" sz="2700" dirty="0"/>
              <a:t> </a:t>
            </a:r>
          </a:p>
        </p:txBody>
      </p:sp>
      <p:sp>
        <p:nvSpPr>
          <p:cNvPr id="3" name="Subtitle 2"/>
          <p:cNvSpPr>
            <a:spLocks noGrp="1"/>
          </p:cNvSpPr>
          <p:nvPr>
            <p:ph type="subTitle" idx="1"/>
          </p:nvPr>
        </p:nvSpPr>
        <p:spPr>
          <a:xfrm>
            <a:off x="1547664" y="4797152"/>
            <a:ext cx="6400800" cy="864096"/>
          </a:xfrm>
        </p:spPr>
        <p:txBody>
          <a:bodyPr>
            <a:normAutofit fontScale="85000" lnSpcReduction="20000"/>
          </a:bodyPr>
          <a:lstStyle/>
          <a:p>
            <a:pPr algn="ctr"/>
            <a:endParaRPr lang="en-US" b="1" dirty="0">
              <a:solidFill>
                <a:schemeClr val="tx1"/>
              </a:solidFill>
            </a:endParaRPr>
          </a:p>
          <a:p>
            <a:pPr algn="ctr"/>
            <a:r>
              <a:rPr lang="en-US" b="1" dirty="0">
                <a:solidFill>
                  <a:schemeClr val="tx1"/>
                </a:solidFill>
              </a:rPr>
              <a:t>Introduction to Pakistan</a:t>
            </a:r>
            <a:endParaRPr lang="en-US" b="1" i="1" dirty="0">
              <a:solidFill>
                <a:schemeClr val="tx1"/>
              </a:solidFill>
            </a:endParaRPr>
          </a:p>
          <a:p>
            <a:endParaRPr lang="en-US" b="1" i="1" dirty="0">
              <a:solidFill>
                <a:schemeClr val="tx1"/>
              </a:solidFill>
            </a:endParaRPr>
          </a:p>
          <a:p>
            <a:endParaRPr lang="en-US" b="1" i="1" dirty="0">
              <a:solidFill>
                <a:schemeClr val="tx1"/>
              </a:solidFill>
            </a:endParaRPr>
          </a:p>
          <a:p>
            <a:endParaRPr lang="en-US" b="1" i="1" dirty="0">
              <a:solidFill>
                <a:schemeClr val="tx1"/>
              </a:solidFill>
            </a:endParaRPr>
          </a:p>
          <a:p>
            <a:endParaRPr lang="en-US" b="1" i="1" dirty="0">
              <a:solidFill>
                <a:schemeClr val="tx1"/>
              </a:solidFill>
            </a:endParaRPr>
          </a:p>
          <a:p>
            <a:endParaRPr lang="en-US" b="1" i="1" dirty="0">
              <a:solidFill>
                <a:schemeClr val="tx1"/>
              </a:solidFill>
            </a:endParaRPr>
          </a:p>
          <a:p>
            <a:endParaRPr lang="en-US" dirty="0">
              <a:solidFill>
                <a:schemeClr val="tx1"/>
              </a:solidFill>
            </a:endParaRPr>
          </a:p>
          <a:p>
            <a:endParaRPr lang="en-US" dirty="0">
              <a:solidFill>
                <a:schemeClr val="tx1"/>
              </a:solidFill>
            </a:endParaRPr>
          </a:p>
          <a:p>
            <a:endParaRPr lang="en-US" dirty="0"/>
          </a:p>
        </p:txBody>
      </p:sp>
      <p:pic>
        <p:nvPicPr>
          <p:cNvPr id="1026" name="Picture 2" descr="C:\Users\1296-154-506\Desktop\bismillah.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7412" y="476672"/>
            <a:ext cx="4829175" cy="2124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216" y="404664"/>
            <a:ext cx="8229600" cy="792088"/>
          </a:xfrm>
        </p:spPr>
        <p:txBody>
          <a:bodyPr>
            <a:normAutofit fontScale="90000"/>
          </a:bodyPr>
          <a:lstStyle/>
          <a:p>
            <a:r>
              <a:rPr lang="en-US" sz="3100" b="1" dirty="0"/>
              <a:t>Geographical Location and Significance</a:t>
            </a:r>
            <a:br>
              <a:rPr lang="en-US" sz="2800" b="1" dirty="0"/>
            </a:br>
            <a:endParaRPr lang="en-US" sz="2800" b="1" dirty="0"/>
          </a:p>
        </p:txBody>
      </p:sp>
      <p:sp>
        <p:nvSpPr>
          <p:cNvPr id="3" name="Content Placeholder 2"/>
          <p:cNvSpPr>
            <a:spLocks noGrp="1"/>
          </p:cNvSpPr>
          <p:nvPr>
            <p:ph idx="1"/>
          </p:nvPr>
        </p:nvSpPr>
        <p:spPr>
          <a:xfrm>
            <a:off x="473216" y="1196752"/>
            <a:ext cx="8229600" cy="4896544"/>
          </a:xfrm>
        </p:spPr>
        <p:txBody>
          <a:bodyPr>
            <a:noAutofit/>
          </a:bodyPr>
          <a:lstStyle/>
          <a:p>
            <a:r>
              <a:rPr lang="en-US" sz="2400" b="1" dirty="0"/>
              <a:t>1. Geographic Location</a:t>
            </a:r>
          </a:p>
          <a:p>
            <a:r>
              <a:rPr lang="en-US" sz="1600" dirty="0"/>
              <a:t>Pakistan is located in </a:t>
            </a:r>
            <a:r>
              <a:rPr lang="en-US" sz="1600" b="1" dirty="0"/>
              <a:t>Southern Asia</a:t>
            </a:r>
            <a:r>
              <a:rPr lang="en-US" sz="1600" dirty="0"/>
              <a:t>. It shares international borders with the following countries:</a:t>
            </a:r>
          </a:p>
          <a:p>
            <a:r>
              <a:rPr lang="en-US" sz="1600" b="1" dirty="0"/>
              <a:t>Afghanistan</a:t>
            </a:r>
            <a:r>
              <a:rPr lang="en-US" sz="1600" dirty="0"/>
              <a:t> — 2,430 km</a:t>
            </a:r>
          </a:p>
          <a:p>
            <a:r>
              <a:rPr lang="en-US" sz="1600" b="1" dirty="0"/>
              <a:t>China</a:t>
            </a:r>
            <a:r>
              <a:rPr lang="en-US" sz="1600" dirty="0"/>
              <a:t> — 523 km</a:t>
            </a:r>
          </a:p>
          <a:p>
            <a:r>
              <a:rPr lang="en-US" sz="1600" b="1" dirty="0"/>
              <a:t>India</a:t>
            </a:r>
            <a:r>
              <a:rPr lang="en-US" sz="1600" dirty="0"/>
              <a:t> — 2,912 km</a:t>
            </a:r>
          </a:p>
          <a:p>
            <a:r>
              <a:rPr lang="en-US" sz="1600" b="1" dirty="0"/>
              <a:t>Iran</a:t>
            </a:r>
            <a:r>
              <a:rPr lang="en-US" sz="1600" dirty="0"/>
              <a:t> — 909 km</a:t>
            </a:r>
            <a:br>
              <a:rPr lang="en-US" sz="1600" dirty="0"/>
            </a:br>
            <a:r>
              <a:rPr lang="en-US" sz="1600" dirty="0"/>
              <a:t>These borders connect Pakistan to key regions in South and Central Asia, influencing its strategic, cultural, and economic relationships.</a:t>
            </a:r>
          </a:p>
          <a:p>
            <a:pPr marL="0" indent="0">
              <a:buNone/>
            </a:pPr>
            <a:br>
              <a:rPr lang="en-US" sz="1600" dirty="0"/>
            </a:br>
            <a:endParaRPr lang="en-US" sz="1600" dirty="0"/>
          </a:p>
          <a:p>
            <a:r>
              <a:rPr lang="en-US" sz="2400" b="1" dirty="0"/>
              <a:t>2. Capital City – Islamabad</a:t>
            </a:r>
          </a:p>
          <a:p>
            <a:r>
              <a:rPr lang="en-US" sz="1600" dirty="0"/>
              <a:t>The </a:t>
            </a:r>
            <a:r>
              <a:rPr lang="en-US" sz="1600" b="1" dirty="0"/>
              <a:t>capital of Pakistan</a:t>
            </a:r>
            <a:r>
              <a:rPr lang="en-US" sz="1600" dirty="0"/>
              <a:t> is </a:t>
            </a:r>
            <a:r>
              <a:rPr lang="en-US" sz="1600" b="1" dirty="0"/>
              <a:t>Islamabad</a:t>
            </a:r>
            <a:r>
              <a:rPr lang="en-US" sz="1600" dirty="0"/>
              <a:t>, located in the </a:t>
            </a:r>
            <a:r>
              <a:rPr lang="en-US" sz="1600" b="1" dirty="0"/>
              <a:t>north-eastern part</a:t>
            </a:r>
            <a:r>
              <a:rPr lang="en-US" sz="1600" dirty="0"/>
              <a:t> of the country.</a:t>
            </a:r>
          </a:p>
          <a:p>
            <a:r>
              <a:rPr lang="en-US" sz="1600" dirty="0"/>
              <a:t>Islamabad was chosen and developed in the 1960s to replace Karachi as the capital because of its central location, planned design, and strategic positioning near the northern borders. </a:t>
            </a:r>
          </a:p>
          <a:p>
            <a:r>
              <a:rPr lang="en-US" sz="1600" dirty="0"/>
              <a:t>It is the </a:t>
            </a:r>
            <a:r>
              <a:rPr lang="en-US" sz="1600" b="1" dirty="0"/>
              <a:t>political and administrative center</a:t>
            </a:r>
            <a:r>
              <a:rPr lang="en-US" sz="1600" dirty="0"/>
              <a:t> of the country.</a:t>
            </a:r>
          </a:p>
          <a:p>
            <a:pPr marL="0" indent="0" algn="just">
              <a:buNone/>
            </a:pPr>
            <a:endParaRPr lang="en-US" sz="16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730D29-35EF-44A1-6D9B-22CDD3960B21}"/>
              </a:ext>
            </a:extLst>
          </p:cNvPr>
          <p:cNvSpPr>
            <a:spLocks noGrp="1"/>
          </p:cNvSpPr>
          <p:nvPr>
            <p:ph idx="1"/>
          </p:nvPr>
        </p:nvSpPr>
        <p:spPr>
          <a:xfrm>
            <a:off x="457200" y="620688"/>
            <a:ext cx="8229600" cy="5544616"/>
          </a:xfrm>
        </p:spPr>
        <p:txBody>
          <a:bodyPr>
            <a:noAutofit/>
          </a:bodyPr>
          <a:lstStyle/>
          <a:p>
            <a:r>
              <a:rPr lang="en-US" sz="2400" b="1" dirty="0"/>
              <a:t>3. National Anthem — </a:t>
            </a:r>
            <a:r>
              <a:rPr lang="en-US" sz="2400" b="1" i="1" dirty="0" err="1"/>
              <a:t>Qaumi</a:t>
            </a:r>
            <a:r>
              <a:rPr lang="en-US" sz="2400" b="1" i="1" dirty="0"/>
              <a:t> </a:t>
            </a:r>
            <a:r>
              <a:rPr lang="en-US" sz="2400" b="1" i="1" dirty="0" err="1"/>
              <a:t>Taranah</a:t>
            </a:r>
            <a:endParaRPr lang="en-US" sz="2400" b="1" dirty="0"/>
          </a:p>
          <a:p>
            <a:r>
              <a:rPr lang="en-US" sz="1600" dirty="0"/>
              <a:t>The official national anthem of Pakistan is called </a:t>
            </a:r>
            <a:r>
              <a:rPr lang="en-US" sz="1600" b="1" dirty="0"/>
              <a:t>“</a:t>
            </a:r>
            <a:r>
              <a:rPr lang="en-US" sz="1600" b="1" dirty="0" err="1"/>
              <a:t>Qaumi</a:t>
            </a:r>
            <a:r>
              <a:rPr lang="en-US" sz="1600" b="1" dirty="0"/>
              <a:t> </a:t>
            </a:r>
            <a:r>
              <a:rPr lang="en-US" sz="1600" b="1" dirty="0" err="1"/>
              <a:t>Taranah</a:t>
            </a:r>
            <a:r>
              <a:rPr lang="en-US" sz="1600" b="1" dirty="0"/>
              <a:t>”</a:t>
            </a:r>
            <a:r>
              <a:rPr lang="en-US" sz="1600" dirty="0"/>
              <a:t>, which roughly translates to </a:t>
            </a:r>
            <a:r>
              <a:rPr lang="en-US" sz="1600" b="1" dirty="0"/>
              <a:t>“National Anthem”</a:t>
            </a:r>
            <a:r>
              <a:rPr lang="en-US" sz="1600" dirty="0"/>
              <a:t> or </a:t>
            </a:r>
            <a:r>
              <a:rPr lang="en-US" sz="1600" b="1" dirty="0"/>
              <a:t>“The Sacred Land.”</a:t>
            </a:r>
            <a:endParaRPr lang="en-US" sz="1600" dirty="0"/>
          </a:p>
          <a:p>
            <a:r>
              <a:rPr lang="en-US" sz="1600" dirty="0"/>
              <a:t>The </a:t>
            </a:r>
            <a:r>
              <a:rPr lang="en-US" sz="1600" b="1" dirty="0"/>
              <a:t>music</a:t>
            </a:r>
            <a:r>
              <a:rPr lang="en-US" sz="1600" dirty="0"/>
              <a:t> was composed by </a:t>
            </a:r>
            <a:r>
              <a:rPr lang="en-US" sz="1600" b="1" dirty="0"/>
              <a:t>Ahmad G. </a:t>
            </a:r>
            <a:r>
              <a:rPr lang="en-US" sz="1600" b="1" dirty="0" err="1"/>
              <a:t>Chagla</a:t>
            </a:r>
            <a:r>
              <a:rPr lang="en-US" sz="1600" dirty="0"/>
              <a:t> in </a:t>
            </a:r>
            <a:r>
              <a:rPr lang="en-US" sz="1600" b="1" dirty="0"/>
              <a:t>1949</a:t>
            </a:r>
            <a:r>
              <a:rPr lang="en-US" sz="1600" dirty="0"/>
              <a:t>.</a:t>
            </a:r>
          </a:p>
          <a:p>
            <a:r>
              <a:rPr lang="en-US" sz="1600" b="1" dirty="0"/>
              <a:t>Urdu lyrics</a:t>
            </a:r>
            <a:r>
              <a:rPr lang="en-US" sz="1600" dirty="0"/>
              <a:t> were written by </a:t>
            </a:r>
            <a:r>
              <a:rPr lang="en-US" sz="1600" b="1" dirty="0"/>
              <a:t>Abu Al-Asar Hafeez </a:t>
            </a:r>
            <a:r>
              <a:rPr lang="en-US" sz="1600" b="1" dirty="0" err="1"/>
              <a:t>Jalandhari</a:t>
            </a:r>
            <a:r>
              <a:rPr lang="en-US" sz="1600" dirty="0"/>
              <a:t> in </a:t>
            </a:r>
            <a:r>
              <a:rPr lang="en-US" sz="1600" b="1" dirty="0"/>
              <a:t>1952</a:t>
            </a:r>
            <a:r>
              <a:rPr lang="en-US" sz="1600" dirty="0"/>
              <a:t>.</a:t>
            </a:r>
          </a:p>
          <a:p>
            <a:r>
              <a:rPr lang="en-US" sz="1600" dirty="0"/>
              <a:t>It was </a:t>
            </a:r>
            <a:r>
              <a:rPr lang="en-US" sz="1600" b="1" dirty="0"/>
              <a:t>officially adopted in August 1954</a:t>
            </a:r>
            <a:r>
              <a:rPr lang="en-US" sz="1600" dirty="0"/>
              <a:t>. </a:t>
            </a:r>
          </a:p>
          <a:p>
            <a:r>
              <a:rPr lang="en-US" sz="1600" dirty="0"/>
              <a:t>The anthem reflects cultural and patriotic themes and is played on official occasions like Independence Day and state ceremonies.</a:t>
            </a:r>
          </a:p>
          <a:p>
            <a:br>
              <a:rPr lang="en-US" sz="1600" dirty="0"/>
            </a:br>
            <a:endParaRPr lang="en-US" sz="1600" dirty="0"/>
          </a:p>
          <a:p>
            <a:r>
              <a:rPr lang="en-US" sz="2400" b="1" dirty="0"/>
              <a:t>4. Ethnic Composition</a:t>
            </a:r>
          </a:p>
          <a:p>
            <a:r>
              <a:rPr lang="en-US" sz="1600" dirty="0"/>
              <a:t>Pakistan’s population is diverse and composed of several major ethnic groups, including:</a:t>
            </a:r>
          </a:p>
          <a:p>
            <a:r>
              <a:rPr lang="en-US" sz="1600" b="1" dirty="0"/>
              <a:t>Punjabi</a:t>
            </a:r>
            <a:endParaRPr lang="en-US" sz="1600" dirty="0"/>
          </a:p>
          <a:p>
            <a:r>
              <a:rPr lang="en-US" sz="1600" b="1" dirty="0"/>
              <a:t>Sindhi</a:t>
            </a:r>
            <a:endParaRPr lang="en-US" sz="1600" dirty="0"/>
          </a:p>
          <a:p>
            <a:r>
              <a:rPr lang="en-US" sz="1600" b="1" dirty="0"/>
              <a:t>Pashtun (Pathan)</a:t>
            </a:r>
            <a:endParaRPr lang="en-US" sz="1600" dirty="0"/>
          </a:p>
          <a:p>
            <a:r>
              <a:rPr lang="en-US" sz="1600" b="1" dirty="0"/>
              <a:t>Baloch</a:t>
            </a:r>
            <a:endParaRPr lang="en-US" sz="1600" dirty="0"/>
          </a:p>
          <a:p>
            <a:r>
              <a:rPr lang="en-US" sz="1600" b="1" dirty="0"/>
              <a:t>Muhajir</a:t>
            </a:r>
            <a:r>
              <a:rPr lang="en-US" sz="1600" dirty="0"/>
              <a:t> (communities that migrated from India at the time of partition)</a:t>
            </a:r>
          </a:p>
          <a:p>
            <a:r>
              <a:rPr lang="en-US" sz="1600" dirty="0"/>
              <a:t>These ethnic groups contribute to a rich cultural, linguistic, and social mosaic.</a:t>
            </a:r>
          </a:p>
          <a:p>
            <a:pPr marL="0" indent="0">
              <a:buNone/>
            </a:pPr>
            <a:br>
              <a:rPr lang="en-US" sz="1600" dirty="0"/>
            </a:br>
            <a:endParaRPr lang="en-US" sz="1600" dirty="0"/>
          </a:p>
          <a:p>
            <a:pPr marL="0" indent="0">
              <a:buNone/>
            </a:pPr>
            <a:endParaRPr lang="en-US" sz="1600" b="1" dirty="0"/>
          </a:p>
          <a:p>
            <a:endParaRPr lang="en-PK" sz="1600" dirty="0"/>
          </a:p>
        </p:txBody>
      </p:sp>
    </p:spTree>
    <p:extLst>
      <p:ext uri="{BB962C8B-B14F-4D97-AF65-F5344CB8AC3E}">
        <p14:creationId xmlns:p14="http://schemas.microsoft.com/office/powerpoint/2010/main" val="3308318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335B97-479C-3923-AF03-778186C0632C}"/>
              </a:ext>
            </a:extLst>
          </p:cNvPr>
          <p:cNvSpPr>
            <a:spLocks noGrp="1"/>
          </p:cNvSpPr>
          <p:nvPr>
            <p:ph idx="1"/>
          </p:nvPr>
        </p:nvSpPr>
        <p:spPr>
          <a:xfrm>
            <a:off x="395536" y="836712"/>
            <a:ext cx="8291264" cy="5184576"/>
          </a:xfrm>
        </p:spPr>
        <p:txBody>
          <a:bodyPr>
            <a:noAutofit/>
          </a:bodyPr>
          <a:lstStyle/>
          <a:p>
            <a:r>
              <a:rPr lang="en-US" sz="2800" b="1" dirty="0"/>
              <a:t>5. Population </a:t>
            </a:r>
          </a:p>
          <a:p>
            <a:r>
              <a:rPr lang="en-US" sz="2800" dirty="0"/>
              <a:t>Pakistan’s population has </a:t>
            </a:r>
            <a:r>
              <a:rPr lang="en-US" sz="2800" b="1" dirty="0"/>
              <a:t>grown significantly</a:t>
            </a:r>
            <a:r>
              <a:rPr lang="en-US" sz="2800" dirty="0"/>
              <a:t> compared to older figures like 204 million:</a:t>
            </a:r>
          </a:p>
          <a:p>
            <a:r>
              <a:rPr lang="en-US" sz="2800" dirty="0"/>
              <a:t>According to the </a:t>
            </a:r>
            <a:r>
              <a:rPr lang="en-US" sz="2800" b="1" dirty="0"/>
              <a:t>2023 digital census</a:t>
            </a:r>
            <a:r>
              <a:rPr lang="en-US" sz="2800" dirty="0"/>
              <a:t>, Pakistan’s total population is </a:t>
            </a:r>
            <a:r>
              <a:rPr lang="en-US" sz="2800" b="1" dirty="0"/>
              <a:t>about 250million</a:t>
            </a:r>
            <a:r>
              <a:rPr lang="en-US" sz="2800" dirty="0"/>
              <a:t>.</a:t>
            </a:r>
          </a:p>
          <a:p>
            <a:r>
              <a:rPr lang="en-US" sz="2800" dirty="0"/>
              <a:t>This makes Pakistan the </a:t>
            </a:r>
            <a:r>
              <a:rPr lang="en-US" sz="2800" b="1" dirty="0"/>
              <a:t>5th most populous country in the world</a:t>
            </a:r>
            <a:r>
              <a:rPr lang="en-US" sz="2800" dirty="0"/>
              <a:t>.</a:t>
            </a:r>
          </a:p>
          <a:p>
            <a:r>
              <a:rPr lang="en-US" sz="2800" dirty="0"/>
              <a:t>The annual population growth rate is around </a:t>
            </a:r>
            <a:r>
              <a:rPr lang="en-US" sz="2800" b="1" dirty="0"/>
              <a:t>2.5 %</a:t>
            </a:r>
            <a:r>
              <a:rPr lang="en-US" sz="2800" dirty="0"/>
              <a:t>.</a:t>
            </a:r>
          </a:p>
          <a:p>
            <a:r>
              <a:rPr lang="en-US" sz="2800" dirty="0"/>
              <a:t>Approximately </a:t>
            </a:r>
            <a:r>
              <a:rPr lang="en-US" sz="2800" b="1" dirty="0"/>
              <a:t>38–39 %</a:t>
            </a:r>
            <a:r>
              <a:rPr lang="en-US" sz="2800" dirty="0"/>
              <a:t> of the population lives in urban areas, with the rest in rural areas. </a:t>
            </a:r>
          </a:p>
          <a:p>
            <a:pPr marL="0" indent="0">
              <a:buNone/>
            </a:pPr>
            <a:br>
              <a:rPr lang="en-US" sz="2800" dirty="0"/>
            </a:br>
            <a:endParaRPr lang="en-US" sz="2800" dirty="0"/>
          </a:p>
          <a:p>
            <a:pPr marL="0" indent="0">
              <a:buNone/>
            </a:pPr>
            <a:endParaRPr lang="en-PK" sz="2800" dirty="0"/>
          </a:p>
        </p:txBody>
      </p:sp>
    </p:spTree>
    <p:extLst>
      <p:ext uri="{BB962C8B-B14F-4D97-AF65-F5344CB8AC3E}">
        <p14:creationId xmlns:p14="http://schemas.microsoft.com/office/powerpoint/2010/main" val="1313929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93AD87-03A1-DFFE-71ED-7F1178B4A00E}"/>
              </a:ext>
            </a:extLst>
          </p:cNvPr>
          <p:cNvSpPr>
            <a:spLocks noGrp="1"/>
          </p:cNvSpPr>
          <p:nvPr>
            <p:ph idx="1"/>
          </p:nvPr>
        </p:nvSpPr>
        <p:spPr>
          <a:xfrm>
            <a:off x="457200" y="620688"/>
            <a:ext cx="8229600" cy="5256584"/>
          </a:xfrm>
        </p:spPr>
        <p:txBody>
          <a:bodyPr>
            <a:noAutofit/>
          </a:bodyPr>
          <a:lstStyle/>
          <a:p>
            <a:r>
              <a:rPr lang="en-US" sz="2400" b="1" dirty="0"/>
              <a:t>6.  National Context </a:t>
            </a:r>
          </a:p>
          <a:p>
            <a:r>
              <a:rPr lang="en-US" sz="2000" b="1" dirty="0"/>
              <a:t>Government and Politics</a:t>
            </a:r>
          </a:p>
          <a:p>
            <a:r>
              <a:rPr lang="en-US" sz="2000" dirty="0"/>
              <a:t>Pakistan is officially known as the </a:t>
            </a:r>
            <a:r>
              <a:rPr lang="en-US" sz="2000" b="1" dirty="0"/>
              <a:t>Islamic Republic of Pakistan</a:t>
            </a:r>
            <a:r>
              <a:rPr lang="en-US" sz="2000" dirty="0"/>
              <a:t>.</a:t>
            </a:r>
          </a:p>
          <a:p>
            <a:r>
              <a:rPr lang="en-US" sz="2000" dirty="0"/>
              <a:t>It has a </a:t>
            </a:r>
            <a:r>
              <a:rPr lang="en-US" sz="2000" b="1" dirty="0"/>
              <a:t>parliamentary system</a:t>
            </a:r>
            <a:r>
              <a:rPr lang="en-US" sz="2000" dirty="0"/>
              <a:t> of government with two houses: the </a:t>
            </a:r>
            <a:r>
              <a:rPr lang="en-US" sz="2000" b="1" dirty="0"/>
              <a:t>Senate</a:t>
            </a:r>
            <a:r>
              <a:rPr lang="en-US" sz="2000" dirty="0"/>
              <a:t> and the </a:t>
            </a:r>
            <a:r>
              <a:rPr lang="en-US" sz="2000" b="1" dirty="0"/>
              <a:t>National Assembly</a:t>
            </a:r>
            <a:r>
              <a:rPr lang="en-US" sz="2000" dirty="0"/>
              <a:t>. </a:t>
            </a:r>
          </a:p>
          <a:p>
            <a:r>
              <a:rPr lang="en-US" sz="2000" b="1" dirty="0"/>
              <a:t>Official Languages</a:t>
            </a:r>
          </a:p>
          <a:p>
            <a:r>
              <a:rPr lang="en-US" sz="2000" b="1" dirty="0"/>
              <a:t>Urdu</a:t>
            </a:r>
            <a:r>
              <a:rPr lang="en-US" sz="2000" dirty="0"/>
              <a:t> — National language</a:t>
            </a:r>
          </a:p>
          <a:p>
            <a:r>
              <a:rPr lang="en-US" sz="2000" b="1" dirty="0"/>
              <a:t>English</a:t>
            </a:r>
            <a:r>
              <a:rPr lang="en-US" sz="2000" dirty="0"/>
              <a:t> — Official language used in government and business contexts </a:t>
            </a:r>
          </a:p>
          <a:p>
            <a:r>
              <a:rPr lang="en-US" sz="2000" b="1" dirty="0"/>
              <a:t>Religion</a:t>
            </a:r>
          </a:p>
          <a:p>
            <a:r>
              <a:rPr lang="en-US" sz="2000" dirty="0"/>
              <a:t>Predominantly </a:t>
            </a:r>
            <a:r>
              <a:rPr lang="en-US" sz="2000" b="1" dirty="0"/>
              <a:t>Muslim</a:t>
            </a:r>
            <a:r>
              <a:rPr lang="en-US" sz="2000" dirty="0"/>
              <a:t> (over 95 %), with small minorities of Christians, Hindus, and others. </a:t>
            </a:r>
          </a:p>
          <a:p>
            <a:r>
              <a:rPr lang="en-US" sz="2000" b="1" dirty="0"/>
              <a:t>National Symbols</a:t>
            </a:r>
          </a:p>
          <a:p>
            <a:r>
              <a:rPr lang="en-US" sz="2000" dirty="0"/>
              <a:t>Flag: Green with a white crescent and star symbolizing progress, light, and knowledge</a:t>
            </a:r>
          </a:p>
          <a:p>
            <a:endParaRPr lang="en-PK" sz="2000" dirty="0"/>
          </a:p>
        </p:txBody>
      </p:sp>
    </p:spTree>
    <p:extLst>
      <p:ext uri="{BB962C8B-B14F-4D97-AF65-F5344CB8AC3E}">
        <p14:creationId xmlns:p14="http://schemas.microsoft.com/office/powerpoint/2010/main" val="2915167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2376264"/>
          </a:xfrm>
        </p:spPr>
        <p:txBody>
          <a:bodyPr>
            <a:normAutofit/>
          </a:bodyPr>
          <a:lstStyle/>
          <a:p>
            <a:r>
              <a:rPr lang="en-US" sz="2800" b="1" dirty="0"/>
              <a:t>Geographical Location and Significance</a:t>
            </a:r>
            <a:br>
              <a:rPr lang="en-US" sz="2800" b="1" dirty="0"/>
            </a:br>
            <a:endParaRPr lang="en-US" sz="2800" b="1" dirty="0"/>
          </a:p>
        </p:txBody>
      </p:sp>
      <p:sp>
        <p:nvSpPr>
          <p:cNvPr id="3" name="Content Placeholder 2"/>
          <p:cNvSpPr>
            <a:spLocks noGrp="1"/>
          </p:cNvSpPr>
          <p:nvPr>
            <p:ph idx="1"/>
          </p:nvPr>
        </p:nvSpPr>
        <p:spPr>
          <a:xfrm>
            <a:off x="457200" y="1988840"/>
            <a:ext cx="8229600" cy="4137323"/>
          </a:xfrm>
        </p:spPr>
        <p:txBody>
          <a:bodyPr/>
          <a:lstStyle/>
          <a:p>
            <a:pPr marL="0" indent="0">
              <a:buNone/>
            </a:pPr>
            <a:r>
              <a:rPr lang="en-US" sz="2400" b="1" dirty="0">
                <a:sym typeface="+mn-ea"/>
              </a:rPr>
              <a:t>Climate</a:t>
            </a:r>
            <a:r>
              <a:rPr lang="en-US" sz="2400" dirty="0">
                <a:sym typeface="+mn-ea"/>
              </a:rPr>
              <a:t>:  Although there are some different climate. Climatic differences depending on where you are in Pakistan, the climate is generally temperate and consists of three seasons which include summer, winter and Monsoon. The extremes of these seasons vary depending on location. It is typically dry and hot in the south of the country and mild in the northern parts of the country.</a:t>
            </a:r>
            <a:endParaRPr lang="en-US" sz="2400" dirty="0"/>
          </a:p>
          <a:p>
            <a:pPr marL="0" indent="0">
              <a:buNone/>
            </a:pP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4680520"/>
          </a:xfrm>
        </p:spPr>
        <p:txBody>
          <a:bodyPr>
            <a:normAutofit/>
          </a:bodyPr>
          <a:lstStyle/>
          <a:p>
            <a:pPr marL="0" lvl="0" indent="0">
              <a:buNone/>
            </a:pPr>
            <a:endParaRPr lang="en-US" sz="2400" dirty="0"/>
          </a:p>
          <a:p>
            <a:pPr lvl="0"/>
            <a:r>
              <a:rPr lang="en-US" sz="2400" b="1" dirty="0">
                <a:sym typeface="+mn-ea"/>
              </a:rPr>
              <a:t>Government structure of Pakistan:</a:t>
            </a:r>
          </a:p>
          <a:p>
            <a:pPr lvl="0"/>
            <a:r>
              <a:rPr lang="en-US" sz="2400" dirty="0">
                <a:sym typeface="+mn-ea"/>
              </a:rPr>
              <a:t> Pakistan is a federal parliamentary republic. The government serves on a five-year term basis and is headed by the President (the official Head of State) and the Prime Minister.  There are 342 members of the National Assembly, 79% of whom are elected to their positions on the basis of popular vote.  Of these seats, 22% are reserved for women. The four provinces of Pakistan have their own legislative assembly and members are again elected by popular vote.</a:t>
            </a:r>
          </a:p>
          <a:p>
            <a:pPr lvl="0"/>
            <a:r>
              <a:rPr lang="en-US" sz="2400" b="1" dirty="0">
                <a:sym typeface="+mn-ea"/>
              </a:rPr>
              <a:t>Currency of Pakistan:</a:t>
            </a:r>
            <a:r>
              <a:rPr lang="en-US" sz="2400" dirty="0">
                <a:sym typeface="+mn-ea"/>
              </a:rPr>
              <a:t> The Rupee.</a:t>
            </a:r>
            <a:endParaRPr lang="en-US" sz="2400" dirty="0"/>
          </a:p>
          <a:p>
            <a:pPr marL="0" lvl="0" indent="0">
              <a:buNone/>
            </a:pPr>
            <a:endParaRPr lang="en-US" sz="2400" dirty="0"/>
          </a:p>
          <a:p>
            <a:pPr marL="0" indent="0">
              <a:buNone/>
            </a:pP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0688"/>
            <a:ext cx="8229600" cy="720080"/>
          </a:xfrm>
        </p:spPr>
        <p:txBody>
          <a:bodyPr>
            <a:normAutofit fontScale="90000"/>
          </a:bodyPr>
          <a:lstStyle/>
          <a:p>
            <a:r>
              <a:rPr lang="en-US" sz="2800" b="1" dirty="0"/>
              <a:t>Geographical Location and Significance</a:t>
            </a:r>
            <a:br>
              <a:rPr lang="en-US" sz="2800" b="1" dirty="0"/>
            </a:br>
            <a:endParaRPr lang="en-US" sz="2800" b="1" dirty="0"/>
          </a:p>
        </p:txBody>
      </p:sp>
      <p:sp>
        <p:nvSpPr>
          <p:cNvPr id="3" name="Content Placeholder 2"/>
          <p:cNvSpPr>
            <a:spLocks noGrp="1"/>
          </p:cNvSpPr>
          <p:nvPr>
            <p:ph idx="1"/>
          </p:nvPr>
        </p:nvSpPr>
        <p:spPr>
          <a:xfrm>
            <a:off x="457200" y="1988840"/>
            <a:ext cx="8229600" cy="4137323"/>
          </a:xfrm>
        </p:spPr>
        <p:txBody>
          <a:bodyPr>
            <a:normAutofit/>
          </a:bodyPr>
          <a:lstStyle/>
          <a:p>
            <a:r>
              <a:rPr lang="en-US" sz="2400" dirty="0">
                <a:sym typeface="+mn-ea"/>
              </a:rPr>
              <a:t> </a:t>
            </a:r>
            <a:r>
              <a:rPr lang="en-US" sz="2400" b="1" dirty="0">
                <a:sym typeface="+mn-ea"/>
              </a:rPr>
              <a:t>Total Area</a:t>
            </a:r>
            <a:r>
              <a:rPr lang="en-US" sz="2400" dirty="0">
                <a:sym typeface="+mn-ea"/>
              </a:rPr>
              <a:t>: </a:t>
            </a:r>
            <a:r>
              <a:rPr lang="en-US" sz="2400" b="1" dirty="0">
                <a:sym typeface="+mn-ea"/>
              </a:rPr>
              <a:t>796,095 square kilometer</a:t>
            </a:r>
            <a:r>
              <a:rPr lang="en-US" sz="2400" dirty="0">
                <a:sym typeface="+mn-ea"/>
              </a:rPr>
              <a:t>. Punjab: 205,344 sq. km. Sindh: 140,914 sq. km. Khyber Pakhtunkhwa: 74,521 sq. km. Baluchistan: 347,190 ... total coastline of 1,046 km. Pakistan has some neighbor countries China, Afghanistan, Iran India to touch the border.</a:t>
            </a:r>
            <a:endParaRPr lang="en-US" sz="2400" dirty="0"/>
          </a:p>
          <a:p>
            <a:endParaRPr lang="en-US" sz="2400" b="1" dirty="0">
              <a:sym typeface="+mn-ea"/>
            </a:endParaRPr>
          </a:p>
          <a:p>
            <a:pPr marL="0" indent="0">
              <a:buNone/>
            </a:pP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2376264"/>
          </a:xfrm>
        </p:spPr>
        <p:txBody>
          <a:bodyPr>
            <a:normAutofit/>
          </a:bodyPr>
          <a:lstStyle/>
          <a:p>
            <a:r>
              <a:rPr lang="en-US" sz="2800" b="1" dirty="0"/>
              <a:t>Historical Background : Ancient Civilization in the Region</a:t>
            </a:r>
          </a:p>
        </p:txBody>
      </p:sp>
      <p:sp>
        <p:nvSpPr>
          <p:cNvPr id="3" name="Content Placeholder 2"/>
          <p:cNvSpPr>
            <a:spLocks noGrp="1"/>
          </p:cNvSpPr>
          <p:nvPr>
            <p:ph idx="1"/>
          </p:nvPr>
        </p:nvSpPr>
        <p:spPr>
          <a:xfrm>
            <a:off x="457200" y="1988840"/>
            <a:ext cx="8229600" cy="4137323"/>
          </a:xfrm>
        </p:spPr>
        <p:txBody>
          <a:bodyPr>
            <a:normAutofit fontScale="97500"/>
          </a:bodyPr>
          <a:lstStyle/>
          <a:p>
            <a:pPr algn="just"/>
            <a:r>
              <a:rPr lang="en-US" sz="2400" dirty="0">
                <a:sym typeface="+mn-ea"/>
              </a:rPr>
              <a:t>Indus civilization, also called Indus Valley civilization or Harappa civilization, is </a:t>
            </a:r>
            <a:r>
              <a:rPr lang="en-US" sz="2400" b="1" dirty="0">
                <a:sym typeface="+mn-ea"/>
              </a:rPr>
              <a:t>the earliest known urban culture of the Indian subcontinent</a:t>
            </a:r>
            <a:r>
              <a:rPr lang="en-US" sz="2400" dirty="0">
                <a:sym typeface="+mn-ea"/>
              </a:rPr>
              <a:t>. The nuclear dates of the civilization appear to be about 2500–1700, the southern sites may have lasted later into the 2nd millennium BCE.</a:t>
            </a:r>
            <a:endParaRPr lang="en-US" sz="2400" i="1" dirty="0"/>
          </a:p>
          <a:p>
            <a:pPr marL="0" indent="0" algn="just">
              <a:buNone/>
            </a:pPr>
            <a:endParaRPr lang="en-US" sz="2400" dirty="0"/>
          </a:p>
          <a:p>
            <a:pPr algn="just"/>
            <a:r>
              <a:rPr lang="en-US" sz="2400" dirty="0">
                <a:sym typeface="+mn-ea"/>
              </a:rPr>
              <a:t>The Indus cities are noted for their </a:t>
            </a:r>
            <a:r>
              <a:rPr lang="en-US" sz="2400" b="1" dirty="0">
                <a:sym typeface="+mn-ea"/>
              </a:rPr>
              <a:t>urban planning</a:t>
            </a:r>
            <a:r>
              <a:rPr lang="en-US" sz="2400" dirty="0">
                <a:sym typeface="+mn-ea"/>
              </a:rPr>
              <a:t>, a technical and political process concerned with the use of land and the design of the urban environment. They are also noted for their baked brick houses, elaborate drainage systems, water supply systems, and nonresidential buildings.</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2376264"/>
          </a:xfrm>
        </p:spPr>
        <p:txBody>
          <a:bodyPr>
            <a:normAutofit/>
          </a:bodyPr>
          <a:lstStyle/>
          <a:p>
            <a:r>
              <a:rPr lang="en-US" sz="2800" b="1" dirty="0"/>
              <a:t>Historical Background : Ancient Civilization in the Region</a:t>
            </a:r>
          </a:p>
        </p:txBody>
      </p:sp>
      <p:sp>
        <p:nvSpPr>
          <p:cNvPr id="3" name="Content Placeholder 2"/>
          <p:cNvSpPr>
            <a:spLocks noGrp="1"/>
          </p:cNvSpPr>
          <p:nvPr>
            <p:ph idx="1"/>
          </p:nvPr>
        </p:nvSpPr>
        <p:spPr>
          <a:xfrm>
            <a:off x="457200" y="1988840"/>
            <a:ext cx="8229600" cy="4137323"/>
          </a:xfrm>
        </p:spPr>
        <p:txBody>
          <a:bodyPr>
            <a:normAutofit/>
          </a:bodyPr>
          <a:lstStyle/>
          <a:p>
            <a:pPr algn="just"/>
            <a:r>
              <a:rPr lang="en-US" sz="2400" b="1" dirty="0">
                <a:sym typeface="+mn-ea"/>
              </a:rPr>
              <a:t>Mohenjo-Daro</a:t>
            </a:r>
            <a:r>
              <a:rPr lang="en-US" sz="2400" dirty="0">
                <a:sym typeface="+mn-ea"/>
              </a:rPr>
              <a:t> is widely recognized as one of the most important early cities of South Asia and the </a:t>
            </a:r>
            <a:r>
              <a:rPr lang="en-US" sz="2400" u="sng" dirty="0">
                <a:sym typeface="+mn-ea"/>
                <a:hlinkClick r:id="rId3"/>
              </a:rPr>
              <a:t>Indus Civilization</a:t>
            </a:r>
            <a:r>
              <a:rPr lang="en-US" sz="2400" dirty="0">
                <a:sym typeface="+mn-ea"/>
              </a:rPr>
              <a:t> and yet most publications rarely provide more than a cursory overview of this important site's.</a:t>
            </a:r>
          </a:p>
          <a:p>
            <a:pPr algn="just"/>
            <a:endParaRPr lang="en-US" sz="2400" i="1" dirty="0"/>
          </a:p>
          <a:p>
            <a:pPr algn="just"/>
            <a:r>
              <a:rPr lang="en-US" sz="2400" b="1" dirty="0">
                <a:sym typeface="+mn-ea"/>
              </a:rPr>
              <a:t>Geography.</a:t>
            </a:r>
            <a:r>
              <a:rPr lang="en-US" sz="2400" dirty="0">
                <a:sym typeface="+mn-ea"/>
              </a:rPr>
              <a:t> The Indus River Valley civilization was </a:t>
            </a:r>
            <a:r>
              <a:rPr lang="en-US" sz="2400" b="1" dirty="0">
                <a:sym typeface="+mn-ea"/>
              </a:rPr>
              <a:t>located in a small area of land in Pakistan and India</a:t>
            </a:r>
            <a:r>
              <a:rPr lang="en-US" sz="2400" dirty="0">
                <a:sym typeface="+mn-ea"/>
              </a:rPr>
              <a:t>. Aside from being on the banks of the large Indus River, the Indus Valley civilization was surrounded by forests, deserts, and oceans, making it a very fertile land.</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2376264"/>
          </a:xfrm>
        </p:spPr>
        <p:txBody>
          <a:bodyPr>
            <a:normAutofit/>
          </a:bodyPr>
          <a:lstStyle/>
          <a:p>
            <a:r>
              <a:rPr lang="en-US" sz="2800" b="1" dirty="0"/>
              <a:t>Historical Background : Ancient Civilization in the Region</a:t>
            </a:r>
          </a:p>
        </p:txBody>
      </p:sp>
      <p:sp>
        <p:nvSpPr>
          <p:cNvPr id="3" name="Content Placeholder 2"/>
          <p:cNvSpPr>
            <a:spLocks noGrp="1"/>
          </p:cNvSpPr>
          <p:nvPr>
            <p:ph idx="1"/>
          </p:nvPr>
        </p:nvSpPr>
        <p:spPr>
          <a:xfrm>
            <a:off x="457200" y="1988840"/>
            <a:ext cx="8229600" cy="4137323"/>
          </a:xfrm>
        </p:spPr>
        <p:txBody>
          <a:bodyPr>
            <a:normAutofit fontScale="97500" lnSpcReduction="10000"/>
          </a:bodyPr>
          <a:lstStyle/>
          <a:p>
            <a:pPr algn="just"/>
            <a:r>
              <a:rPr lang="en-US" sz="2400" dirty="0">
                <a:sym typeface="+mn-ea"/>
              </a:rPr>
              <a:t>The </a:t>
            </a:r>
            <a:r>
              <a:rPr lang="en-US" sz="2400" b="1" u="sng" dirty="0">
                <a:sym typeface="+mn-ea"/>
                <a:hlinkClick r:id="rId3"/>
              </a:rPr>
              <a:t>Indus Valley</a:t>
            </a:r>
            <a:r>
              <a:rPr lang="en-US" sz="2400" dirty="0">
                <a:sym typeface="+mn-ea"/>
              </a:rPr>
              <a:t> Civilization is now often compared with the far more famous cultures of </a:t>
            </a:r>
            <a:r>
              <a:rPr lang="en-US" sz="2400" b="1" u="sng" dirty="0">
                <a:sym typeface="+mn-ea"/>
                <a:hlinkClick r:id="rId4"/>
              </a:rPr>
              <a:t>Egypt</a:t>
            </a:r>
            <a:r>
              <a:rPr lang="en-US" sz="2400" dirty="0">
                <a:sym typeface="+mn-ea"/>
              </a:rPr>
              <a:t> and </a:t>
            </a:r>
            <a:r>
              <a:rPr lang="en-US" sz="2400" b="1" u="sng" dirty="0">
                <a:sym typeface="+mn-ea"/>
                <a:hlinkClick r:id="rId5"/>
              </a:rPr>
              <a:t>Mesopotamia</a:t>
            </a:r>
            <a:r>
              <a:rPr lang="en-US" sz="2400" dirty="0">
                <a:sym typeface="+mn-ea"/>
              </a:rPr>
              <a:t>, but this is a fairly recent development. The discovery of Harappa in 1829 CE was the first indication that any such civilization existed in </a:t>
            </a:r>
            <a:r>
              <a:rPr lang="en-US" sz="2400" b="1" u="sng" dirty="0">
                <a:sym typeface="+mn-ea"/>
                <a:hlinkClick r:id="rId6"/>
              </a:rPr>
              <a:t>India</a:t>
            </a:r>
            <a:r>
              <a:rPr lang="en-US" sz="2400" dirty="0">
                <a:sym typeface="+mn-ea"/>
              </a:rPr>
              <a:t>, and by that time, </a:t>
            </a:r>
            <a:r>
              <a:rPr lang="en-US" sz="2400" b="1" u="sng" dirty="0">
                <a:sym typeface="+mn-ea"/>
                <a:hlinkClick r:id="rId7"/>
              </a:rPr>
              <a:t>Egyptian</a:t>
            </a:r>
            <a:r>
              <a:rPr lang="en-US" sz="2400" dirty="0">
                <a:sym typeface="+mn-ea"/>
              </a:rPr>
              <a:t> symbols</a:t>
            </a:r>
            <a:r>
              <a:rPr lang="en-US" sz="2400" b="1" u="sng" dirty="0">
                <a:sym typeface="+mn-ea"/>
              </a:rPr>
              <a:t> </a:t>
            </a:r>
            <a:r>
              <a:rPr lang="en-US" sz="2400" dirty="0">
                <a:sym typeface="+mn-ea"/>
              </a:rPr>
              <a:t>had been brake, Egyptian and Mesopotamian sites dig out, and </a:t>
            </a:r>
            <a:r>
              <a:rPr lang="en-US" sz="2400" u="sng" dirty="0">
                <a:sym typeface="+mn-ea"/>
              </a:rPr>
              <a:t>script</a:t>
            </a:r>
            <a:r>
              <a:rPr lang="en-US" sz="2400" dirty="0">
                <a:sym typeface="+mn-ea"/>
              </a:rPr>
              <a:t> would soon be translated by the scholar George Smith (1840-1876 CE). Archaeological dig out of the Indus Valley Civilization, therefore, had a significantly late start comparatively, and it is now thought that many of the accomplishments and "firsts" attributed to Egypt and Mesopotamia may belong to the people of the Indus Valley Civilization.</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2376264"/>
          </a:xfrm>
        </p:spPr>
        <p:txBody>
          <a:bodyPr>
            <a:normAutofit/>
          </a:bodyPr>
          <a:lstStyle/>
          <a:p>
            <a:r>
              <a:rPr lang="en-US" sz="2800" b="1" dirty="0"/>
              <a:t>Historical Background : Ancient Civilization in the Region</a:t>
            </a:r>
          </a:p>
        </p:txBody>
      </p:sp>
      <p:sp>
        <p:nvSpPr>
          <p:cNvPr id="3" name="Content Placeholder 2"/>
          <p:cNvSpPr>
            <a:spLocks noGrp="1"/>
          </p:cNvSpPr>
          <p:nvPr>
            <p:ph idx="1"/>
          </p:nvPr>
        </p:nvSpPr>
        <p:spPr>
          <a:xfrm>
            <a:off x="457200" y="1988840"/>
            <a:ext cx="8229600" cy="4137323"/>
          </a:xfrm>
        </p:spPr>
        <p:txBody>
          <a:bodyPr>
            <a:noAutofit/>
          </a:bodyPr>
          <a:lstStyle/>
          <a:p>
            <a:pPr marL="0" indent="0" algn="ctr">
              <a:buNone/>
            </a:pPr>
            <a:br>
              <a:rPr lang="en-US" sz="2000" b="1" dirty="0">
                <a:sym typeface="+mn-ea"/>
              </a:rPr>
            </a:br>
            <a:r>
              <a:rPr lang="en-US" sz="2000" b="1" u="sng" dirty="0">
                <a:sym typeface="+mn-ea"/>
              </a:rPr>
              <a:t>The Decline of the Indus Civilization </a:t>
            </a:r>
            <a:endParaRPr lang="en-US" sz="2000" b="1" dirty="0">
              <a:sym typeface="+mn-ea"/>
            </a:endParaRPr>
          </a:p>
          <a:p>
            <a:pPr marL="0" indent="0" algn="just">
              <a:buNone/>
            </a:pPr>
            <a:endParaRPr lang="en-US" sz="2000" dirty="0">
              <a:sym typeface="+mn-ea"/>
            </a:endParaRPr>
          </a:p>
          <a:p>
            <a:pPr algn="just"/>
            <a:r>
              <a:rPr lang="en-US" sz="2000" dirty="0">
                <a:sym typeface="+mn-ea"/>
              </a:rPr>
              <a:t>Many scholars believe that the collapse of the Indus Valley Civilization was </a:t>
            </a:r>
            <a:r>
              <a:rPr lang="en-US" sz="2000" b="1" dirty="0">
                <a:sym typeface="+mn-ea"/>
              </a:rPr>
              <a:t>caused by climate change</a:t>
            </a:r>
            <a:r>
              <a:rPr lang="en-US" sz="2000" dirty="0">
                <a:sym typeface="+mn-ea"/>
              </a:rPr>
              <a:t>. Some experts believe the drying of the Sara Swati River, which began around 1900 BCE, was the main cause of climate change, while others conclude that a great flood struck the area. Around 2500 BCE, civilization in the Indus River Valley began to decline as people migrated eastward to the Himalayan foothills. Here, they shifted from a civilization composed of large cities to one of the mostly small farming villages. By 1800 BCE, most Harappa cities were almost completely immoderate.</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595"/>
            <a:ext cx="8229600" cy="1804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57200" y="1988840"/>
            <a:ext cx="8229600" cy="4137323"/>
          </a:xfrm>
        </p:spPr>
        <p:txBody>
          <a:bodyPr>
            <a:noAutofit/>
          </a:bodyPr>
          <a:lstStyle/>
          <a:p>
            <a:pPr marL="0" lvl="0" indent="0" algn="ctr">
              <a:buNone/>
            </a:pPr>
            <a:r>
              <a:rPr lang="en-US" sz="2400" b="1" u="sng" dirty="0">
                <a:sym typeface="+mn-ea"/>
              </a:rPr>
              <a:t>The war of Independence of 1857 and its impact</a:t>
            </a:r>
            <a:endParaRPr lang="en-US" sz="2000" dirty="0"/>
          </a:p>
          <a:p>
            <a:pPr marL="0" indent="0" algn="just">
              <a:buNone/>
            </a:pPr>
            <a:r>
              <a:rPr lang="en-US" sz="2000" dirty="0">
                <a:sym typeface="+mn-ea"/>
              </a:rPr>
              <a:t>            </a:t>
            </a:r>
            <a:r>
              <a:rPr lang="en-US" sz="2000" b="1" dirty="0">
                <a:sym typeface="+mn-ea"/>
              </a:rPr>
              <a:t>  </a:t>
            </a:r>
            <a:endParaRPr lang="en-US" sz="2000" dirty="0"/>
          </a:p>
          <a:p>
            <a:pPr algn="just"/>
            <a:r>
              <a:rPr lang="en-US" sz="2000" dirty="0">
                <a:sym typeface="+mn-ea"/>
              </a:rPr>
              <a:t>The war of independence is an important land mark in the history of the subcontinent this war was fought in 1857. By Indians against the British in the order to get rid of their domination. It is also given names as Indian revolt. The main cause of the war were political, social, economic, military and religious. It was an extreme effort made by Indians, but they failed due to certain reasons including mutual jealousies, disunity and lack of central leadership etc. this war not spread throughout India, but it was limited area mainly Meerut ,Delhi, Kanpur </a:t>
            </a:r>
            <a:r>
              <a:rPr lang="en-US" sz="2000" dirty="0" err="1">
                <a:sym typeface="+mn-ea"/>
              </a:rPr>
              <a:t>lucknow</a:t>
            </a:r>
            <a:r>
              <a:rPr lang="en-US" sz="2000" dirty="0">
                <a:sym typeface="+mn-ea"/>
              </a:rPr>
              <a:t> . on January 23,1857.</a:t>
            </a:r>
            <a:endParaRPr lang="en-US" sz="20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5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57200" y="1124605"/>
            <a:ext cx="8229600" cy="4137323"/>
          </a:xfrm>
        </p:spPr>
        <p:txBody>
          <a:bodyPr>
            <a:noAutofit/>
          </a:bodyPr>
          <a:lstStyle/>
          <a:p>
            <a:pPr marL="0" indent="0" algn="ctr">
              <a:buNone/>
            </a:pPr>
            <a:r>
              <a:rPr lang="en-US" sz="2000" b="1" u="sng" dirty="0">
                <a:sym typeface="+mn-ea"/>
              </a:rPr>
              <a:t>Urdu - Hindi Controversy</a:t>
            </a:r>
            <a:endParaRPr lang="en-US" sz="2000" dirty="0">
              <a:sym typeface="+mn-ea"/>
            </a:endParaRPr>
          </a:p>
          <a:p>
            <a:pPr marL="0" indent="0" algn="just">
              <a:buNone/>
            </a:pPr>
            <a:r>
              <a:rPr lang="en-US" sz="2000" dirty="0">
                <a:sym typeface="+mn-ea"/>
              </a:rPr>
              <a:t>The Hindi - Urdu controversy arose in 1867 when the British government prepared to accept demand of the Hindu communities of the united provinces (utter Pradesh).</a:t>
            </a:r>
            <a:endParaRPr lang="en-US" sz="2000" dirty="0"/>
          </a:p>
          <a:p>
            <a:pPr marL="0" indent="0" algn="just">
              <a:buNone/>
            </a:pPr>
            <a:r>
              <a:rPr lang="en-US" sz="2000" dirty="0">
                <a:sym typeface="+mn-ea"/>
              </a:rPr>
              <a:t>And Bihar to change the </a:t>
            </a:r>
            <a:r>
              <a:rPr lang="en-US" sz="2000" dirty="0" err="1">
                <a:sym typeface="+mn-ea"/>
              </a:rPr>
              <a:t>perso</a:t>
            </a:r>
            <a:r>
              <a:rPr lang="en-US" sz="2000" dirty="0">
                <a:sym typeface="+mn-ea"/>
              </a:rPr>
              <a:t>-Arabic script of the official language. Devanagari adopt Hindi as the second official language. But in 1867, some Hindus in </a:t>
            </a:r>
            <a:r>
              <a:rPr lang="en-US" sz="2000" b="1" dirty="0">
                <a:sym typeface="+mn-ea"/>
              </a:rPr>
              <a:t>Agra</a:t>
            </a:r>
            <a:r>
              <a:rPr lang="en-US" sz="2000" dirty="0">
                <a:sym typeface="+mn-ea"/>
              </a:rPr>
              <a:t> and </a:t>
            </a:r>
            <a:r>
              <a:rPr lang="en-US" sz="2000" b="1" dirty="0">
                <a:sym typeface="+mn-ea"/>
              </a:rPr>
              <a:t>Oudh </a:t>
            </a:r>
            <a:r>
              <a:rPr lang="en-US" sz="2000" dirty="0">
                <a:sym typeface="+mn-ea"/>
              </a:rPr>
              <a:t>during the British Raj they began to demand that Hindi be made an officially language in place of Urdu. Congress sided with Hindu and supported the movement against Urdu and there was no other political party to support Urdu. The government gave instruction on 8 April 1900 that offices and courts should entertain petition written in Hindi. And the Indians constitution in 1950 declared Hindi in Devanagari script to be the official language of the country. And the English for official propose Muslim religious leaders such as </a:t>
            </a:r>
            <a:r>
              <a:rPr lang="en-US" sz="2000" dirty="0" err="1">
                <a:sym typeface="+mn-ea"/>
              </a:rPr>
              <a:t>Molana</a:t>
            </a:r>
            <a:r>
              <a:rPr lang="en-US" sz="2000" dirty="0">
                <a:sym typeface="+mn-ea"/>
              </a:rPr>
              <a:t> Muhammad Ali, </a:t>
            </a:r>
            <a:r>
              <a:rPr lang="en-US" sz="2000" dirty="0" err="1">
                <a:sym typeface="+mn-ea"/>
              </a:rPr>
              <a:t>Molana</a:t>
            </a:r>
            <a:r>
              <a:rPr lang="en-US" sz="2000" dirty="0">
                <a:sym typeface="+mn-ea"/>
              </a:rPr>
              <a:t> </a:t>
            </a:r>
            <a:r>
              <a:rPr lang="en-US" sz="2000" dirty="0" err="1">
                <a:sym typeface="+mn-ea"/>
              </a:rPr>
              <a:t>Shokut</a:t>
            </a:r>
            <a:r>
              <a:rPr lang="en-US" sz="2000" dirty="0">
                <a:sym typeface="+mn-ea"/>
              </a:rPr>
              <a:t> Ali and </a:t>
            </a:r>
            <a:r>
              <a:rPr lang="en-US" sz="2000" dirty="0" err="1">
                <a:sym typeface="+mn-ea"/>
              </a:rPr>
              <a:t>Molana</a:t>
            </a:r>
            <a:r>
              <a:rPr lang="en-US" sz="2000" dirty="0">
                <a:sym typeface="+mn-ea"/>
              </a:rPr>
              <a:t> </a:t>
            </a:r>
            <a:r>
              <a:rPr lang="en-US" sz="2000" dirty="0" err="1">
                <a:sym typeface="+mn-ea"/>
              </a:rPr>
              <a:t>Modoodi</a:t>
            </a:r>
            <a:r>
              <a:rPr lang="en-US" sz="2000" dirty="0">
                <a:sym typeface="+mn-ea"/>
              </a:rPr>
              <a:t> emphasized the knowledge of Urdu as essential for India so Hindu majority wanted the official language of Hindi. British government also supported them.</a:t>
            </a:r>
            <a:endParaRPr lang="en-US" sz="2000" dirty="0"/>
          </a:p>
          <a:p>
            <a:pPr marL="0" indent="0" algn="just">
              <a:buNone/>
            </a:pPr>
            <a:endParaRPr lang="en-US" sz="20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5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57200" y="1124605"/>
            <a:ext cx="8229600" cy="4137323"/>
          </a:xfrm>
        </p:spPr>
        <p:txBody>
          <a:bodyPr>
            <a:noAutofit/>
          </a:bodyPr>
          <a:lstStyle/>
          <a:p>
            <a:pPr marL="0" indent="0" algn="ctr">
              <a:buNone/>
            </a:pPr>
            <a:r>
              <a:rPr lang="en-US" sz="2000" b="1" u="sng" dirty="0">
                <a:sym typeface="+mn-ea"/>
              </a:rPr>
              <a:t>Foundation of Congress</a:t>
            </a:r>
            <a:endParaRPr lang="en-US" sz="2000" dirty="0">
              <a:sym typeface="+mn-ea"/>
            </a:endParaRPr>
          </a:p>
          <a:p>
            <a:pPr marL="0" indent="0" algn="just">
              <a:buNone/>
            </a:pPr>
            <a:endParaRPr lang="en-US" sz="2000" dirty="0">
              <a:sym typeface="+mn-ea"/>
            </a:endParaRPr>
          </a:p>
          <a:p>
            <a:pPr marL="0" indent="0" algn="just">
              <a:buNone/>
            </a:pPr>
            <a:r>
              <a:rPr lang="en-US" sz="2000" dirty="0">
                <a:sym typeface="+mn-ea"/>
              </a:rPr>
              <a:t>In 1885 the Indian National congress (INC) was formed on the initiative of the British official, </a:t>
            </a:r>
            <a:r>
              <a:rPr lang="en-US" sz="2000" b="1" dirty="0">
                <a:sym typeface="+mn-ea"/>
              </a:rPr>
              <a:t>Allan Octavian Hume</a:t>
            </a:r>
            <a:r>
              <a:rPr lang="en-US" sz="2000" dirty="0">
                <a:sym typeface="+mn-ea"/>
              </a:rPr>
              <a:t>. He had the blessing of the viceroy, </a:t>
            </a:r>
            <a:r>
              <a:rPr lang="en-US" sz="2000" b="1" dirty="0">
                <a:sym typeface="+mn-ea"/>
              </a:rPr>
              <a:t>Lord Dufferin</a:t>
            </a:r>
            <a:r>
              <a:rPr lang="en-US" sz="2000" dirty="0">
                <a:sym typeface="+mn-ea"/>
              </a:rPr>
              <a:t>. And its first president was Mr. </a:t>
            </a:r>
            <a:r>
              <a:rPr lang="en-US" sz="2000" b="1" dirty="0">
                <a:sym typeface="+mn-ea"/>
              </a:rPr>
              <a:t>Womash Chandra Banerjee</a:t>
            </a:r>
            <a:r>
              <a:rPr lang="en-US" sz="2000" dirty="0">
                <a:sym typeface="+mn-ea"/>
              </a:rPr>
              <a:t>. It was the first modern nationalist movement to emerge in the sub-continent. Which was consist of 72 members. The main role were performed </a:t>
            </a:r>
            <a:r>
              <a:rPr lang="en-US" sz="2000" b="1" dirty="0">
                <a:sym typeface="+mn-ea"/>
              </a:rPr>
              <a:t>Mahatna Gandhi, Jawaharlal Nehru, Muhammad Ali Jinnah, Indhra Gandi and Bal Gangadher Tilak. </a:t>
            </a:r>
            <a:endParaRPr lang="en-US" sz="2000" dirty="0"/>
          </a:p>
          <a:p>
            <a:pPr marL="0" indent="0" algn="just">
              <a:buNone/>
            </a:pPr>
            <a:r>
              <a:rPr lang="en-US" sz="2000" dirty="0">
                <a:sym typeface="+mn-ea"/>
              </a:rPr>
              <a:t>The congress was not the innovation of one man, it was not the creation of the few individuals, or even of a few organizations coming together for a common purpose. It was the outcome of sustained work done for decades by public organizations like British Indian association, The Brahamo samaj and the Prathna samaj in 1875.</a:t>
            </a:r>
            <a:endParaRPr lang="en-US" sz="2000" dirty="0"/>
          </a:p>
          <a:p>
            <a:pPr marL="0" indent="0">
              <a:buNone/>
            </a:pPr>
            <a:endParaRPr lang="en-US" sz="20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5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57200" y="1124605"/>
            <a:ext cx="8229600" cy="4137323"/>
          </a:xfrm>
        </p:spPr>
        <p:txBody>
          <a:bodyPr>
            <a:noAutofit/>
          </a:bodyPr>
          <a:lstStyle/>
          <a:p>
            <a:pPr marL="0" indent="0" algn="ctr">
              <a:buNone/>
            </a:pPr>
            <a:r>
              <a:rPr lang="en-US" sz="2000" b="1" dirty="0">
                <a:sym typeface="+mn-ea"/>
              </a:rPr>
              <a:t>Muslim league Establishment, aims and objectives and its evaluation </a:t>
            </a:r>
          </a:p>
          <a:p>
            <a:pPr marL="0" indent="0" algn="ctr">
              <a:buNone/>
            </a:pPr>
            <a:r>
              <a:rPr lang="en-US" sz="2000" b="1" dirty="0">
                <a:sym typeface="+mn-ea"/>
              </a:rPr>
              <a:t>(1906-1913)</a:t>
            </a:r>
          </a:p>
          <a:p>
            <a:pPr marL="0" indent="0" algn="just">
              <a:buNone/>
            </a:pPr>
            <a:r>
              <a:rPr lang="en-US" sz="2000" b="1" dirty="0">
                <a:sym typeface="+mn-ea"/>
              </a:rPr>
              <a:t>Background; </a:t>
            </a:r>
            <a:r>
              <a:rPr lang="en-US" sz="2000" dirty="0">
                <a:sym typeface="+mn-ea"/>
              </a:rPr>
              <a:t>The demand of separate electorate which was indeed a singular initiation of Mahsin-ul- Mulk was grant when political reforms were introduced under the Indian council Act of 1892. Muslim leaders met at Dhaka in Dec, 1906 the occasion of the annual meeting of the Muhammadan education conference.</a:t>
            </a:r>
            <a:endParaRPr lang="en-US" sz="2000" dirty="0"/>
          </a:p>
          <a:p>
            <a:pPr marL="0" indent="0" algn="just">
              <a:buNone/>
            </a:pPr>
            <a:r>
              <a:rPr lang="en-US" sz="2000" dirty="0">
                <a:sym typeface="+mn-ea"/>
              </a:rPr>
              <a:t>All India Muslim league (AILM) was formed on December 30, 1906 mainly to protect and advance the political rights and interests of the Muslim of India. It made under the presidency of Nawab Waqar ul Mulk, Sir Samiullah the Nawab of Dhaka. The league adopted as its objects.</a:t>
            </a:r>
            <a:endParaRPr lang="en-US" sz="2000" dirty="0"/>
          </a:p>
          <a:p>
            <a:pPr lvl="0" algn="just"/>
            <a:r>
              <a:rPr lang="en-US" sz="2000" dirty="0">
                <a:sym typeface="+mn-ea"/>
              </a:rPr>
              <a:t>To promote among the Muslim of India feeling of loyalty to the British government. And remove any misconceptions that may arise as to the intentions of government with regard to any of its measure.</a:t>
            </a:r>
            <a:endParaRPr lang="en-US" sz="2000" dirty="0"/>
          </a:p>
          <a:p>
            <a:pPr lvl="0" algn="just"/>
            <a:r>
              <a:rPr lang="en-US" sz="2000" dirty="0">
                <a:sym typeface="+mn-ea"/>
              </a:rPr>
              <a:t>To protect and advance the political rights and interest of Muslim of India respectfully to represent their needs and aspiration of government.</a:t>
            </a:r>
            <a:endParaRPr lang="en-US" sz="20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5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57200" y="1124605"/>
            <a:ext cx="8229600" cy="4137323"/>
          </a:xfrm>
        </p:spPr>
        <p:txBody>
          <a:bodyPr>
            <a:noAutofit/>
          </a:bodyPr>
          <a:lstStyle/>
          <a:p>
            <a:pPr marL="0" indent="0" algn="ctr">
              <a:buNone/>
            </a:pPr>
            <a:r>
              <a:rPr lang="en-US" sz="2000" b="1" dirty="0">
                <a:sym typeface="+mn-ea"/>
              </a:rPr>
              <a:t>Muslim league Establishment, aims and objectives and its evaluation </a:t>
            </a:r>
          </a:p>
          <a:p>
            <a:pPr marL="0" indent="0" algn="ctr">
              <a:buNone/>
            </a:pPr>
            <a:r>
              <a:rPr lang="en-US" sz="2000" b="1" dirty="0">
                <a:sym typeface="+mn-ea"/>
              </a:rPr>
              <a:t>(1906-1913)</a:t>
            </a:r>
          </a:p>
          <a:p>
            <a:pPr marL="0" lvl="0" indent="0">
              <a:buNone/>
            </a:pPr>
            <a:endParaRPr lang="en-US" sz="2000" dirty="0"/>
          </a:p>
          <a:p>
            <a:pPr lvl="0"/>
            <a:r>
              <a:rPr lang="en-US" sz="2000" dirty="0">
                <a:sym typeface="+mn-ea"/>
              </a:rPr>
              <a:t>To prevent the rise among Muslim of India of any feeling of hostility towards other communities without prejudice to other objects of the league. The origin of the Muslim league can be easily explained two factors went into its establishment.</a:t>
            </a:r>
            <a:endParaRPr lang="en-US" sz="2000" dirty="0"/>
          </a:p>
          <a:p>
            <a:pPr marL="0" indent="0">
              <a:buNone/>
            </a:pPr>
            <a:r>
              <a:rPr lang="en-US" sz="2000" dirty="0">
                <a:sym typeface="+mn-ea"/>
              </a:rPr>
              <a:t> </a:t>
            </a:r>
            <a:endParaRPr lang="en-US" sz="2000" dirty="0"/>
          </a:p>
          <a:p>
            <a:pPr lvl="0"/>
            <a:r>
              <a:rPr lang="en-US" sz="2000" dirty="0">
                <a:sym typeface="+mn-ea"/>
              </a:rPr>
              <a:t>Hindu attitude towards Muslims interest the Bengal agitation had exposed Hindu feeling beyond any doubt.</a:t>
            </a:r>
            <a:endParaRPr lang="en-US" sz="2000" dirty="0"/>
          </a:p>
          <a:p>
            <a:pPr lvl="0"/>
            <a:r>
              <a:rPr lang="en-US" sz="2000" dirty="0">
                <a:sym typeface="+mn-ea"/>
              </a:rPr>
              <a:t>To cope with the </a:t>
            </a:r>
            <a:r>
              <a:rPr lang="en-US" sz="2000" b="1" dirty="0">
                <a:sym typeface="+mn-ea"/>
              </a:rPr>
              <a:t>Minto-</a:t>
            </a:r>
            <a:r>
              <a:rPr lang="en-US" sz="2000" b="1" dirty="0" err="1">
                <a:sym typeface="+mn-ea"/>
              </a:rPr>
              <a:t>Morly</a:t>
            </a:r>
            <a:r>
              <a:rPr lang="en-US" sz="2000" dirty="0">
                <a:sym typeface="+mn-ea"/>
              </a:rPr>
              <a:t> reforms the first session of all India Muslim league was held at Karachi on December 1907 and wad presided over by Sir </a:t>
            </a:r>
            <a:r>
              <a:rPr lang="en-US" sz="2000" b="1" dirty="0" err="1">
                <a:sym typeface="+mn-ea"/>
              </a:rPr>
              <a:t>Ahamd</a:t>
            </a:r>
            <a:r>
              <a:rPr lang="en-US" sz="2000" b="1" dirty="0">
                <a:sym typeface="+mn-ea"/>
              </a:rPr>
              <a:t> </a:t>
            </a:r>
            <a:r>
              <a:rPr lang="en-US" sz="2000" b="1" dirty="0" err="1">
                <a:sym typeface="+mn-ea"/>
              </a:rPr>
              <a:t>Jee</a:t>
            </a:r>
            <a:r>
              <a:rPr lang="en-US" sz="2000" b="1" dirty="0">
                <a:sym typeface="+mn-ea"/>
              </a:rPr>
              <a:t> </a:t>
            </a:r>
            <a:r>
              <a:rPr lang="en-US" sz="2000" b="1" dirty="0" err="1">
                <a:sym typeface="+mn-ea"/>
              </a:rPr>
              <a:t>pir</a:t>
            </a:r>
            <a:r>
              <a:rPr lang="en-US" sz="2000" b="1" dirty="0">
                <a:sym typeface="+mn-ea"/>
              </a:rPr>
              <a:t> </a:t>
            </a:r>
            <a:r>
              <a:rPr lang="en-US" sz="2000" b="1" dirty="0" err="1">
                <a:sym typeface="+mn-ea"/>
              </a:rPr>
              <a:t>bhai</a:t>
            </a:r>
            <a:r>
              <a:rPr lang="en-US" sz="2000" dirty="0">
                <a:sym typeface="+mn-ea"/>
              </a:rPr>
              <a:t>. Sir agha khan was appointed the first president of the newly born organization.</a:t>
            </a:r>
            <a:endParaRPr lang="en-US" sz="2000" dirty="0"/>
          </a:p>
          <a:p>
            <a:pPr marL="0" indent="0">
              <a:buNone/>
            </a:pPr>
            <a:r>
              <a:rPr lang="en-US" sz="2000" dirty="0">
                <a:sym typeface="+mn-ea"/>
              </a:rPr>
              <a:t> </a:t>
            </a:r>
            <a:endParaRPr lang="en-US" sz="2000" dirty="0"/>
          </a:p>
          <a:p>
            <a:pPr marL="0" indent="0" algn="just">
              <a:buNone/>
            </a:pPr>
            <a:endParaRPr lang="en-US" sz="20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5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57200" y="1124605"/>
            <a:ext cx="8229600" cy="4137323"/>
          </a:xfrm>
        </p:spPr>
        <p:txBody>
          <a:bodyPr>
            <a:noAutofit/>
          </a:bodyPr>
          <a:lstStyle/>
          <a:p>
            <a:pPr marL="0" indent="0" algn="ctr">
              <a:buNone/>
            </a:pPr>
            <a:r>
              <a:rPr lang="en-US" sz="2400" b="1" u="sng" dirty="0">
                <a:sym typeface="+mn-ea"/>
              </a:rPr>
              <a:t>Lucknow Pact</a:t>
            </a:r>
            <a:endParaRPr lang="en-US" sz="2000" b="1" dirty="0">
              <a:sym typeface="+mn-ea"/>
            </a:endParaRPr>
          </a:p>
          <a:p>
            <a:pPr marL="0" lvl="0" indent="0">
              <a:buNone/>
            </a:pPr>
            <a:endParaRPr lang="en-US" sz="2000" dirty="0"/>
          </a:p>
          <a:p>
            <a:pPr marL="0" indent="0" algn="just">
              <a:buNone/>
            </a:pPr>
            <a:r>
              <a:rPr lang="en-US" sz="2000" b="1" dirty="0">
                <a:sym typeface="+mn-ea"/>
              </a:rPr>
              <a:t>Background: </a:t>
            </a:r>
            <a:r>
              <a:rPr lang="en-US" sz="2000" dirty="0">
                <a:sym typeface="+mn-ea"/>
              </a:rPr>
              <a:t>After the announcement of the </a:t>
            </a:r>
            <a:r>
              <a:rPr lang="en-US" sz="2000" dirty="0" err="1">
                <a:sym typeface="+mn-ea"/>
              </a:rPr>
              <a:t>Minto-Morly</a:t>
            </a:r>
            <a:r>
              <a:rPr lang="en-US" sz="2000" dirty="0">
                <a:sym typeface="+mn-ea"/>
              </a:rPr>
              <a:t> reform, Hindu-Muslim relation strained. But on 1</a:t>
            </a:r>
            <a:r>
              <a:rPr lang="en-US" sz="2000" baseline="30000" dirty="0">
                <a:sym typeface="+mn-ea"/>
              </a:rPr>
              <a:t>st</a:t>
            </a:r>
            <a:r>
              <a:rPr lang="en-US" sz="2000" dirty="0">
                <a:sym typeface="+mn-ea"/>
              </a:rPr>
              <a:t> January 1911, in </a:t>
            </a:r>
            <a:r>
              <a:rPr lang="en-US" sz="2000" dirty="0" err="1">
                <a:sym typeface="+mn-ea"/>
              </a:rPr>
              <a:t>Lucknow</a:t>
            </a:r>
            <a:r>
              <a:rPr lang="en-US" sz="2000" dirty="0">
                <a:sym typeface="+mn-ea"/>
              </a:rPr>
              <a:t> representatives of the Hindu and the Muslims discussed their communities’ relations. In December 1913 the annual session of the congress was held at Karachi in which </a:t>
            </a:r>
            <a:r>
              <a:rPr lang="en-US" sz="2000" dirty="0" err="1">
                <a:sym typeface="+mn-ea"/>
              </a:rPr>
              <a:t>Bhopindra</a:t>
            </a:r>
            <a:r>
              <a:rPr lang="en-US" sz="2000" dirty="0">
                <a:sym typeface="+mn-ea"/>
              </a:rPr>
              <a:t> </a:t>
            </a:r>
            <a:r>
              <a:rPr lang="en-US" sz="2000" dirty="0" err="1">
                <a:sym typeface="+mn-ea"/>
              </a:rPr>
              <a:t>Nath</a:t>
            </a:r>
            <a:r>
              <a:rPr lang="en-US" sz="2000" dirty="0">
                <a:sym typeface="+mn-ea"/>
              </a:rPr>
              <a:t> </a:t>
            </a:r>
            <a:r>
              <a:rPr lang="en-US" sz="2000" dirty="0" err="1">
                <a:sym typeface="+mn-ea"/>
              </a:rPr>
              <a:t>Basu</a:t>
            </a:r>
            <a:r>
              <a:rPr lang="en-US" sz="2000" dirty="0">
                <a:sym typeface="+mn-ea"/>
              </a:rPr>
              <a:t> expressed his good feeling for the Muslim and stressed in the need of better understanding and cooperation. On 31 December 1915 the annual session of the congress was held at Bombay. M Ali Jinnah invited the Muslim league to hold its session, at Bombay so both the congress and the Muslim league in a joint session agreed to constitute committees for both political bodies drew up a scheme for the constitutional reform in India. </a:t>
            </a: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5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908685"/>
            <a:ext cx="8229600" cy="5689600"/>
          </a:xfrm>
        </p:spPr>
        <p:txBody>
          <a:bodyPr>
            <a:noAutofit/>
          </a:bodyPr>
          <a:lstStyle/>
          <a:p>
            <a:pPr marL="0" indent="0" algn="ctr">
              <a:buNone/>
            </a:pPr>
            <a:r>
              <a:rPr lang="en-US" sz="2800" b="1" u="sng" dirty="0">
                <a:sym typeface="+mn-ea"/>
              </a:rPr>
              <a:t>Lucknow Pact</a:t>
            </a:r>
          </a:p>
          <a:p>
            <a:pPr marL="0" indent="0" algn="ctr">
              <a:buNone/>
            </a:pPr>
            <a:r>
              <a:rPr lang="en-US" sz="2400" b="1" u="sng" dirty="0">
                <a:sym typeface="+mn-ea"/>
              </a:rPr>
              <a:t>The Pact Clauses and Analysis</a:t>
            </a:r>
            <a:endParaRPr lang="en-US" sz="2400" b="1" u="sng" dirty="0"/>
          </a:p>
          <a:p>
            <a:pPr lvl="0" algn="just"/>
            <a:endParaRPr lang="en-US" sz="2000" dirty="0">
              <a:sym typeface="+mn-ea"/>
            </a:endParaRPr>
          </a:p>
          <a:p>
            <a:pPr lvl="0" algn="just"/>
            <a:r>
              <a:rPr lang="en-US" sz="2000" dirty="0">
                <a:sym typeface="+mn-ea"/>
              </a:rPr>
              <a:t>Separate electorates were accepted by the congress.</a:t>
            </a:r>
            <a:endParaRPr lang="en-US" sz="2000" dirty="0"/>
          </a:p>
          <a:p>
            <a:pPr lvl="0" algn="just"/>
            <a:r>
              <a:rPr lang="en-US" sz="2000" dirty="0">
                <a:sym typeface="+mn-ea"/>
              </a:rPr>
              <a:t>The congress agreed to enforce separate electorates in those provinces also, where they did not exist, Punjab and central provinces.</a:t>
            </a:r>
            <a:endParaRPr lang="en-US" sz="2000" dirty="0"/>
          </a:p>
          <a:p>
            <a:pPr lvl="0" algn="just"/>
            <a:r>
              <a:rPr lang="en-US" sz="2000" dirty="0">
                <a:sym typeface="+mn-ea"/>
              </a:rPr>
              <a:t> No bill affecting a particular community should be proceeded within any council if three-fourths of the representative of that community opposed it.</a:t>
            </a:r>
            <a:endParaRPr lang="en-US" sz="2000" dirty="0"/>
          </a:p>
          <a:p>
            <a:pPr lvl="0" algn="just"/>
            <a:r>
              <a:rPr lang="en-US" sz="2000" dirty="0">
                <a:sym typeface="+mn-ea"/>
              </a:rPr>
              <a:t>The Muslim and the Hindu were to have weightage in provinces where they formed minorities. </a:t>
            </a:r>
          </a:p>
          <a:p>
            <a:pPr lvl="0" algn="just"/>
            <a:r>
              <a:rPr lang="en-US" sz="2000" dirty="0">
                <a:sym typeface="+mn-ea"/>
              </a:rPr>
              <a:t>The Lucknow pact proved to be only beacon light on the political horizon of India. A better atmosphere of understanding and cooperation could have been generated. But the Hindu did not honestly stick to their principles. Instead of understanding and cooperation mistrust, hatred and non-cooperation crept into the political life of the Indian people.</a:t>
            </a:r>
            <a:endParaRPr lang="en-US" sz="2000" dirty="0"/>
          </a:p>
          <a:p>
            <a:pPr lvl="0" algn="just"/>
            <a:endParaRPr lang="en-US" sz="2000" dirty="0"/>
          </a:p>
          <a:p>
            <a:pPr lvl="0" algn="just"/>
            <a:endParaRPr lang="en-US" sz="2000" dirty="0"/>
          </a:p>
          <a:p>
            <a:pPr marL="0" indent="0">
              <a:buNone/>
            </a:pPr>
            <a:endParaRPr lang="en-US" sz="2000" b="1" dirty="0"/>
          </a:p>
          <a:p>
            <a:pPr marL="0" indent="0">
              <a:buNone/>
            </a:pPr>
            <a:endParaRPr lang="en-US" sz="2000" dirty="0"/>
          </a:p>
          <a:p>
            <a:pPr marL="0" indent="0">
              <a:buNone/>
            </a:pPr>
            <a:endParaRPr lang="en-US" sz="2000" dirty="0"/>
          </a:p>
          <a:p>
            <a:pPr marL="0" indent="0" algn="just">
              <a:buNone/>
            </a:pPr>
            <a:endParaRPr lang="en-US" sz="20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5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908685"/>
            <a:ext cx="8229600" cy="5689600"/>
          </a:xfrm>
        </p:spPr>
        <p:txBody>
          <a:bodyPr>
            <a:noAutofit/>
          </a:bodyPr>
          <a:lstStyle/>
          <a:p>
            <a:pPr marL="0" indent="0" algn="ctr">
              <a:buNone/>
            </a:pPr>
            <a:r>
              <a:rPr lang="en-US" sz="2400" b="1" u="sng" dirty="0"/>
              <a:t>Khilafat Movement</a:t>
            </a:r>
          </a:p>
          <a:p>
            <a:pPr lvl="0" algn="just"/>
            <a:endParaRPr lang="en-US" sz="2000" dirty="0">
              <a:sym typeface="+mn-ea"/>
            </a:endParaRPr>
          </a:p>
          <a:p>
            <a:pPr lvl="0" algn="just"/>
            <a:r>
              <a:rPr lang="en-US" sz="2000" dirty="0">
                <a:sym typeface="+mn-ea"/>
              </a:rPr>
              <a:t>It was forward the close of the nineteenth century that Turkey began to attract the attention of Muslim India and play a part in her politics. The Turkish participation in the World War 1 (1914-1918) on the side of the axis power against Britain and her actually sham full to Muslim India. On 5 July 1919 Indian Muslim in the absence of Ali brothers formed a body to protect the state of turkey and </a:t>
            </a:r>
            <a:r>
              <a:rPr lang="en-US" sz="2000" dirty="0" err="1">
                <a:sym typeface="+mn-ea"/>
              </a:rPr>
              <a:t>khilafat</a:t>
            </a:r>
            <a:r>
              <a:rPr lang="en-US" sz="2000" dirty="0">
                <a:sym typeface="+mn-ea"/>
              </a:rPr>
              <a:t>, commonly known as All India </a:t>
            </a:r>
            <a:r>
              <a:rPr lang="en-US" sz="2000" dirty="0" err="1">
                <a:sym typeface="+mn-ea"/>
              </a:rPr>
              <a:t>khilafat</a:t>
            </a:r>
            <a:r>
              <a:rPr lang="en-US" sz="2000" dirty="0">
                <a:sym typeface="+mn-ea"/>
              </a:rPr>
              <a:t> committee. The Ali brothers </a:t>
            </a:r>
            <a:r>
              <a:rPr lang="en-US" sz="2000" dirty="0" err="1">
                <a:sym typeface="+mn-ea"/>
              </a:rPr>
              <a:t>Molana</a:t>
            </a:r>
            <a:r>
              <a:rPr lang="en-US" sz="2000" dirty="0">
                <a:sym typeface="+mn-ea"/>
              </a:rPr>
              <a:t> Mohammad Ali and </a:t>
            </a:r>
            <a:r>
              <a:rPr lang="en-US" sz="2000" dirty="0" err="1">
                <a:sym typeface="+mn-ea"/>
              </a:rPr>
              <a:t>Shouket</a:t>
            </a:r>
            <a:r>
              <a:rPr lang="en-US" sz="2000" dirty="0">
                <a:sym typeface="+mn-ea"/>
              </a:rPr>
              <a:t> Ali and Abdul </a:t>
            </a:r>
            <a:r>
              <a:rPr lang="en-US" sz="2000" dirty="0" err="1">
                <a:sym typeface="+mn-ea"/>
              </a:rPr>
              <a:t>kalam</a:t>
            </a:r>
            <a:r>
              <a:rPr lang="en-US" sz="2000" dirty="0">
                <a:sym typeface="+mn-ea"/>
              </a:rPr>
              <a:t> Azad when came out from the jail Organized the committee. The first </a:t>
            </a:r>
            <a:r>
              <a:rPr lang="en-US" sz="2000" dirty="0" err="1">
                <a:sym typeface="+mn-ea"/>
              </a:rPr>
              <a:t>khilafat</a:t>
            </a:r>
            <a:r>
              <a:rPr lang="en-US" sz="2000" dirty="0">
                <a:sym typeface="+mn-ea"/>
              </a:rPr>
              <a:t> day was observed on 17 October 1919 and with this well-known </a:t>
            </a:r>
            <a:r>
              <a:rPr lang="en-US" sz="2000" dirty="0" err="1">
                <a:sym typeface="+mn-ea"/>
              </a:rPr>
              <a:t>Khilafat</a:t>
            </a:r>
            <a:r>
              <a:rPr lang="en-US" sz="2000" dirty="0">
                <a:sym typeface="+mn-ea"/>
              </a:rPr>
              <a:t> movement was started the main objectives of the movement were.</a:t>
            </a:r>
            <a:endParaRPr lang="en-US" sz="2000" dirty="0"/>
          </a:p>
          <a:p>
            <a:pPr lvl="0"/>
            <a:r>
              <a:rPr lang="en-US" sz="2000" dirty="0">
                <a:sym typeface="+mn-ea"/>
              </a:rPr>
              <a:t>To maintain the turkey caliphate.</a:t>
            </a:r>
            <a:endParaRPr lang="en-US" sz="2000" dirty="0"/>
          </a:p>
          <a:p>
            <a:pPr lvl="0"/>
            <a:r>
              <a:rPr lang="en-US" sz="2000" dirty="0">
                <a:sym typeface="+mn-ea"/>
              </a:rPr>
              <a:t>To protect the holy places of the Muslims.</a:t>
            </a:r>
            <a:endParaRPr lang="en-US" sz="2000" dirty="0"/>
          </a:p>
          <a:p>
            <a:pPr lvl="0"/>
            <a:r>
              <a:rPr lang="en-US" sz="2000" dirty="0">
                <a:sym typeface="+mn-ea"/>
              </a:rPr>
              <a:t>To maintain the unity of Ottoman Empire. </a:t>
            </a:r>
            <a:endParaRPr lang="en-US" sz="2000" dirty="0"/>
          </a:p>
          <a:p>
            <a:pPr lvl="0" algn="just"/>
            <a:endParaRPr lang="en-US" sz="2000" dirty="0"/>
          </a:p>
          <a:p>
            <a:pPr marL="0" indent="0">
              <a:buNone/>
            </a:pPr>
            <a:endParaRPr lang="en-US" sz="2000" b="1" dirty="0"/>
          </a:p>
          <a:p>
            <a:pPr marL="0" indent="0">
              <a:buNone/>
            </a:pPr>
            <a:endParaRPr lang="en-US" sz="2000" dirty="0"/>
          </a:p>
          <a:p>
            <a:pPr marL="0" indent="0">
              <a:buNone/>
            </a:pPr>
            <a:endParaRPr lang="en-US" sz="2000" dirty="0"/>
          </a:p>
          <a:p>
            <a:pPr marL="0" indent="0" algn="just">
              <a:buNone/>
            </a:pPr>
            <a:endParaRPr lang="en-US" sz="20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5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908685"/>
            <a:ext cx="8229600" cy="5689600"/>
          </a:xfrm>
        </p:spPr>
        <p:txBody>
          <a:bodyPr>
            <a:noAutofit/>
          </a:bodyPr>
          <a:lstStyle/>
          <a:p>
            <a:pPr marL="0" indent="0" algn="ctr">
              <a:buNone/>
            </a:pPr>
            <a:endParaRPr lang="en-US" sz="2400" b="1" u="sng" dirty="0"/>
          </a:p>
          <a:p>
            <a:pPr marL="0" indent="0" algn="ctr">
              <a:buNone/>
            </a:pPr>
            <a:r>
              <a:rPr lang="en-US" sz="2400" b="1" u="sng" dirty="0"/>
              <a:t>Nehru Report and Quaid e Azam Fourteen Points</a:t>
            </a:r>
          </a:p>
          <a:p>
            <a:pPr marL="0" indent="0" algn="ctr">
              <a:buNone/>
            </a:pPr>
            <a:endParaRPr lang="en-US" sz="2000" dirty="0">
              <a:sym typeface="+mn-ea"/>
            </a:endParaRPr>
          </a:p>
          <a:p>
            <a:pPr marL="0" indent="0" algn="ctr">
              <a:buNone/>
            </a:pPr>
            <a:r>
              <a:rPr lang="en-US" sz="2000" b="1" dirty="0">
                <a:sym typeface="+mn-ea"/>
              </a:rPr>
              <a:t>Background</a:t>
            </a:r>
            <a:endParaRPr lang="en-US" sz="2000" b="1" dirty="0"/>
          </a:p>
          <a:p>
            <a:pPr marL="0" indent="0" algn="just">
              <a:buNone/>
            </a:pPr>
            <a:r>
              <a:rPr lang="en-US" sz="2000" b="1" dirty="0">
                <a:sym typeface="+mn-ea"/>
              </a:rPr>
              <a:t>                  (The Delhi Muslim Proposals and Simon Commission)</a:t>
            </a:r>
            <a:r>
              <a:rPr lang="en-US" sz="2000" dirty="0">
                <a:sym typeface="+mn-ea"/>
              </a:rPr>
              <a:t>               </a:t>
            </a:r>
            <a:endParaRPr lang="en-US" sz="2000" dirty="0"/>
          </a:p>
          <a:p>
            <a:pPr algn="just"/>
            <a:r>
              <a:rPr lang="en-US" sz="2000" dirty="0">
                <a:sym typeface="+mn-ea"/>
              </a:rPr>
              <a:t>Hindu-Muslim cooperation continued till </a:t>
            </a:r>
            <a:r>
              <a:rPr lang="en-US" sz="2000" dirty="0" err="1">
                <a:sym typeface="+mn-ea"/>
              </a:rPr>
              <a:t>Khilafat</a:t>
            </a:r>
            <a:r>
              <a:rPr lang="en-US" sz="2000" dirty="0">
                <a:sym typeface="+mn-ea"/>
              </a:rPr>
              <a:t> movement. And came to an end in 1924. The Hindus started the </a:t>
            </a:r>
            <a:r>
              <a:rPr lang="en-US" sz="2000" dirty="0" err="1">
                <a:sym typeface="+mn-ea"/>
              </a:rPr>
              <a:t>Shuddhi</a:t>
            </a:r>
            <a:r>
              <a:rPr lang="en-US" sz="2000" dirty="0">
                <a:sym typeface="+mn-ea"/>
              </a:rPr>
              <a:t> movement. The intention was social pressure. The Hindus said …if there any worth of Muslims (the Hindu) they would have fought and demolish the Mosques. They also set on foot </a:t>
            </a:r>
            <a:r>
              <a:rPr lang="en-US" sz="2000" dirty="0" err="1">
                <a:sym typeface="+mn-ea"/>
              </a:rPr>
              <a:t>Sangathan</a:t>
            </a:r>
            <a:r>
              <a:rPr lang="en-US" sz="2000" dirty="0">
                <a:sym typeface="+mn-ea"/>
              </a:rPr>
              <a:t> programmer which sought to organize the Hindu into a militant force to fight with the Muslim. </a:t>
            </a:r>
          </a:p>
          <a:p>
            <a:pPr algn="just"/>
            <a:r>
              <a:rPr lang="en-US" sz="2000" dirty="0">
                <a:sym typeface="+mn-ea"/>
              </a:rPr>
              <a:t>After this condition of Hindus, the most notable among these being a conference initiated by Mr. Jinnah </a:t>
            </a:r>
            <a:r>
              <a:rPr lang="en-US" sz="2000" b="1" dirty="0">
                <a:sym typeface="+mn-ea"/>
              </a:rPr>
              <a:t>on 20 March 1927</a:t>
            </a:r>
            <a:r>
              <a:rPr lang="en-US" sz="2000" dirty="0">
                <a:sym typeface="+mn-ea"/>
              </a:rPr>
              <a:t> at Delhi. The meeting discussed in details the demand of separate. These condition are generally known as </a:t>
            </a:r>
            <a:r>
              <a:rPr lang="en-US" sz="2000" b="1" dirty="0">
                <a:sym typeface="+mn-ea"/>
              </a:rPr>
              <a:t>Delhi Muslim proposals’ </a:t>
            </a:r>
            <a:r>
              <a:rPr lang="en-US" sz="2000" dirty="0">
                <a:sym typeface="+mn-ea"/>
              </a:rPr>
              <a:t>and are summed below:</a:t>
            </a:r>
            <a:endParaRPr lang="en-US" sz="2000" dirty="0"/>
          </a:p>
          <a:p>
            <a:pPr algn="just"/>
            <a:endParaRPr lang="en-US" sz="2000" dirty="0"/>
          </a:p>
          <a:p>
            <a:pPr lvl="0" algn="just"/>
            <a:endParaRPr lang="en-US" sz="2000" dirty="0"/>
          </a:p>
          <a:p>
            <a:pPr marL="0" indent="0">
              <a:buNone/>
            </a:pPr>
            <a:endParaRPr lang="en-US" sz="2000" b="1" dirty="0"/>
          </a:p>
          <a:p>
            <a:pPr marL="0" indent="0">
              <a:buNone/>
            </a:pPr>
            <a:endParaRPr lang="en-US" sz="2000" dirty="0"/>
          </a:p>
          <a:p>
            <a:pPr marL="0" indent="0">
              <a:buNone/>
            </a:pPr>
            <a:endParaRPr lang="en-US" sz="2000" dirty="0"/>
          </a:p>
          <a:p>
            <a:pPr marL="0" indent="0" algn="just">
              <a:buNone/>
            </a:pPr>
            <a:endParaRPr lang="en-US" sz="20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5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908685"/>
            <a:ext cx="8229600" cy="5689600"/>
          </a:xfrm>
        </p:spPr>
        <p:txBody>
          <a:bodyPr>
            <a:noAutofit/>
          </a:bodyPr>
          <a:lstStyle/>
          <a:p>
            <a:pPr marL="0" indent="0" algn="ctr">
              <a:buNone/>
            </a:pPr>
            <a:endParaRPr lang="en-US" sz="2400" b="1" u="sng" dirty="0"/>
          </a:p>
          <a:p>
            <a:pPr marL="0" indent="0" algn="ctr">
              <a:buNone/>
            </a:pPr>
            <a:r>
              <a:rPr lang="en-US" sz="2400" b="1" u="sng" dirty="0"/>
              <a:t>Nehru Report and Quaid e Azam Fourteen Points</a:t>
            </a:r>
          </a:p>
          <a:p>
            <a:pPr marL="0" indent="0" algn="ctr">
              <a:buNone/>
            </a:pPr>
            <a:endParaRPr lang="en-US" sz="2000" dirty="0">
              <a:sym typeface="+mn-ea"/>
            </a:endParaRPr>
          </a:p>
          <a:p>
            <a:pPr marL="0" indent="0" algn="ctr">
              <a:buNone/>
            </a:pPr>
            <a:r>
              <a:rPr lang="en-US" sz="2000" b="1" dirty="0">
                <a:sym typeface="+mn-ea"/>
              </a:rPr>
              <a:t>Background</a:t>
            </a:r>
            <a:endParaRPr lang="en-US" sz="2000" b="1" dirty="0"/>
          </a:p>
          <a:p>
            <a:pPr marL="0" indent="0" algn="just">
              <a:buNone/>
            </a:pPr>
            <a:r>
              <a:rPr lang="en-US" sz="2000" b="1" dirty="0">
                <a:sym typeface="+mn-ea"/>
              </a:rPr>
              <a:t>                  (The Delhi Muslim Proposals and Simon Commission)</a:t>
            </a:r>
            <a:r>
              <a:rPr lang="en-US" sz="2000" dirty="0">
                <a:sym typeface="+mn-ea"/>
              </a:rPr>
              <a:t>               </a:t>
            </a:r>
            <a:endParaRPr lang="en-US" sz="2000" dirty="0"/>
          </a:p>
          <a:p>
            <a:pPr lvl="0" algn="just"/>
            <a:r>
              <a:rPr lang="en-US" sz="2000" dirty="0">
                <a:sym typeface="+mn-ea"/>
              </a:rPr>
              <a:t>Sindh should be separated from Bombay and made a separate province.</a:t>
            </a:r>
            <a:endParaRPr lang="en-US" sz="2000" dirty="0"/>
          </a:p>
          <a:p>
            <a:pPr lvl="0" algn="just"/>
            <a:r>
              <a:rPr lang="en-US" sz="2000" dirty="0">
                <a:sym typeface="+mn-ea"/>
              </a:rPr>
              <a:t>Similar reform as have been introduced in other provinces should be introduced in NWFP in Baluchistan.</a:t>
            </a:r>
            <a:endParaRPr lang="en-US" sz="2000" dirty="0"/>
          </a:p>
          <a:p>
            <a:pPr lvl="0" algn="just"/>
            <a:r>
              <a:rPr lang="en-US" sz="2000" dirty="0">
                <a:sym typeface="+mn-ea"/>
              </a:rPr>
              <a:t>Accept joint electorate in all the provinces so constituted in Sindh, Baluchistan and NWFT as agreed to be granted to the minorities in the Hindu provinces.</a:t>
            </a:r>
            <a:endParaRPr lang="en-US" sz="2000" dirty="0"/>
          </a:p>
          <a:p>
            <a:pPr lvl="0" algn="just"/>
            <a:r>
              <a:rPr lang="en-US" sz="2000" dirty="0">
                <a:sym typeface="+mn-ea"/>
              </a:rPr>
              <a:t>In Punjab and Bengal representation should be based on population.</a:t>
            </a:r>
            <a:endParaRPr lang="en-US" sz="2000" dirty="0"/>
          </a:p>
          <a:p>
            <a:pPr lvl="0" algn="just"/>
            <a:r>
              <a:rPr lang="en-US" sz="2000" dirty="0">
                <a:sym typeface="+mn-ea"/>
              </a:rPr>
              <a:t>In the central legislative Assembly the Muslim should have one third representation through joint electorate. May 1927 by the All India Congress Committee which passed a resolution.</a:t>
            </a:r>
            <a:endParaRPr lang="en-US" sz="2000" dirty="0"/>
          </a:p>
          <a:p>
            <a:pPr algn="just"/>
            <a:endParaRPr lang="en-US" sz="2000" dirty="0"/>
          </a:p>
          <a:p>
            <a:pPr algn="just"/>
            <a:endParaRPr lang="en-US" sz="2000" dirty="0"/>
          </a:p>
          <a:p>
            <a:pPr lvl="0" algn="just"/>
            <a:endParaRPr lang="en-US" sz="2000" dirty="0"/>
          </a:p>
          <a:p>
            <a:pPr marL="0" indent="0">
              <a:buNone/>
            </a:pPr>
            <a:endParaRPr lang="en-US" sz="2000" b="1" dirty="0"/>
          </a:p>
          <a:p>
            <a:pPr marL="0" indent="0">
              <a:buNone/>
            </a:pPr>
            <a:endParaRPr lang="en-US" sz="2000" dirty="0"/>
          </a:p>
          <a:p>
            <a:pPr marL="0" indent="0">
              <a:buNone/>
            </a:pPr>
            <a:endParaRPr lang="en-US" sz="2000" dirty="0"/>
          </a:p>
          <a:p>
            <a:pPr marL="0" indent="0" algn="just">
              <a:buNone/>
            </a:pPr>
            <a:endParaRPr lang="en-US" sz="20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5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908685"/>
            <a:ext cx="8229600" cy="5689600"/>
          </a:xfrm>
        </p:spPr>
        <p:txBody>
          <a:bodyPr>
            <a:noAutofit/>
          </a:bodyPr>
          <a:lstStyle/>
          <a:p>
            <a:pPr marL="0" indent="0" algn="ctr">
              <a:buNone/>
            </a:pPr>
            <a:endParaRPr lang="en-US" sz="2400" b="1" u="sng" dirty="0"/>
          </a:p>
          <a:p>
            <a:pPr marL="0" indent="0" algn="ctr">
              <a:buNone/>
            </a:pPr>
            <a:r>
              <a:rPr lang="en-US" sz="2400" b="1" u="sng" dirty="0"/>
              <a:t>Nehru Report and Quaid e Azam Fourteen Points</a:t>
            </a:r>
          </a:p>
          <a:p>
            <a:pPr marL="0" indent="0" algn="ctr">
              <a:buNone/>
            </a:pPr>
            <a:r>
              <a:rPr lang="en-US" sz="2000" dirty="0">
                <a:sym typeface="+mn-ea"/>
              </a:rPr>
              <a:t>            </a:t>
            </a:r>
            <a:endParaRPr lang="en-US" sz="2000" dirty="0"/>
          </a:p>
          <a:p>
            <a:pPr algn="just"/>
            <a:endParaRPr lang="en-US" sz="2000" dirty="0">
              <a:sym typeface="+mn-ea"/>
            </a:endParaRPr>
          </a:p>
          <a:p>
            <a:pPr algn="just"/>
            <a:r>
              <a:rPr lang="en-US" sz="2000" dirty="0">
                <a:sym typeface="+mn-ea"/>
              </a:rPr>
              <a:t>An all parties conference was held at Delhi on 8 March, 1928. Due to difference among the Muslim and Hindu element it was decided that the task of framing a draft constitution should be entrusted to a committee led by </a:t>
            </a:r>
            <a:r>
              <a:rPr lang="en-US" sz="2000" dirty="0" err="1">
                <a:sym typeface="+mn-ea"/>
              </a:rPr>
              <a:t>Moti</a:t>
            </a:r>
            <a:r>
              <a:rPr lang="en-US" sz="2000" dirty="0">
                <a:sym typeface="+mn-ea"/>
              </a:rPr>
              <a:t> </a:t>
            </a:r>
            <a:r>
              <a:rPr lang="en-US" sz="2000" dirty="0" err="1">
                <a:sym typeface="+mn-ea"/>
              </a:rPr>
              <a:t>Lal</a:t>
            </a:r>
            <a:r>
              <a:rPr lang="en-US" sz="2000" dirty="0">
                <a:sym typeface="+mn-ea"/>
              </a:rPr>
              <a:t> Nehru. The report of this committee is generally known as the Nehru report published in august 1928. This report made the Hindu - Muslim rift final and unrepairable. The report laid down following proposals:</a:t>
            </a:r>
            <a:endParaRPr lang="en-US" sz="2000" dirty="0"/>
          </a:p>
          <a:p>
            <a:pPr algn="just"/>
            <a:endParaRPr lang="en-US" sz="2000" dirty="0"/>
          </a:p>
          <a:p>
            <a:pPr algn="just"/>
            <a:endParaRPr lang="en-US" sz="2000" dirty="0"/>
          </a:p>
          <a:p>
            <a:pPr algn="just"/>
            <a:endParaRPr lang="en-US" sz="2000" dirty="0"/>
          </a:p>
          <a:p>
            <a:pPr lvl="0" algn="just"/>
            <a:endParaRPr lang="en-US" sz="2000" dirty="0"/>
          </a:p>
          <a:p>
            <a:pPr marL="0" indent="0">
              <a:buNone/>
            </a:pPr>
            <a:endParaRPr lang="en-US" sz="2000" b="1" dirty="0"/>
          </a:p>
          <a:p>
            <a:pPr marL="0" indent="0">
              <a:buNone/>
            </a:pPr>
            <a:endParaRPr lang="en-US" sz="2000" dirty="0"/>
          </a:p>
          <a:p>
            <a:pPr marL="0" indent="0">
              <a:buNone/>
            </a:pPr>
            <a:endParaRPr lang="en-US" sz="2000" dirty="0"/>
          </a:p>
          <a:p>
            <a:pPr marL="0" indent="0" algn="just">
              <a:buNone/>
            </a:pPr>
            <a:endParaRPr lang="en-US" sz="20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6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404495"/>
            <a:ext cx="8229600" cy="5689600"/>
          </a:xfrm>
        </p:spPr>
        <p:txBody>
          <a:bodyPr>
            <a:noAutofit/>
          </a:bodyPr>
          <a:lstStyle/>
          <a:p>
            <a:pPr marL="0" indent="0" algn="ctr">
              <a:buNone/>
            </a:pPr>
            <a:endParaRPr lang="en-US" sz="2400" b="1" u="sng" dirty="0"/>
          </a:p>
          <a:p>
            <a:pPr marL="0" indent="0" algn="ctr">
              <a:buNone/>
            </a:pPr>
            <a:r>
              <a:rPr lang="en-US" sz="2400" b="1" u="sng" dirty="0"/>
              <a:t>Nehru Report and Quaid e Azam Fourteen Points</a:t>
            </a:r>
            <a:endParaRPr lang="en-US" sz="2000" dirty="0">
              <a:sym typeface="+mn-ea"/>
            </a:endParaRPr>
          </a:p>
          <a:p>
            <a:pPr lvl="0" algn="just"/>
            <a:r>
              <a:rPr lang="en-US" sz="2000" dirty="0">
                <a:sym typeface="+mn-ea"/>
              </a:rPr>
              <a:t>Disregarding the interests of Muslims the committee demanded a fully responsible system of government in which the majority would be sovereign.</a:t>
            </a:r>
            <a:endParaRPr lang="en-US" sz="2000" dirty="0"/>
          </a:p>
          <a:p>
            <a:pPr lvl="0" algn="just"/>
            <a:r>
              <a:rPr lang="en-US" sz="2000" dirty="0">
                <a:sym typeface="+mn-ea"/>
              </a:rPr>
              <a:t>Muslim electorates (separate electorate) were to be immediately abolished.</a:t>
            </a:r>
            <a:endParaRPr lang="en-US" sz="2000" dirty="0"/>
          </a:p>
          <a:p>
            <a:pPr lvl="0" algn="just"/>
            <a:r>
              <a:rPr lang="en-US" sz="2000" dirty="0">
                <a:sym typeface="+mn-ea"/>
              </a:rPr>
              <a:t>The committee turned down the Muslim desire for the reservation of 56% seats in the Punjab and 55% seats in Bengal legislature and an effective 1/3 representation at the center legislature.</a:t>
            </a:r>
            <a:endParaRPr lang="en-US" sz="2000" dirty="0"/>
          </a:p>
          <a:p>
            <a:pPr lvl="0" algn="just"/>
            <a:r>
              <a:rPr lang="en-US" sz="2000" dirty="0">
                <a:sym typeface="+mn-ea"/>
              </a:rPr>
              <a:t>The committee recommended the separation of Sindh from Bombay and introduction of reforms in NWFP and Baluchistan.</a:t>
            </a:r>
            <a:endParaRPr lang="en-US" sz="2000" dirty="0"/>
          </a:p>
          <a:p>
            <a:pPr lvl="0" algn="just"/>
            <a:r>
              <a:rPr lang="en-US" sz="2000" dirty="0">
                <a:sym typeface="+mn-ea"/>
              </a:rPr>
              <a:t>A declaration of rights should be inserted in the constitution assuring the fullest liberty of conscience and religion.</a:t>
            </a:r>
            <a:endParaRPr lang="en-US" sz="2000" dirty="0"/>
          </a:p>
          <a:p>
            <a:pPr lvl="0" algn="just"/>
            <a:r>
              <a:rPr lang="en-US" sz="2000" dirty="0">
                <a:sym typeface="+mn-ea"/>
              </a:rPr>
              <a:t>Hindi should be made official language.</a:t>
            </a:r>
            <a:endParaRPr lang="en-US" sz="2000" dirty="0"/>
          </a:p>
          <a:p>
            <a:pPr algn="just"/>
            <a:r>
              <a:rPr lang="en-US" sz="2000" dirty="0">
                <a:sym typeface="+mn-ea"/>
              </a:rPr>
              <a:t>The Muslim members of the committee and the Muslim league proposed amendments to the Nehru report and stuck to the demand neglected by the committee. </a:t>
            </a:r>
            <a:endParaRPr lang="en-US" sz="2000" dirty="0"/>
          </a:p>
          <a:p>
            <a:pPr algn="just"/>
            <a:endParaRPr lang="en-US" sz="2000" dirty="0"/>
          </a:p>
          <a:p>
            <a:pPr algn="just"/>
            <a:endParaRPr lang="en-US" sz="2000" dirty="0"/>
          </a:p>
          <a:p>
            <a:pPr algn="just"/>
            <a:endParaRPr lang="en-US" sz="2000" dirty="0"/>
          </a:p>
          <a:p>
            <a:pPr algn="just"/>
            <a:endParaRPr lang="en-US" sz="2000" dirty="0"/>
          </a:p>
          <a:p>
            <a:pPr lvl="0" algn="just"/>
            <a:endParaRPr lang="en-US" sz="2000" dirty="0"/>
          </a:p>
          <a:p>
            <a:pPr marL="0" indent="0">
              <a:buNone/>
            </a:pPr>
            <a:endParaRPr lang="en-US" sz="2000" b="1" dirty="0"/>
          </a:p>
          <a:p>
            <a:pPr marL="0" indent="0">
              <a:buNone/>
            </a:pPr>
            <a:endParaRPr lang="en-US" sz="2000" dirty="0"/>
          </a:p>
          <a:p>
            <a:pPr marL="0" indent="0">
              <a:buNone/>
            </a:pPr>
            <a:endParaRPr lang="en-US" sz="2000" dirty="0"/>
          </a:p>
          <a:p>
            <a:pPr marL="0" indent="0" algn="just">
              <a:buNone/>
            </a:pPr>
            <a:endParaRPr lang="en-US" sz="20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6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57200" y="981075"/>
            <a:ext cx="8229600" cy="5689600"/>
          </a:xfrm>
        </p:spPr>
        <p:txBody>
          <a:bodyPr>
            <a:noAutofit/>
          </a:bodyPr>
          <a:lstStyle/>
          <a:p>
            <a:pPr marL="0" indent="0" algn="just">
              <a:buNone/>
            </a:pPr>
            <a:endParaRPr lang="en-US" sz="2400" dirty="0">
              <a:sym typeface="+mn-ea"/>
            </a:endParaRPr>
          </a:p>
          <a:p>
            <a:pPr marL="0" indent="0" algn="ctr">
              <a:buNone/>
            </a:pPr>
            <a:r>
              <a:rPr lang="en-US" sz="2400" b="1" u="sng" dirty="0">
                <a:sym typeface="+mn-ea"/>
              </a:rPr>
              <a:t>Background</a:t>
            </a:r>
          </a:p>
          <a:p>
            <a:pPr marL="0" indent="0" algn="ctr">
              <a:buNone/>
            </a:pPr>
            <a:endParaRPr lang="en-US" sz="2400" dirty="0"/>
          </a:p>
          <a:p>
            <a:pPr algn="just"/>
            <a:r>
              <a:rPr lang="en-US" sz="2400" b="1" dirty="0">
                <a:sym typeface="+mn-ea"/>
              </a:rPr>
              <a:t>Responding to the unjust Nehru Report  which fell short of the Muslim’s just demands, Quaid-e-</a:t>
            </a:r>
            <a:r>
              <a:rPr lang="en-US" sz="2400" b="1" dirty="0" err="1">
                <a:sym typeface="+mn-ea"/>
              </a:rPr>
              <a:t>Azem</a:t>
            </a:r>
            <a:r>
              <a:rPr lang="en-US" sz="2400" b="1" dirty="0">
                <a:sym typeface="+mn-ea"/>
              </a:rPr>
              <a:t> Mohammad Ali Jinnah announced fourteen points in March 1929 at the annual session of All India Muslim League held  at Delhi .</a:t>
            </a:r>
            <a:endParaRPr lang="en-US" sz="24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US" b="1" dirty="0"/>
              <a:t>Jinnah’s Fourteen Points</a:t>
            </a:r>
            <a:endParaRPr lang="en-US" dirty="0"/>
          </a:p>
        </p:txBody>
      </p:sp>
      <p:sp>
        <p:nvSpPr>
          <p:cNvPr id="3" name="Content Placeholder 2"/>
          <p:cNvSpPr>
            <a:spLocks noGrp="1"/>
          </p:cNvSpPr>
          <p:nvPr>
            <p:ph idx="1"/>
          </p:nvPr>
        </p:nvSpPr>
        <p:spPr>
          <a:xfrm>
            <a:off x="457200" y="908720"/>
            <a:ext cx="8229600" cy="5472608"/>
          </a:xfrm>
        </p:spPr>
        <p:txBody>
          <a:bodyPr>
            <a:noAutofit/>
          </a:bodyPr>
          <a:lstStyle/>
          <a:p>
            <a:pPr marL="514350" lvl="0" indent="-514350" algn="just">
              <a:buFont typeface="+mj-lt"/>
              <a:buAutoNum type="arabicPeriod"/>
            </a:pPr>
            <a:r>
              <a:rPr lang="en-US" sz="2800" dirty="0"/>
              <a:t>Federal system with residuary powers with the provinces.</a:t>
            </a:r>
          </a:p>
          <a:p>
            <a:pPr marL="514350" lvl="0" indent="-514350" algn="just">
              <a:buFont typeface="+mj-lt"/>
              <a:buAutoNum type="arabicPeriod"/>
            </a:pPr>
            <a:r>
              <a:rPr lang="en-US" sz="2800" dirty="0"/>
              <a:t>Provincial autonomy.</a:t>
            </a:r>
          </a:p>
          <a:p>
            <a:pPr marL="514350" lvl="0" indent="-514350" algn="just">
              <a:buFont typeface="+mj-lt"/>
              <a:buAutoNum type="arabicPeriod"/>
            </a:pPr>
            <a:r>
              <a:rPr lang="en-US" sz="2800" dirty="0"/>
              <a:t>Separate electorate for Muslims.</a:t>
            </a:r>
          </a:p>
          <a:p>
            <a:pPr marL="514350" lvl="0" indent="-514350" algn="just">
              <a:buFont typeface="+mj-lt"/>
              <a:buAutoNum type="arabicPeriod"/>
            </a:pPr>
            <a:r>
              <a:rPr lang="en-US" sz="2800" dirty="0"/>
              <a:t>Effective representation to minorities in the provinces but the majority should not be reduced to minority</a:t>
            </a:r>
          </a:p>
          <a:p>
            <a:pPr marL="514350" lvl="0" indent="-514350" algn="just">
              <a:buFont typeface="+mj-lt"/>
              <a:buAutoNum type="arabicPeriod"/>
            </a:pPr>
            <a:r>
              <a:rPr lang="en-US" sz="2800" dirty="0"/>
              <a:t>One-third representation of Muslims in Central Legislature.</a:t>
            </a:r>
          </a:p>
          <a:p>
            <a:pPr marL="514350" lvl="0" indent="-514350" algn="just">
              <a:buFont typeface="+mj-lt"/>
              <a:buAutoNum type="arabicPeriod"/>
            </a:pPr>
            <a:r>
              <a:rPr lang="en-US" sz="2800" dirty="0"/>
              <a:t>One third Muslim representation in cabinets.</a:t>
            </a:r>
          </a:p>
          <a:p>
            <a:pPr marL="514350" lvl="0" indent="-514350" algn="just">
              <a:buFont typeface="+mj-lt"/>
              <a:buAutoNum type="arabicPeriod"/>
            </a:pPr>
            <a:r>
              <a:rPr lang="en-US" sz="2800" dirty="0"/>
              <a:t>No changes in the boundaries of the Punjab and Bengal that would adversely affect Muslim majority.</a:t>
            </a:r>
          </a:p>
          <a:p>
            <a:pPr algn="just"/>
            <a:endParaRPr lang="en-US" sz="28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Jinnah’s Fourteen Points</a:t>
            </a:r>
            <a:endParaRPr lang="en-US" dirty="0"/>
          </a:p>
        </p:txBody>
      </p:sp>
      <p:sp>
        <p:nvSpPr>
          <p:cNvPr id="3" name="Content Placeholder 2"/>
          <p:cNvSpPr>
            <a:spLocks noGrp="1"/>
          </p:cNvSpPr>
          <p:nvPr>
            <p:ph idx="1"/>
          </p:nvPr>
        </p:nvSpPr>
        <p:spPr/>
        <p:txBody>
          <a:bodyPr>
            <a:normAutofit fontScale="77500" lnSpcReduction="20000"/>
          </a:bodyPr>
          <a:lstStyle/>
          <a:p>
            <a:pPr marL="514350" lvl="0" indent="-514350" algn="just">
              <a:buFont typeface="+mj-lt"/>
              <a:buAutoNum type="arabicPeriod" startAt="8"/>
            </a:pPr>
            <a:r>
              <a:rPr lang="en-US" dirty="0"/>
              <a:t>Religious freedom to all.</a:t>
            </a:r>
          </a:p>
          <a:p>
            <a:pPr marL="514350" lvl="0" indent="-514350" algn="just">
              <a:buFont typeface="+mj-lt"/>
              <a:buAutoNum type="arabicPeriod" startAt="8"/>
            </a:pPr>
            <a:r>
              <a:rPr lang="en-US" dirty="0"/>
              <a:t>No law will be passed if three-fourth elected members of a community declare that it is against their interests.</a:t>
            </a:r>
          </a:p>
          <a:p>
            <a:pPr marL="514350" lvl="0" indent="-514350" algn="just">
              <a:buFont typeface="+mj-lt"/>
              <a:buAutoNum type="arabicPeriod" startAt="8"/>
            </a:pPr>
            <a:r>
              <a:rPr lang="en-US" dirty="0"/>
              <a:t>Sind to be made a separate province.</a:t>
            </a:r>
          </a:p>
          <a:p>
            <a:pPr marL="514350" lvl="0" indent="-514350" algn="just">
              <a:buFont typeface="+mj-lt"/>
              <a:buAutoNum type="arabicPeriod" startAt="8"/>
            </a:pPr>
            <a:r>
              <a:rPr lang="en-US" dirty="0"/>
              <a:t>Constitutional Reforms in NWFP and </a:t>
            </a:r>
            <a:r>
              <a:rPr lang="en-US" dirty="0" err="1"/>
              <a:t>Balochistan</a:t>
            </a:r>
            <a:r>
              <a:rPr lang="en-US" dirty="0"/>
              <a:t>.</a:t>
            </a:r>
          </a:p>
          <a:p>
            <a:pPr marL="514350" lvl="0" indent="-514350" algn="just">
              <a:buFont typeface="+mj-lt"/>
              <a:buAutoNum type="arabicPeriod" startAt="8"/>
            </a:pPr>
            <a:r>
              <a:rPr lang="en-US" dirty="0"/>
              <a:t>Muslim representation in govt. jobs.</a:t>
            </a:r>
          </a:p>
          <a:p>
            <a:pPr marL="514350" lvl="0" indent="-514350" algn="just">
              <a:buFont typeface="+mj-lt"/>
              <a:buAutoNum type="arabicPeriod" startAt="8"/>
            </a:pPr>
            <a:r>
              <a:rPr lang="en-US" dirty="0"/>
              <a:t>Constitutional safeguards for Islamic culture and civilization, education, language, personal laws and Muslim institutions. Government should provide financial assistance.</a:t>
            </a:r>
          </a:p>
          <a:p>
            <a:pPr marL="514350" lvl="0" indent="-514350" algn="just">
              <a:buFont typeface="+mj-lt"/>
              <a:buAutoNum type="arabicPeriod" startAt="8"/>
            </a:pPr>
            <a:r>
              <a:rPr lang="en-US" dirty="0"/>
              <a:t>No constitutional amendment unless all constituent units of the federation agree to it.</a:t>
            </a:r>
          </a:p>
          <a:p>
            <a:pPr algn="just"/>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6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404495"/>
            <a:ext cx="8229600" cy="5689600"/>
          </a:xfrm>
        </p:spPr>
        <p:txBody>
          <a:bodyPr>
            <a:noAutofit/>
          </a:bodyPr>
          <a:lstStyle/>
          <a:p>
            <a:pPr marL="0" indent="0" algn="just">
              <a:buNone/>
            </a:pPr>
            <a:endParaRPr lang="en-US" sz="2400" b="1" dirty="0">
              <a:sym typeface="+mn-ea"/>
            </a:endParaRPr>
          </a:p>
          <a:p>
            <a:pPr marL="0" indent="0" algn="just">
              <a:buNone/>
            </a:pPr>
            <a:endParaRPr lang="en-US" sz="2400" b="1" dirty="0">
              <a:sym typeface="+mn-ea"/>
            </a:endParaRPr>
          </a:p>
          <a:p>
            <a:pPr marL="0" indent="0" algn="ctr">
              <a:buNone/>
            </a:pPr>
            <a:r>
              <a:rPr lang="en-US" sz="2400" b="1" dirty="0">
                <a:sym typeface="+mn-ea"/>
              </a:rPr>
              <a:t>Salient features and significance of the Lahore Resolution (1940)</a:t>
            </a:r>
            <a:endParaRPr lang="en-US" sz="2400" dirty="0"/>
          </a:p>
          <a:p>
            <a:pPr algn="just"/>
            <a:r>
              <a:rPr lang="en-US" sz="2400" dirty="0">
                <a:sym typeface="+mn-ea"/>
              </a:rPr>
              <a:t>The Muslim league passed the famous Lahore or Pakistan resolution on 23</a:t>
            </a:r>
            <a:r>
              <a:rPr lang="en-US" sz="2400" baseline="30000" dirty="0">
                <a:sym typeface="+mn-ea"/>
              </a:rPr>
              <a:t>rd</a:t>
            </a:r>
            <a:r>
              <a:rPr lang="en-US" sz="2400" dirty="0">
                <a:sym typeface="+mn-ea"/>
              </a:rPr>
              <a:t> March 1940. The resolution was moved by the Bengal chief minister, </a:t>
            </a:r>
            <a:r>
              <a:rPr lang="en-US" sz="2400" dirty="0" err="1">
                <a:sym typeface="+mn-ea"/>
              </a:rPr>
              <a:t>maulvi</a:t>
            </a:r>
            <a:r>
              <a:rPr lang="en-US" sz="2400" dirty="0">
                <a:sym typeface="+mn-ea"/>
              </a:rPr>
              <a:t> A.K </a:t>
            </a:r>
            <a:r>
              <a:rPr lang="en-US" sz="2400" dirty="0" err="1">
                <a:sym typeface="+mn-ea"/>
              </a:rPr>
              <a:t>Fazlul</a:t>
            </a:r>
            <a:r>
              <a:rPr lang="en-US" sz="2400" dirty="0">
                <a:sym typeface="+mn-ea"/>
              </a:rPr>
              <a:t> </a:t>
            </a:r>
            <a:r>
              <a:rPr lang="en-US" sz="2400" dirty="0" err="1">
                <a:sym typeface="+mn-ea"/>
              </a:rPr>
              <a:t>Huque</a:t>
            </a:r>
            <a:r>
              <a:rPr lang="en-US" sz="2400" dirty="0">
                <a:sym typeface="+mn-ea"/>
              </a:rPr>
              <a:t> ( on 23 march), and was seconded by </a:t>
            </a:r>
            <a:r>
              <a:rPr lang="en-US" sz="2400" dirty="0" err="1">
                <a:sym typeface="+mn-ea"/>
              </a:rPr>
              <a:t>chodhary</a:t>
            </a:r>
            <a:r>
              <a:rPr lang="en-US" sz="2400" dirty="0">
                <a:sym typeface="+mn-ea"/>
              </a:rPr>
              <a:t> </a:t>
            </a:r>
            <a:r>
              <a:rPr lang="en-US" sz="2400" dirty="0" err="1">
                <a:sym typeface="+mn-ea"/>
              </a:rPr>
              <a:t>khaliquzzamam</a:t>
            </a:r>
            <a:r>
              <a:rPr lang="en-US" sz="2400" dirty="0">
                <a:sym typeface="+mn-ea"/>
              </a:rPr>
              <a:t>, MLA (UP) and it was further supported by other prominent leaders representing various provinces of India. </a:t>
            </a:r>
            <a:r>
              <a:rPr lang="en-US" sz="2400" b="1" dirty="0">
                <a:sym typeface="+mn-ea"/>
              </a:rPr>
              <a:t>The Lahore resolution was an old part of history for the Muslims, which created their independent country</a:t>
            </a:r>
            <a:r>
              <a:rPr lang="en-US" sz="2400" dirty="0">
                <a:sym typeface="+mn-ea"/>
              </a:rPr>
              <a:t>. On 23</a:t>
            </a:r>
            <a:r>
              <a:rPr lang="en-US" sz="2400" baseline="30000" dirty="0">
                <a:sym typeface="+mn-ea"/>
              </a:rPr>
              <a:t>rd</a:t>
            </a:r>
            <a:r>
              <a:rPr lang="en-US" sz="2400" dirty="0">
                <a:sym typeface="+mn-ea"/>
              </a:rPr>
              <a:t> March, in 1940.</a:t>
            </a:r>
            <a:endParaRPr lang="en-US" sz="24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6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404495"/>
            <a:ext cx="8229600" cy="5689600"/>
          </a:xfrm>
        </p:spPr>
        <p:txBody>
          <a:bodyPr>
            <a:noAutofit/>
          </a:bodyPr>
          <a:lstStyle/>
          <a:p>
            <a:pPr marL="0" indent="0" algn="just">
              <a:buNone/>
            </a:pPr>
            <a:endParaRPr lang="en-US" sz="2400" b="1" dirty="0">
              <a:sym typeface="+mn-ea"/>
            </a:endParaRPr>
          </a:p>
          <a:p>
            <a:pPr marL="0" indent="0" algn="just">
              <a:buNone/>
            </a:pPr>
            <a:endParaRPr lang="en-US" sz="2400" b="1" dirty="0">
              <a:sym typeface="+mn-ea"/>
            </a:endParaRPr>
          </a:p>
          <a:p>
            <a:pPr marL="0" indent="0" algn="ctr">
              <a:buNone/>
            </a:pPr>
            <a:r>
              <a:rPr lang="en-US" sz="2400" b="1" dirty="0">
                <a:sym typeface="+mn-ea"/>
              </a:rPr>
              <a:t>Salient features and significance of the Lahore Resolution (1940)</a:t>
            </a:r>
            <a:endParaRPr lang="en-US" sz="2400" dirty="0"/>
          </a:p>
          <a:p>
            <a:pPr algn="just"/>
            <a:r>
              <a:rPr lang="en-US" sz="2400" dirty="0">
                <a:sym typeface="+mn-ea"/>
              </a:rPr>
              <a:t>Additionally, it stated: That effective and mandatory safeguards shall be specifically provided in the constitution for minorities in the units and in the regions for the protection of their religious, cultural, economic, political, administrative and other rights of the minorities. </a:t>
            </a:r>
          </a:p>
          <a:p>
            <a:pPr algn="just"/>
            <a:r>
              <a:rPr lang="en-US" sz="2400" dirty="0">
                <a:sym typeface="+mn-ea"/>
              </a:rPr>
              <a:t>The Muslim league policy was clear and unmistakable. It did not want India with a clear and inescapable Hindu majority, which through a parliamentary system of government and a so-called democratic </a:t>
            </a:r>
            <a:r>
              <a:rPr lang="en-US" sz="2400" dirty="0" err="1">
                <a:sym typeface="+mn-ea"/>
              </a:rPr>
              <a:t>process.Muslims</a:t>
            </a:r>
            <a:r>
              <a:rPr lang="en-US" sz="2400" dirty="0">
                <a:sym typeface="+mn-ea"/>
              </a:rPr>
              <a:t> wanted this and would not be satisfied by anything less the way lay clear and open to Pakistan.</a:t>
            </a:r>
            <a:endParaRPr lang="en-US" sz="24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6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404495"/>
            <a:ext cx="8229600" cy="5689600"/>
          </a:xfrm>
        </p:spPr>
        <p:txBody>
          <a:bodyPr>
            <a:noAutofit/>
          </a:bodyPr>
          <a:lstStyle/>
          <a:p>
            <a:pPr marL="0" indent="0" algn="just">
              <a:buNone/>
            </a:pPr>
            <a:endParaRPr lang="en-US" sz="2400" b="1" dirty="0">
              <a:sym typeface="+mn-ea"/>
            </a:endParaRPr>
          </a:p>
          <a:p>
            <a:pPr marL="0" indent="0" algn="just">
              <a:buNone/>
            </a:pPr>
            <a:endParaRPr lang="en-US" sz="2400" b="1" dirty="0">
              <a:sym typeface="+mn-ea"/>
            </a:endParaRPr>
          </a:p>
          <a:p>
            <a:pPr marL="0" indent="0" algn="ctr">
              <a:buNone/>
            </a:pPr>
            <a:r>
              <a:rPr lang="en-US" sz="2400" b="1" u="sng" dirty="0">
                <a:sym typeface="+mn-ea"/>
              </a:rPr>
              <a:t>3</a:t>
            </a:r>
            <a:r>
              <a:rPr lang="en-US" sz="2400" b="1" u="sng" baseline="30000" dirty="0">
                <a:sym typeface="+mn-ea"/>
              </a:rPr>
              <a:t>rd</a:t>
            </a:r>
            <a:r>
              <a:rPr lang="en-US" sz="2400" b="1" u="sng" dirty="0">
                <a:sym typeface="+mn-ea"/>
              </a:rPr>
              <a:t> June plan and the Indian Independence Act 1947</a:t>
            </a:r>
            <a:endParaRPr lang="en-US" sz="2400" dirty="0"/>
          </a:p>
          <a:p>
            <a:pPr algn="just"/>
            <a:r>
              <a:rPr lang="en-US" sz="2400" dirty="0">
                <a:sym typeface="+mn-ea"/>
              </a:rPr>
              <a:t>India’s then Governor-General and Viceroy </a:t>
            </a:r>
            <a:r>
              <a:rPr lang="en-US" sz="2400" b="1" dirty="0">
                <a:sym typeface="+mn-ea"/>
              </a:rPr>
              <a:t>Lord Mountbatten</a:t>
            </a:r>
            <a:r>
              <a:rPr lang="en-US" sz="2400" dirty="0">
                <a:sym typeface="+mn-ea"/>
              </a:rPr>
              <a:t> addressed the nation over All India Radio on June 3, 1947. He announced his 3rd June Plan, according to which India would be given independence on August 15, 1947.  </a:t>
            </a:r>
            <a:endParaRPr lang="en-US" sz="2400" dirty="0"/>
          </a:p>
          <a:p>
            <a:pPr algn="just"/>
            <a:r>
              <a:rPr lang="en-US" sz="2400" dirty="0">
                <a:sym typeface="+mn-ea"/>
              </a:rPr>
              <a:t>Under this Plan, the British would transfer power to two successor authorities — the Congress and the Muslim League. In territorial terms, the dominions of India and Pakistan would remain within the British Commonwealth. British paramount over 559 princely states in India would not be transferred to the two dominions and, consequently, would go by constitutionally. </a:t>
            </a:r>
            <a:endParaRPr lang="en-US" sz="24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6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404495"/>
            <a:ext cx="8229600" cy="5689600"/>
          </a:xfrm>
        </p:spPr>
        <p:txBody>
          <a:bodyPr>
            <a:noAutofit/>
          </a:bodyPr>
          <a:lstStyle/>
          <a:p>
            <a:pPr marL="0" indent="0" algn="just">
              <a:buNone/>
            </a:pPr>
            <a:endParaRPr lang="en-US" sz="2400" b="1" dirty="0">
              <a:sym typeface="+mn-ea"/>
            </a:endParaRPr>
          </a:p>
          <a:p>
            <a:pPr marL="0" indent="0" algn="just">
              <a:buNone/>
            </a:pPr>
            <a:endParaRPr lang="en-US" sz="2400" b="1" dirty="0">
              <a:sym typeface="+mn-ea"/>
            </a:endParaRPr>
          </a:p>
          <a:p>
            <a:pPr marL="0" indent="0" algn="ctr">
              <a:buNone/>
            </a:pPr>
            <a:r>
              <a:rPr lang="en-US" sz="2400" b="1" u="sng" dirty="0">
                <a:sym typeface="+mn-ea"/>
              </a:rPr>
              <a:t>3</a:t>
            </a:r>
            <a:r>
              <a:rPr lang="en-US" sz="2400" b="1" u="sng" baseline="30000" dirty="0">
                <a:sym typeface="+mn-ea"/>
              </a:rPr>
              <a:t>rd</a:t>
            </a:r>
            <a:r>
              <a:rPr lang="en-US" sz="2400" b="1" u="sng" dirty="0">
                <a:sym typeface="+mn-ea"/>
              </a:rPr>
              <a:t> June plan and the Indian Independence Act 1947</a:t>
            </a:r>
            <a:endParaRPr lang="en-US" sz="2400" dirty="0"/>
          </a:p>
          <a:p>
            <a:pPr algn="just"/>
            <a:r>
              <a:rPr lang="en-US" sz="2400" dirty="0">
                <a:sym typeface="+mn-ea"/>
              </a:rPr>
              <a:t>The princely states would be free to join either of the two dominions. The third option of them becoming independent and not joining either dominion was kept open. This was denied to the British Indian provinces.</a:t>
            </a:r>
            <a:endParaRPr lang="en-US" sz="2400" dirty="0"/>
          </a:p>
          <a:p>
            <a:pPr algn="just"/>
            <a:r>
              <a:rPr lang="en-US" sz="2400" dirty="0" err="1">
                <a:sym typeface="+mn-ea"/>
              </a:rPr>
              <a:t>Khizar</a:t>
            </a:r>
            <a:r>
              <a:rPr lang="en-US" sz="2400" dirty="0">
                <a:sym typeface="+mn-ea"/>
              </a:rPr>
              <a:t> Hayat </a:t>
            </a:r>
            <a:r>
              <a:rPr lang="en-US" sz="2400" dirty="0" err="1">
                <a:sym typeface="+mn-ea"/>
              </a:rPr>
              <a:t>Tiwana's</a:t>
            </a:r>
            <a:r>
              <a:rPr lang="en-US" sz="2400" dirty="0">
                <a:sym typeface="+mn-ea"/>
              </a:rPr>
              <a:t> government had resigned in Punjab on March 2, 1947 and communal disturbance had started in Rawalpindi and other cities of Punjab. Initially, the Governor of Punjab, Sir Evan Jenkins  had thought of inviting the Muslim League leader, the </a:t>
            </a:r>
            <a:r>
              <a:rPr lang="en-US" sz="2400" dirty="0" err="1">
                <a:sym typeface="+mn-ea"/>
              </a:rPr>
              <a:t>Nawab</a:t>
            </a:r>
            <a:r>
              <a:rPr lang="en-US" sz="2400" dirty="0">
                <a:sym typeface="+mn-ea"/>
              </a:rPr>
              <a:t> of </a:t>
            </a:r>
            <a:r>
              <a:rPr lang="en-US" sz="2400" dirty="0" err="1">
                <a:sym typeface="+mn-ea"/>
              </a:rPr>
              <a:t>Mamdot</a:t>
            </a:r>
            <a:r>
              <a:rPr lang="en-US" sz="2400" dirty="0">
                <a:sym typeface="+mn-ea"/>
              </a:rPr>
              <a:t>, to form a government in Punjab, but later he decided against it and Governor's rule was imposed. </a:t>
            </a:r>
            <a:r>
              <a:rPr lang="en-US" sz="2400" b="1" dirty="0">
                <a:sym typeface="+mn-ea"/>
              </a:rPr>
              <a:t>Lord Mountbatten</a:t>
            </a:r>
            <a:r>
              <a:rPr lang="en-US" sz="2400" dirty="0">
                <a:sym typeface="+mn-ea"/>
              </a:rPr>
              <a:t> arrived in India on March 22, 1947.</a:t>
            </a:r>
            <a:endParaRPr lang="en-US" sz="24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6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404495"/>
            <a:ext cx="8229600" cy="5689600"/>
          </a:xfrm>
        </p:spPr>
        <p:txBody>
          <a:bodyPr>
            <a:noAutofit/>
          </a:bodyPr>
          <a:lstStyle/>
          <a:p>
            <a:pPr marL="0" indent="0" algn="just">
              <a:buNone/>
            </a:pPr>
            <a:endParaRPr lang="en-US" sz="2400" b="1" dirty="0">
              <a:sym typeface="+mn-ea"/>
            </a:endParaRPr>
          </a:p>
          <a:p>
            <a:pPr marL="0" indent="0" algn="just">
              <a:buNone/>
            </a:pPr>
            <a:endParaRPr lang="en-US" sz="2400" b="1" dirty="0">
              <a:sym typeface="+mn-ea"/>
            </a:endParaRPr>
          </a:p>
          <a:p>
            <a:pPr marL="0" indent="0" algn="ctr">
              <a:buNone/>
            </a:pPr>
            <a:r>
              <a:rPr lang="en-US" sz="2400" b="1" u="sng" dirty="0">
                <a:sym typeface="+mn-ea"/>
              </a:rPr>
              <a:t>3</a:t>
            </a:r>
            <a:r>
              <a:rPr lang="en-US" sz="2400" b="1" u="sng" baseline="30000" dirty="0">
                <a:sym typeface="+mn-ea"/>
              </a:rPr>
              <a:t>rd</a:t>
            </a:r>
            <a:r>
              <a:rPr lang="en-US" sz="2400" b="1" u="sng" dirty="0">
                <a:sym typeface="+mn-ea"/>
              </a:rPr>
              <a:t> June plan and the Indian Independence Act 1947</a:t>
            </a:r>
            <a:endParaRPr lang="en-US" sz="2400" dirty="0"/>
          </a:p>
          <a:p>
            <a:pPr algn="just"/>
            <a:r>
              <a:rPr lang="en-US" sz="2400" dirty="0">
                <a:sym typeface="+mn-ea"/>
              </a:rPr>
              <a:t>On June 3, 1947, Mountbatten was able to bring Nehru, Patel, JB </a:t>
            </a:r>
            <a:r>
              <a:rPr lang="en-US" sz="2400" dirty="0" err="1">
                <a:sym typeface="+mn-ea"/>
              </a:rPr>
              <a:t>Kripalani</a:t>
            </a:r>
            <a:r>
              <a:rPr lang="en-US" sz="2400" dirty="0">
                <a:sym typeface="+mn-ea"/>
              </a:rPr>
              <a:t> (as Congress president) </a:t>
            </a:r>
            <a:r>
              <a:rPr lang="en-US" sz="2400" dirty="0" err="1">
                <a:sym typeface="+mn-ea"/>
              </a:rPr>
              <a:t>Baldev</a:t>
            </a:r>
            <a:r>
              <a:rPr lang="en-US" sz="2400" dirty="0">
                <a:sym typeface="+mn-ea"/>
              </a:rPr>
              <a:t> Singh, Jinnah, </a:t>
            </a:r>
            <a:r>
              <a:rPr lang="en-US" sz="2400" dirty="0" err="1">
                <a:sym typeface="+mn-ea"/>
              </a:rPr>
              <a:t>Liaquat</a:t>
            </a:r>
            <a:r>
              <a:rPr lang="en-US" sz="2400" dirty="0">
                <a:sym typeface="+mn-ea"/>
              </a:rPr>
              <a:t> Ali Khan and </a:t>
            </a:r>
            <a:r>
              <a:rPr lang="en-US" sz="2400" dirty="0" err="1">
                <a:sym typeface="+mn-ea"/>
              </a:rPr>
              <a:t>Abdur</a:t>
            </a:r>
            <a:r>
              <a:rPr lang="en-US" sz="2400" dirty="0">
                <a:sym typeface="+mn-ea"/>
              </a:rPr>
              <a:t> </a:t>
            </a:r>
            <a:r>
              <a:rPr lang="en-US" sz="2400" dirty="0" err="1">
                <a:sym typeface="+mn-ea"/>
              </a:rPr>
              <a:t>Rab</a:t>
            </a:r>
            <a:r>
              <a:rPr lang="en-US" sz="2400" dirty="0">
                <a:sym typeface="+mn-ea"/>
              </a:rPr>
              <a:t> </a:t>
            </a:r>
            <a:r>
              <a:rPr lang="en-US" sz="2400" dirty="0" err="1">
                <a:sym typeface="+mn-ea"/>
              </a:rPr>
              <a:t>Nishtar</a:t>
            </a:r>
            <a:r>
              <a:rPr lang="en-US" sz="2400" dirty="0">
                <a:sym typeface="+mn-ea"/>
              </a:rPr>
              <a:t>, around a conference table, where they collectively endorsed Mountbatten's plan, under the watchful gaze of Lord </a:t>
            </a:r>
            <a:r>
              <a:rPr lang="en-US" sz="2400" dirty="0" err="1">
                <a:sym typeface="+mn-ea"/>
              </a:rPr>
              <a:t>Ismay</a:t>
            </a:r>
            <a:r>
              <a:rPr lang="en-US" sz="2400" dirty="0">
                <a:sym typeface="+mn-ea"/>
              </a:rPr>
              <a:t>.</a:t>
            </a:r>
            <a:endParaRPr lang="en-US" sz="2400" dirty="0"/>
          </a:p>
          <a:p>
            <a:pPr algn="just"/>
            <a:r>
              <a:rPr lang="en-US" sz="2400" dirty="0">
                <a:sym typeface="+mn-ea"/>
              </a:rPr>
              <a:t>Jinnah had deputed </a:t>
            </a:r>
            <a:r>
              <a:rPr lang="en-US" sz="2400" dirty="0" err="1">
                <a:sym typeface="+mn-ea"/>
              </a:rPr>
              <a:t>Iskander</a:t>
            </a:r>
            <a:r>
              <a:rPr lang="en-US" sz="2400" dirty="0">
                <a:sym typeface="+mn-ea"/>
              </a:rPr>
              <a:t> Mirza to start a jihad in the NWFP when referendum was held there in July 1947. </a:t>
            </a:r>
            <a:r>
              <a:rPr lang="en-US" sz="2400" dirty="0" err="1">
                <a:sym typeface="+mn-ea"/>
              </a:rPr>
              <a:t>Iskander</a:t>
            </a:r>
            <a:r>
              <a:rPr lang="en-US" sz="2400" dirty="0">
                <a:sym typeface="+mn-ea"/>
              </a:rPr>
              <a:t> Mirza was a great grandson of Mir </a:t>
            </a:r>
            <a:r>
              <a:rPr lang="en-US" sz="2400" dirty="0" err="1">
                <a:sym typeface="+mn-ea"/>
              </a:rPr>
              <a:t>Jafar</a:t>
            </a:r>
            <a:r>
              <a:rPr lang="en-US" sz="2400" dirty="0">
                <a:sym typeface="+mn-ea"/>
              </a:rPr>
              <a:t>, who had allowed to Lord Clive in the Battle of Plassey in 1757, after taking huge bribes. </a:t>
            </a:r>
            <a:r>
              <a:rPr lang="en-US" sz="2400" dirty="0" err="1">
                <a:sym typeface="+mn-ea"/>
              </a:rPr>
              <a:t>Iskander</a:t>
            </a:r>
            <a:r>
              <a:rPr lang="en-US" sz="2400" dirty="0">
                <a:sym typeface="+mn-ea"/>
              </a:rPr>
              <a:t> Mirza was later rewarded with president ship of Pakistan in the 1950s.</a:t>
            </a:r>
            <a:endParaRPr lang="en-US" sz="24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695"/>
            <a:ext cx="8229600" cy="1042035"/>
          </a:xfrm>
        </p:spPr>
        <p:txBody>
          <a:bodyPr>
            <a:normAutofit/>
          </a:bodyPr>
          <a:lstStyle/>
          <a:p>
            <a:r>
              <a:rPr lang="en-US" sz="2800" b="1" dirty="0"/>
              <a:t>Factors Leading to the Creation of Pakistan</a:t>
            </a:r>
          </a:p>
        </p:txBody>
      </p:sp>
      <p:sp>
        <p:nvSpPr>
          <p:cNvPr id="3" name="Content Placeholder 2"/>
          <p:cNvSpPr>
            <a:spLocks noGrp="1"/>
          </p:cNvSpPr>
          <p:nvPr>
            <p:ph idx="1"/>
          </p:nvPr>
        </p:nvSpPr>
        <p:spPr>
          <a:xfrm>
            <a:off x="467360" y="404495"/>
            <a:ext cx="8229600" cy="5689600"/>
          </a:xfrm>
        </p:spPr>
        <p:txBody>
          <a:bodyPr>
            <a:noAutofit/>
          </a:bodyPr>
          <a:lstStyle/>
          <a:p>
            <a:pPr marL="0" indent="0" algn="just">
              <a:buNone/>
            </a:pPr>
            <a:endParaRPr lang="en-US" sz="2400" b="1" dirty="0">
              <a:sym typeface="+mn-ea"/>
            </a:endParaRPr>
          </a:p>
          <a:p>
            <a:pPr marL="0" indent="0" algn="just">
              <a:buNone/>
            </a:pPr>
            <a:endParaRPr lang="en-US" sz="2400" b="1" dirty="0">
              <a:sym typeface="+mn-ea"/>
            </a:endParaRPr>
          </a:p>
          <a:p>
            <a:pPr marL="0" indent="0" algn="ctr">
              <a:buNone/>
            </a:pPr>
            <a:r>
              <a:rPr lang="en-US" sz="2400" b="1" u="sng" dirty="0">
                <a:sym typeface="+mn-ea"/>
              </a:rPr>
              <a:t>3</a:t>
            </a:r>
            <a:r>
              <a:rPr lang="en-US" sz="2400" b="1" u="sng" baseline="30000" dirty="0">
                <a:sym typeface="+mn-ea"/>
              </a:rPr>
              <a:t>rd</a:t>
            </a:r>
            <a:r>
              <a:rPr lang="en-US" sz="2400" b="1" u="sng" dirty="0">
                <a:sym typeface="+mn-ea"/>
              </a:rPr>
              <a:t> June plan and the Indian Independence Act 1947</a:t>
            </a:r>
            <a:endParaRPr lang="en-US" sz="2400" dirty="0"/>
          </a:p>
          <a:p>
            <a:endParaRPr lang="en-US" sz="2400" dirty="0">
              <a:sym typeface="+mn-ea"/>
            </a:endParaRPr>
          </a:p>
          <a:p>
            <a:r>
              <a:rPr lang="en-US" sz="2400" dirty="0">
                <a:sym typeface="+mn-ea"/>
              </a:rPr>
              <a:t>On the midnight of 14th and 15th August 1947, the dominions of Pakistan and India respectively came into existence. Lord Mountbatten was appointed the first Governor-general of independent India and M.A. Jinnah became the Governor-General of Pakistan.</a:t>
            </a:r>
            <a:endParaRPr lang="en-US" sz="2400" dirty="0"/>
          </a:p>
          <a:p>
            <a:pPr marL="0" indent="0">
              <a:buNone/>
            </a:pPr>
            <a:endParaRPr lang="en-US" sz="2400" dirty="0"/>
          </a:p>
          <a:p>
            <a:pPr marL="0" indent="0" algn="just">
              <a:buNone/>
            </a:pPr>
            <a:endParaRPr lang="en-US" sz="2000" dirty="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3827</Words>
  <Application>Microsoft Office PowerPoint</Application>
  <PresentationFormat>On-screen Show (4:3)</PresentationFormat>
  <Paragraphs>292</Paragraphs>
  <Slides>34</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 </vt:lpstr>
      <vt:lpstr> Pakistan studies  Chapter 1 </vt:lpstr>
      <vt:lpstr>Geographical Location and Significance </vt:lpstr>
      <vt:lpstr>PowerPoint Presentation</vt:lpstr>
      <vt:lpstr>PowerPoint Presentation</vt:lpstr>
      <vt:lpstr>PowerPoint Presentation</vt:lpstr>
      <vt:lpstr>Geographical Location and Significance </vt:lpstr>
      <vt:lpstr>PowerPoint Presentation</vt:lpstr>
      <vt:lpstr>Geographical Location and Significance </vt:lpstr>
      <vt:lpstr>Historical Background : Ancient Civilization in the Region</vt:lpstr>
      <vt:lpstr>Historical Background : Ancient Civilization in the Region</vt:lpstr>
      <vt:lpstr>Historical Background : Ancient Civilization in the Region</vt:lpstr>
      <vt:lpstr>Historical Background : Ancient Civilization in the Region</vt:lpstr>
      <vt:lpstr>Factors Leading to the Creation of Pakistan</vt:lpstr>
      <vt:lpstr>Factors Leading to the Creation of Pakistan</vt:lpstr>
      <vt:lpstr>Factors Leading to the Creation of Pakistan</vt:lpstr>
      <vt:lpstr>Factors Leading to the Creation of Pakistan</vt:lpstr>
      <vt:lpstr>Factors Leading to the Creation of Pakistan</vt:lpstr>
      <vt:lpstr>Factors Leading to the Creation of Pakistan</vt:lpstr>
      <vt:lpstr>Factors Leading to the Creation of Pakistan</vt:lpstr>
      <vt:lpstr>Factors Leading to the Creation of Pakistan</vt:lpstr>
      <vt:lpstr>Factors Leading to the Creation of Pakistan</vt:lpstr>
      <vt:lpstr>Factors Leading to the Creation of Pakistan</vt:lpstr>
      <vt:lpstr>Factors Leading to the Creation of Pakistan</vt:lpstr>
      <vt:lpstr>Factors Leading to the Creation of Pakistan</vt:lpstr>
      <vt:lpstr>Factors Leading to the Creation of Pakistan</vt:lpstr>
      <vt:lpstr>Jinnah’s Fourteen Points</vt:lpstr>
      <vt:lpstr>Jinnah’s Fourteen Points</vt:lpstr>
      <vt:lpstr>Factors Leading to the Creation of Pakistan</vt:lpstr>
      <vt:lpstr>Factors Leading to the Creation of Pakistan</vt:lpstr>
      <vt:lpstr>Factors Leading to the Creation of Pakistan</vt:lpstr>
      <vt:lpstr>Factors Leading to the Creation of Pakistan</vt:lpstr>
      <vt:lpstr>Factors Leading to the Creation of Pakistan</vt:lpstr>
      <vt:lpstr>Factors Leading to the Creation of Pakistan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1296-154-506</dc:creator>
  <cp:lastModifiedBy>DL-DIDC-09</cp:lastModifiedBy>
  <cp:revision>138</cp:revision>
  <dcterms:created xsi:type="dcterms:W3CDTF">2023-02-17T04:28:00Z</dcterms:created>
  <dcterms:modified xsi:type="dcterms:W3CDTF">2026-01-26T05:52:17Z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F581C52ABF68447AA9D5FE4BC54E107C_13</vt:lpwstr>
  </property>
  <property fmtid="{D5CDD505-2E9C-101B-9397-08002B2CF9AE}" pid="3" name="KSOProductBuildVer">
    <vt:lpwstr>1033-12.2.0.19805</vt:lpwstr>
  </property>
</Properties>
</file>