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81" r:id="rId2"/>
    <p:sldId id="256" r:id="rId3"/>
    <p:sldId id="257" r:id="rId4"/>
    <p:sldId id="334" r:id="rId5"/>
    <p:sldId id="335" r:id="rId6"/>
    <p:sldId id="336" r:id="rId7"/>
    <p:sldId id="305" r:id="rId8"/>
    <p:sldId id="306" r:id="rId9"/>
    <p:sldId id="337" r:id="rId10"/>
    <p:sldId id="338" r:id="rId11"/>
    <p:sldId id="307" r:id="rId12"/>
    <p:sldId id="308" r:id="rId13"/>
    <p:sldId id="340" r:id="rId14"/>
    <p:sldId id="309" r:id="rId15"/>
    <p:sldId id="310" r:id="rId16"/>
    <p:sldId id="341" r:id="rId17"/>
    <p:sldId id="311" r:id="rId18"/>
    <p:sldId id="312" r:id="rId19"/>
    <p:sldId id="313" r:id="rId20"/>
    <p:sldId id="342" r:id="rId21"/>
    <p:sldId id="343" r:id="rId22"/>
    <p:sldId id="314" r:id="rId23"/>
    <p:sldId id="344" r:id="rId24"/>
    <p:sldId id="315" r:id="rId25"/>
    <p:sldId id="316" r:id="rId26"/>
    <p:sldId id="345" r:id="rId27"/>
    <p:sldId id="317" r:id="rId28"/>
    <p:sldId id="346" r:id="rId29"/>
    <p:sldId id="319" r:id="rId30"/>
    <p:sldId id="347" r:id="rId31"/>
    <p:sldId id="348" r:id="rId32"/>
    <p:sldId id="349" r:id="rId33"/>
    <p:sldId id="320" r:id="rId34"/>
    <p:sldId id="350" r:id="rId35"/>
    <p:sldId id="351" r:id="rId36"/>
    <p:sldId id="322" r:id="rId37"/>
    <p:sldId id="352" r:id="rId38"/>
    <p:sldId id="353" r:id="rId39"/>
    <p:sldId id="354" r:id="rId40"/>
    <p:sldId id="328" r:id="rId41"/>
    <p:sldId id="355" r:id="rId42"/>
    <p:sldId id="330" r:id="rId43"/>
    <p:sldId id="331" r:id="rId44"/>
    <p:sldId id="332" r:id="rId45"/>
    <p:sldId id="333"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C624262-8833-42CC-9DEE-E68B77D237C0}">
          <p14:sldIdLst>
            <p14:sldId id="281"/>
            <p14:sldId id="256"/>
            <p14:sldId id="257"/>
            <p14:sldId id="334"/>
            <p14:sldId id="335"/>
            <p14:sldId id="336"/>
            <p14:sldId id="305"/>
            <p14:sldId id="306"/>
            <p14:sldId id="337"/>
            <p14:sldId id="338"/>
            <p14:sldId id="307"/>
            <p14:sldId id="308"/>
            <p14:sldId id="340"/>
            <p14:sldId id="309"/>
            <p14:sldId id="310"/>
            <p14:sldId id="341"/>
            <p14:sldId id="311"/>
            <p14:sldId id="312"/>
            <p14:sldId id="313"/>
            <p14:sldId id="342"/>
            <p14:sldId id="343"/>
            <p14:sldId id="314"/>
            <p14:sldId id="344"/>
            <p14:sldId id="315"/>
            <p14:sldId id="316"/>
            <p14:sldId id="345"/>
            <p14:sldId id="317"/>
            <p14:sldId id="346"/>
            <p14:sldId id="319"/>
            <p14:sldId id="347"/>
            <p14:sldId id="348"/>
            <p14:sldId id="349"/>
            <p14:sldId id="320"/>
            <p14:sldId id="350"/>
            <p14:sldId id="351"/>
            <p14:sldId id="322"/>
            <p14:sldId id="352"/>
            <p14:sldId id="353"/>
            <p14:sldId id="354"/>
            <p14:sldId id="328"/>
            <p14:sldId id="355"/>
            <p14:sldId id="330"/>
            <p14:sldId id="331"/>
            <p14:sldId id="332"/>
            <p14:sldId id="333"/>
          </p14:sldIdLst>
        </p14:section>
        <p14:section name="Untitled Section" id="{5E355262-F24B-43E4-8E8B-2E1603F2F758}">
          <p14:sldIdLst/>
        </p14:section>
      </p14:sectionLst>
    </p:ext>
    <p:ext uri="{EFAFB233-063F-42B5-8137-9DF3F51BA10A}">
      <p15:sldGuideLst xmlns:p15="http://schemas.microsoft.com/office/powerpoint/2012/main">
        <p15:guide id="1" orient="horz" pos="216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416" y="66"/>
      </p:cViewPr>
      <p:guideLst>
        <p:guide orient="horz" pos="2160"/>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1BB25E-F4E6-48D7-9D3D-283853CBEA4C}" type="datetimeFigureOut">
              <a:rPr lang="en-US" smtClean="0"/>
              <a:t>1/27/2026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AEFAAD-9E14-4C76-A230-423125F7B03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18</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36</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40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42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43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44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45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C424E0-D48B-4E7C-87C3-9BE818091E1A}"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424E0-D48B-4E7C-87C3-9BE818091E1A}"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424E0-D48B-4E7C-87C3-9BE818091E1A}"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C424E0-D48B-4E7C-87C3-9BE818091E1A}"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C424E0-D48B-4E7C-87C3-9BE818091E1A}"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CC424E0-D48B-4E7C-87C3-9BE818091E1A}"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C424E0-D48B-4E7C-87C3-9BE818091E1A}"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C424E0-D48B-4E7C-87C3-9BE818091E1A}"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C424E0-D48B-4E7C-87C3-9BE818091E1A}"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424E0-D48B-4E7C-87C3-9BE818091E1A}"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424E0-D48B-4E7C-87C3-9BE818091E1A}"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C424E0-D48B-4E7C-87C3-9BE818091E1A}"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7583C7-F5C4-4D8C-95D4-E27B9F956D4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p>
        </p:txBody>
      </p:sp>
      <p:sp>
        <p:nvSpPr>
          <p:cNvPr id="3" name="Content Placeholder 2"/>
          <p:cNvSpPr>
            <a:spLocks noGrp="1"/>
          </p:cNvSpPr>
          <p:nvPr>
            <p:ph idx="1"/>
          </p:nvPr>
        </p:nvSpPr>
        <p:spPr>
          <a:xfrm>
            <a:off x="539552" y="1268760"/>
            <a:ext cx="8229600" cy="4752528"/>
          </a:xfrm>
        </p:spPr>
        <p:txBody>
          <a:bodyPr>
            <a:normAutofit fontScale="85000" lnSpcReduction="20000"/>
          </a:bodyPr>
          <a:lstStyle/>
          <a:p>
            <a:pPr marL="0" indent="0">
              <a:buNone/>
            </a:pPr>
            <a:r>
              <a:rPr lang="en-US" b="1" dirty="0"/>
              <a:t> </a:t>
            </a:r>
            <a:endParaRPr lang="en-US" dirty="0"/>
          </a:p>
          <a:p>
            <a:pPr marL="0" indent="0">
              <a:buNone/>
            </a:pPr>
            <a:r>
              <a:rPr lang="en-US" b="1" dirty="0"/>
              <a:t> </a:t>
            </a:r>
            <a:endParaRPr lang="en-US" dirty="0"/>
          </a:p>
          <a:p>
            <a:pPr marL="0" indent="0">
              <a:buNone/>
            </a:pPr>
            <a:r>
              <a:rPr lang="en-US" b="1" dirty="0"/>
              <a:t> </a:t>
            </a:r>
            <a:r>
              <a:rPr lang="en-US" sz="5600" b="1" dirty="0"/>
              <a:t>               Pakistan studies </a:t>
            </a:r>
            <a:endParaRPr lang="en-US" sz="5600" dirty="0"/>
          </a:p>
          <a:p>
            <a:pPr marL="0" indent="0">
              <a:buNone/>
            </a:pPr>
            <a:r>
              <a:rPr lang="en-US" sz="4200" b="1" dirty="0"/>
              <a:t> </a:t>
            </a:r>
            <a:endParaRPr lang="en-US" sz="4200"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sz="2800"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2996952"/>
            <a:ext cx="3168352"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08920"/>
            <a:ext cx="7772400" cy="3096344"/>
          </a:xfrm>
        </p:spPr>
        <p:txBody>
          <a:bodyPr>
            <a:normAutofit/>
          </a:bodyPr>
          <a:lstStyle/>
          <a:p>
            <a:r>
              <a:rPr lang="en-US" dirty="0"/>
              <a:t/>
            </a:r>
            <a:br>
              <a:rPr lang="en-US" dirty="0"/>
            </a:br>
            <a:r>
              <a:rPr lang="en-US" dirty="0"/>
              <a:t>Pakistan studies </a:t>
            </a:r>
            <a:br>
              <a:rPr lang="en-US" dirty="0"/>
            </a:br>
            <a:r>
              <a:rPr lang="en-US" sz="3600" b="1" dirty="0"/>
              <a:t>Chapter 1</a:t>
            </a:r>
            <a:r>
              <a:rPr lang="en-US" sz="2700" dirty="0"/>
              <a:t> </a:t>
            </a:r>
          </a:p>
        </p:txBody>
      </p:sp>
      <p:sp>
        <p:nvSpPr>
          <p:cNvPr id="3" name="Subtitle 2"/>
          <p:cNvSpPr>
            <a:spLocks noGrp="1"/>
          </p:cNvSpPr>
          <p:nvPr>
            <p:ph type="subTitle" idx="1"/>
          </p:nvPr>
        </p:nvSpPr>
        <p:spPr>
          <a:xfrm>
            <a:off x="1547664" y="4797152"/>
            <a:ext cx="6400800" cy="864096"/>
          </a:xfrm>
        </p:spPr>
        <p:txBody>
          <a:bodyPr>
            <a:normAutofit fontScale="62500" lnSpcReduction="20000"/>
          </a:bodyPr>
          <a:lstStyle/>
          <a:p>
            <a:pPr algn="ctr"/>
            <a:endParaRPr lang="en-US" b="1" dirty="0">
              <a:solidFill>
                <a:schemeClr val="tx1"/>
              </a:solidFill>
            </a:endParaRPr>
          </a:p>
          <a:p>
            <a:pPr algn="ctr"/>
            <a:r>
              <a:rPr lang="en-US" sz="5100" b="1" dirty="0">
                <a:solidFill>
                  <a:schemeClr val="tx1"/>
                </a:solidFill>
              </a:rPr>
              <a:t>Introduction to Pakistan</a:t>
            </a:r>
            <a:endParaRPr lang="en-US" sz="5100" b="1" i="1" dirty="0">
              <a:solidFill>
                <a:schemeClr val="tx1"/>
              </a:solidFill>
            </a:endParaRPr>
          </a:p>
          <a:p>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dirty="0">
              <a:solidFill>
                <a:schemeClr val="tx1"/>
              </a:solidFill>
            </a:endParaRPr>
          </a:p>
          <a:p>
            <a:endParaRPr lang="en-US" dirty="0">
              <a:solidFill>
                <a:schemeClr val="tx1"/>
              </a:solidFill>
            </a:endParaRPr>
          </a:p>
          <a:p>
            <a:endParaRPr lang="en-US" dirty="0"/>
          </a:p>
        </p:txBody>
      </p:sp>
      <p:pic>
        <p:nvPicPr>
          <p:cNvPr id="1026" name="Picture 2" descr="C:\Users\1296-154-506\Desktop\bismillah.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412" y="476672"/>
            <a:ext cx="4829175" cy="2124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216" y="404664"/>
            <a:ext cx="8229600" cy="792088"/>
          </a:xfrm>
        </p:spPr>
        <p:txBody>
          <a:bodyPr>
            <a:normAutofit fontScale="90000"/>
          </a:bodyPr>
          <a:lstStyle/>
          <a:p>
            <a:r>
              <a:rPr lang="en-US" sz="3100" b="1" dirty="0"/>
              <a:t>Geographical Location and Significance</a:t>
            </a:r>
            <a:r>
              <a:rPr lang="en-US" sz="2800" b="1" dirty="0"/>
              <a:t/>
            </a:r>
            <a:br>
              <a:rPr lang="en-US" sz="2800" b="1" dirty="0"/>
            </a:br>
            <a:endParaRPr lang="en-US" sz="2800" b="1" dirty="0"/>
          </a:p>
        </p:txBody>
      </p:sp>
      <p:sp>
        <p:nvSpPr>
          <p:cNvPr id="3" name="Content Placeholder 2"/>
          <p:cNvSpPr>
            <a:spLocks noGrp="1"/>
          </p:cNvSpPr>
          <p:nvPr>
            <p:ph idx="1"/>
          </p:nvPr>
        </p:nvSpPr>
        <p:spPr>
          <a:xfrm>
            <a:off x="473216" y="1196752"/>
            <a:ext cx="8229600" cy="4896544"/>
          </a:xfrm>
        </p:spPr>
        <p:txBody>
          <a:bodyPr>
            <a:noAutofit/>
          </a:bodyPr>
          <a:lstStyle/>
          <a:p>
            <a:pPr marL="2743200" lvl="6" indent="0">
              <a:buNone/>
            </a:pPr>
            <a:r>
              <a:rPr lang="en-US" sz="1200" b="1" dirty="0"/>
              <a:t>1. Geographic Location</a:t>
            </a:r>
          </a:p>
          <a:p>
            <a:r>
              <a:rPr lang="en-US" sz="1600" dirty="0"/>
              <a:t>Pakistan is located in </a:t>
            </a:r>
            <a:r>
              <a:rPr lang="en-US" sz="1600" b="1" dirty="0"/>
              <a:t>Southern Asia</a:t>
            </a:r>
            <a:r>
              <a:rPr lang="en-US" sz="1600" dirty="0"/>
              <a:t>. It shares international borders with the following countries:</a:t>
            </a:r>
          </a:p>
          <a:p>
            <a:r>
              <a:rPr lang="en-US" sz="1600" b="1" dirty="0"/>
              <a:t>Afghanistan</a:t>
            </a:r>
            <a:r>
              <a:rPr lang="en-US" sz="1600" dirty="0"/>
              <a:t> — 2,430 km</a:t>
            </a:r>
          </a:p>
          <a:p>
            <a:r>
              <a:rPr lang="en-US" sz="1600" b="1" dirty="0"/>
              <a:t>China</a:t>
            </a:r>
            <a:r>
              <a:rPr lang="en-US" sz="1600" dirty="0"/>
              <a:t> — 523 km</a:t>
            </a:r>
          </a:p>
          <a:p>
            <a:r>
              <a:rPr lang="en-US" sz="1600" b="1" dirty="0"/>
              <a:t>India</a:t>
            </a:r>
            <a:r>
              <a:rPr lang="en-US" sz="1600" dirty="0"/>
              <a:t> — 2,912 km</a:t>
            </a:r>
          </a:p>
          <a:p>
            <a:r>
              <a:rPr lang="en-US" sz="1600" b="1" dirty="0"/>
              <a:t>Iran</a:t>
            </a:r>
            <a:r>
              <a:rPr lang="en-US" sz="1600" dirty="0"/>
              <a:t> — 909 km</a:t>
            </a:r>
            <a:br>
              <a:rPr lang="en-US" sz="1600" dirty="0"/>
            </a:br>
            <a:r>
              <a:rPr lang="en-US" sz="1600" dirty="0"/>
              <a:t>These borders connect Pakistan to key regions in South and Central Asia, influencing its strategic, cultural, and economic relationships.</a:t>
            </a:r>
          </a:p>
          <a:p>
            <a:pPr marL="0" indent="0">
              <a:buNone/>
            </a:pPr>
            <a:r>
              <a:rPr lang="en-US" sz="1600" dirty="0"/>
              <a:t/>
            </a:r>
            <a:br>
              <a:rPr lang="en-US" sz="1600" dirty="0"/>
            </a:br>
            <a:endParaRPr lang="en-US" sz="1600" dirty="0"/>
          </a:p>
          <a:p>
            <a:r>
              <a:rPr lang="en-US" sz="2400" b="1" dirty="0"/>
              <a:t>2. Capital City – Islamabad</a:t>
            </a:r>
          </a:p>
          <a:p>
            <a:r>
              <a:rPr lang="en-US" sz="1600" dirty="0"/>
              <a:t>The </a:t>
            </a:r>
            <a:r>
              <a:rPr lang="en-US" sz="1600" b="1" dirty="0"/>
              <a:t>capital of Pakistan</a:t>
            </a:r>
            <a:r>
              <a:rPr lang="en-US" sz="1600" dirty="0"/>
              <a:t> is </a:t>
            </a:r>
            <a:r>
              <a:rPr lang="en-US" sz="1600" b="1" dirty="0"/>
              <a:t>Islamabad</a:t>
            </a:r>
            <a:r>
              <a:rPr lang="en-US" sz="1600" dirty="0"/>
              <a:t>, located in the </a:t>
            </a:r>
            <a:r>
              <a:rPr lang="en-US" sz="1600" b="1" dirty="0"/>
              <a:t>north-eastern part</a:t>
            </a:r>
            <a:r>
              <a:rPr lang="en-US" sz="1600" dirty="0"/>
              <a:t> of the country.</a:t>
            </a:r>
          </a:p>
          <a:p>
            <a:r>
              <a:rPr lang="en-US" sz="1600" dirty="0"/>
              <a:t>Islamabad was chosen and developed in the 1960s to replace Karachi as the capital because of its central location, planned design, and strategic positioning near the northern borders. </a:t>
            </a:r>
          </a:p>
          <a:p>
            <a:r>
              <a:rPr lang="en-US" sz="1600" dirty="0"/>
              <a:t>It is the </a:t>
            </a:r>
            <a:r>
              <a:rPr lang="en-US" sz="1600" b="1" dirty="0"/>
              <a:t>political and administrative center</a:t>
            </a:r>
            <a:r>
              <a:rPr lang="en-US" sz="1600" dirty="0"/>
              <a:t> of the country.</a:t>
            </a:r>
          </a:p>
          <a:p>
            <a:pPr marL="0" indent="0" algn="just">
              <a:buNone/>
            </a:pP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30D29-35EF-44A1-6D9B-22CDD3960B21}"/>
              </a:ext>
            </a:extLst>
          </p:cNvPr>
          <p:cNvSpPr>
            <a:spLocks noGrp="1"/>
          </p:cNvSpPr>
          <p:nvPr>
            <p:ph idx="1"/>
          </p:nvPr>
        </p:nvSpPr>
        <p:spPr>
          <a:xfrm>
            <a:off x="457200" y="620688"/>
            <a:ext cx="8229600" cy="5544616"/>
          </a:xfrm>
        </p:spPr>
        <p:txBody>
          <a:bodyPr>
            <a:noAutofit/>
          </a:bodyPr>
          <a:lstStyle/>
          <a:p>
            <a:r>
              <a:rPr lang="en-US" sz="2400" b="1" dirty="0"/>
              <a:t>3. National Anthem — </a:t>
            </a:r>
            <a:r>
              <a:rPr lang="en-US" sz="2400" b="1" i="1" dirty="0" err="1"/>
              <a:t>Qaumi</a:t>
            </a:r>
            <a:r>
              <a:rPr lang="en-US" sz="2400" b="1" i="1" dirty="0"/>
              <a:t> </a:t>
            </a:r>
            <a:r>
              <a:rPr lang="en-US" sz="2400" b="1" i="1" dirty="0" err="1"/>
              <a:t>Taranah</a:t>
            </a:r>
            <a:endParaRPr lang="en-US" sz="2400" b="1" dirty="0"/>
          </a:p>
          <a:p>
            <a:r>
              <a:rPr lang="en-US" sz="1600" dirty="0"/>
              <a:t>The official national anthem of Pakistan is called </a:t>
            </a:r>
            <a:r>
              <a:rPr lang="en-US" sz="1600" b="1" dirty="0"/>
              <a:t>“</a:t>
            </a:r>
            <a:r>
              <a:rPr lang="en-US" sz="1600" b="1" dirty="0" err="1"/>
              <a:t>Qaumi</a:t>
            </a:r>
            <a:r>
              <a:rPr lang="en-US" sz="1600" b="1" dirty="0"/>
              <a:t> </a:t>
            </a:r>
            <a:r>
              <a:rPr lang="en-US" sz="1600" b="1" dirty="0" err="1"/>
              <a:t>Taranah</a:t>
            </a:r>
            <a:r>
              <a:rPr lang="en-US" sz="1600" b="1" dirty="0"/>
              <a:t>”</a:t>
            </a:r>
            <a:r>
              <a:rPr lang="en-US" sz="1600" dirty="0"/>
              <a:t>, which roughly translates to </a:t>
            </a:r>
            <a:r>
              <a:rPr lang="en-US" sz="1600" b="1" dirty="0"/>
              <a:t>“National Anthem”</a:t>
            </a:r>
            <a:r>
              <a:rPr lang="en-US" sz="1600" dirty="0"/>
              <a:t> or </a:t>
            </a:r>
            <a:r>
              <a:rPr lang="en-US" sz="1600" b="1" dirty="0"/>
              <a:t>“The Sacred Land.”</a:t>
            </a:r>
            <a:endParaRPr lang="en-US" sz="1600" dirty="0"/>
          </a:p>
          <a:p>
            <a:r>
              <a:rPr lang="en-US" sz="1600" dirty="0"/>
              <a:t>The </a:t>
            </a:r>
            <a:r>
              <a:rPr lang="en-US" sz="1600" b="1" dirty="0"/>
              <a:t>music</a:t>
            </a:r>
            <a:r>
              <a:rPr lang="en-US" sz="1600" dirty="0"/>
              <a:t> was composed by </a:t>
            </a:r>
            <a:r>
              <a:rPr lang="en-US" sz="1600" b="1" dirty="0"/>
              <a:t>Ahmad G. </a:t>
            </a:r>
            <a:r>
              <a:rPr lang="en-US" sz="1600" b="1" dirty="0" err="1"/>
              <a:t>Chagla</a:t>
            </a:r>
            <a:r>
              <a:rPr lang="en-US" sz="1600" dirty="0"/>
              <a:t> in </a:t>
            </a:r>
            <a:r>
              <a:rPr lang="en-US" sz="1600" b="1" dirty="0"/>
              <a:t>1949</a:t>
            </a:r>
            <a:r>
              <a:rPr lang="en-US" sz="1600" dirty="0"/>
              <a:t>.</a:t>
            </a:r>
          </a:p>
          <a:p>
            <a:r>
              <a:rPr lang="en-US" sz="1600" b="1" dirty="0"/>
              <a:t>Urdu lyrics</a:t>
            </a:r>
            <a:r>
              <a:rPr lang="en-US" sz="1600" dirty="0"/>
              <a:t> were written by </a:t>
            </a:r>
            <a:r>
              <a:rPr lang="en-US" sz="1600" b="1" dirty="0"/>
              <a:t>Abu Al-Asar Hafeez </a:t>
            </a:r>
            <a:r>
              <a:rPr lang="en-US" sz="1600" b="1" dirty="0" err="1"/>
              <a:t>Jalandhari</a:t>
            </a:r>
            <a:r>
              <a:rPr lang="en-US" sz="1600" dirty="0"/>
              <a:t> in </a:t>
            </a:r>
            <a:r>
              <a:rPr lang="en-US" sz="1600" b="1" dirty="0"/>
              <a:t>1952</a:t>
            </a:r>
            <a:r>
              <a:rPr lang="en-US" sz="1600" dirty="0"/>
              <a:t>.</a:t>
            </a:r>
          </a:p>
          <a:p>
            <a:r>
              <a:rPr lang="en-US" sz="1600" dirty="0"/>
              <a:t>It was </a:t>
            </a:r>
            <a:r>
              <a:rPr lang="en-US" sz="1600" b="1" dirty="0"/>
              <a:t>officially adopted in August 1954</a:t>
            </a:r>
            <a:r>
              <a:rPr lang="en-US" sz="1600" dirty="0"/>
              <a:t>. </a:t>
            </a:r>
          </a:p>
          <a:p>
            <a:r>
              <a:rPr lang="en-US" sz="1600" dirty="0"/>
              <a:t>The anthem reflects cultural and patriotic themes and is played on official occasions like Independence Day and state ceremonies.</a:t>
            </a:r>
          </a:p>
          <a:p>
            <a:r>
              <a:rPr lang="en-US" sz="1600" dirty="0"/>
              <a:t/>
            </a:r>
            <a:br>
              <a:rPr lang="en-US" sz="1600" dirty="0"/>
            </a:br>
            <a:endParaRPr lang="en-US" sz="1600" dirty="0"/>
          </a:p>
          <a:p>
            <a:r>
              <a:rPr lang="en-US" sz="2400" b="1" dirty="0"/>
              <a:t>4. Ethnic Composition</a:t>
            </a:r>
          </a:p>
          <a:p>
            <a:r>
              <a:rPr lang="en-US" sz="1600" dirty="0"/>
              <a:t>Pakistan’s population is diverse and composed of several major ethnic groups, including:</a:t>
            </a:r>
          </a:p>
          <a:p>
            <a:r>
              <a:rPr lang="en-US" sz="1600" b="1" dirty="0"/>
              <a:t>Punjabi</a:t>
            </a:r>
            <a:endParaRPr lang="en-US" sz="1600" dirty="0"/>
          </a:p>
          <a:p>
            <a:r>
              <a:rPr lang="en-US" sz="1600" b="1" dirty="0"/>
              <a:t>Sindhi</a:t>
            </a:r>
            <a:endParaRPr lang="en-US" sz="1600" dirty="0"/>
          </a:p>
          <a:p>
            <a:r>
              <a:rPr lang="en-US" sz="1600" b="1" dirty="0"/>
              <a:t>Pashtun (Pathan)</a:t>
            </a:r>
            <a:endParaRPr lang="en-US" sz="1600" dirty="0"/>
          </a:p>
          <a:p>
            <a:r>
              <a:rPr lang="en-US" sz="1600" b="1" dirty="0"/>
              <a:t>Baloch</a:t>
            </a:r>
            <a:endParaRPr lang="en-US" sz="1600" dirty="0"/>
          </a:p>
          <a:p>
            <a:r>
              <a:rPr lang="en-US" sz="1600" b="1" dirty="0"/>
              <a:t>Muhajir</a:t>
            </a:r>
            <a:r>
              <a:rPr lang="en-US" sz="1600" dirty="0"/>
              <a:t> (communities that migrated from India at the time of partition)</a:t>
            </a:r>
          </a:p>
          <a:p>
            <a:r>
              <a:rPr lang="en-US" sz="1600" dirty="0"/>
              <a:t>These ethnic groups contribute to a rich cultural, linguistic, and social mosaic.</a:t>
            </a:r>
          </a:p>
          <a:p>
            <a:pPr marL="0" indent="0">
              <a:buNone/>
            </a:pPr>
            <a:r>
              <a:rPr lang="en-US" sz="1600" dirty="0"/>
              <a:t/>
            </a:r>
            <a:br>
              <a:rPr lang="en-US" sz="1600" dirty="0"/>
            </a:br>
            <a:endParaRPr lang="en-US" sz="1600" dirty="0"/>
          </a:p>
          <a:p>
            <a:pPr marL="0" indent="0">
              <a:buNone/>
            </a:pPr>
            <a:endParaRPr lang="en-US" sz="1600" b="1" dirty="0"/>
          </a:p>
          <a:p>
            <a:endParaRPr lang="en-PK" sz="1600" dirty="0"/>
          </a:p>
        </p:txBody>
      </p:sp>
    </p:spTree>
    <p:extLst>
      <p:ext uri="{BB962C8B-B14F-4D97-AF65-F5344CB8AC3E}">
        <p14:creationId xmlns:p14="http://schemas.microsoft.com/office/powerpoint/2010/main" val="330831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35B97-479C-3923-AF03-778186C0632C}"/>
              </a:ext>
            </a:extLst>
          </p:cNvPr>
          <p:cNvSpPr>
            <a:spLocks noGrp="1"/>
          </p:cNvSpPr>
          <p:nvPr>
            <p:ph idx="1"/>
          </p:nvPr>
        </p:nvSpPr>
        <p:spPr>
          <a:xfrm>
            <a:off x="395536" y="836712"/>
            <a:ext cx="8291264" cy="5184576"/>
          </a:xfrm>
        </p:spPr>
        <p:txBody>
          <a:bodyPr>
            <a:noAutofit/>
          </a:bodyPr>
          <a:lstStyle/>
          <a:p>
            <a:r>
              <a:rPr lang="en-US" sz="2800" b="1" dirty="0"/>
              <a:t>5. Population </a:t>
            </a:r>
          </a:p>
          <a:p>
            <a:r>
              <a:rPr lang="en-US" sz="2800" dirty="0"/>
              <a:t>Pakistan’s population has </a:t>
            </a:r>
            <a:r>
              <a:rPr lang="en-US" sz="2800" b="1" dirty="0"/>
              <a:t>grown significantly</a:t>
            </a:r>
            <a:r>
              <a:rPr lang="en-US" sz="2800" dirty="0"/>
              <a:t> compared to older figures like 204 million:</a:t>
            </a:r>
          </a:p>
          <a:p>
            <a:r>
              <a:rPr lang="en-US" sz="2800" dirty="0"/>
              <a:t>According to the </a:t>
            </a:r>
            <a:r>
              <a:rPr lang="en-US" sz="2800" b="1" dirty="0"/>
              <a:t>2023 digital census</a:t>
            </a:r>
            <a:r>
              <a:rPr lang="en-US" sz="2800" dirty="0"/>
              <a:t>, Pakistan’s total population is </a:t>
            </a:r>
            <a:r>
              <a:rPr lang="en-US" sz="2800" b="1" dirty="0"/>
              <a:t>about 250million</a:t>
            </a:r>
            <a:r>
              <a:rPr lang="en-US" sz="2800" dirty="0"/>
              <a:t>.</a:t>
            </a:r>
          </a:p>
          <a:p>
            <a:r>
              <a:rPr lang="en-US" sz="2800" dirty="0"/>
              <a:t>This makes Pakistan the </a:t>
            </a:r>
            <a:r>
              <a:rPr lang="en-US" sz="2800" b="1" dirty="0"/>
              <a:t>5th most populous country in the world</a:t>
            </a:r>
            <a:r>
              <a:rPr lang="en-US" sz="2800" dirty="0"/>
              <a:t>.</a:t>
            </a:r>
          </a:p>
          <a:p>
            <a:r>
              <a:rPr lang="en-US" sz="2800" dirty="0"/>
              <a:t>The annual population growth rate is around </a:t>
            </a:r>
            <a:r>
              <a:rPr lang="en-US" sz="2800" b="1" dirty="0"/>
              <a:t>2.5 %</a:t>
            </a:r>
            <a:r>
              <a:rPr lang="en-US" sz="2800" dirty="0"/>
              <a:t>.</a:t>
            </a:r>
          </a:p>
          <a:p>
            <a:r>
              <a:rPr lang="en-US" sz="2800" dirty="0"/>
              <a:t>Approximately </a:t>
            </a:r>
            <a:r>
              <a:rPr lang="en-US" sz="2800" b="1" dirty="0"/>
              <a:t>38–39 %</a:t>
            </a:r>
            <a:r>
              <a:rPr lang="en-US" sz="2800" dirty="0"/>
              <a:t> of the population lives in urban areas, with the rest in rural areas. </a:t>
            </a:r>
          </a:p>
          <a:p>
            <a:pPr marL="0" indent="0">
              <a:buNone/>
            </a:pPr>
            <a:r>
              <a:rPr lang="en-US" sz="2800" dirty="0"/>
              <a:t/>
            </a:r>
            <a:br>
              <a:rPr lang="en-US" sz="2800" dirty="0"/>
            </a:br>
            <a:endParaRPr lang="en-US" sz="2800" dirty="0"/>
          </a:p>
          <a:p>
            <a:pPr marL="0" indent="0">
              <a:buNone/>
            </a:pPr>
            <a:endParaRPr lang="en-PK" sz="2800" dirty="0"/>
          </a:p>
        </p:txBody>
      </p:sp>
    </p:spTree>
    <p:extLst>
      <p:ext uri="{BB962C8B-B14F-4D97-AF65-F5344CB8AC3E}">
        <p14:creationId xmlns:p14="http://schemas.microsoft.com/office/powerpoint/2010/main" val="1313929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3AD87-03A1-DFFE-71ED-7F1178B4A00E}"/>
              </a:ext>
            </a:extLst>
          </p:cNvPr>
          <p:cNvSpPr>
            <a:spLocks noGrp="1"/>
          </p:cNvSpPr>
          <p:nvPr>
            <p:ph idx="1"/>
          </p:nvPr>
        </p:nvSpPr>
        <p:spPr>
          <a:xfrm>
            <a:off x="457200" y="620688"/>
            <a:ext cx="8229600" cy="5256584"/>
          </a:xfrm>
        </p:spPr>
        <p:txBody>
          <a:bodyPr>
            <a:noAutofit/>
          </a:bodyPr>
          <a:lstStyle/>
          <a:p>
            <a:r>
              <a:rPr lang="en-US" sz="2400" b="1" dirty="0"/>
              <a:t>6.  National Context </a:t>
            </a:r>
          </a:p>
          <a:p>
            <a:r>
              <a:rPr lang="en-US" sz="2000" b="1" dirty="0"/>
              <a:t>Government and Politics</a:t>
            </a:r>
          </a:p>
          <a:p>
            <a:r>
              <a:rPr lang="en-US" sz="2000" dirty="0"/>
              <a:t>Pakistan is officially known as the </a:t>
            </a:r>
            <a:r>
              <a:rPr lang="en-US" sz="2000" b="1" dirty="0"/>
              <a:t>Islamic Republic of Pakistan</a:t>
            </a:r>
            <a:r>
              <a:rPr lang="en-US" sz="2000" dirty="0"/>
              <a:t>.</a:t>
            </a:r>
          </a:p>
          <a:p>
            <a:r>
              <a:rPr lang="en-US" sz="2000" dirty="0"/>
              <a:t>It has a </a:t>
            </a:r>
            <a:r>
              <a:rPr lang="en-US" sz="2000" b="1" dirty="0"/>
              <a:t>parliamentary system</a:t>
            </a:r>
            <a:r>
              <a:rPr lang="en-US" sz="2000" dirty="0"/>
              <a:t> of government with two houses: the </a:t>
            </a:r>
            <a:r>
              <a:rPr lang="en-US" sz="2000" b="1" dirty="0"/>
              <a:t>Senate</a:t>
            </a:r>
            <a:r>
              <a:rPr lang="en-US" sz="2000" dirty="0"/>
              <a:t> and the </a:t>
            </a:r>
            <a:r>
              <a:rPr lang="en-US" sz="2000" b="1" dirty="0"/>
              <a:t>National Assembly</a:t>
            </a:r>
            <a:r>
              <a:rPr lang="en-US" sz="2000" dirty="0"/>
              <a:t>. </a:t>
            </a:r>
          </a:p>
          <a:p>
            <a:r>
              <a:rPr lang="en-US" sz="2000" b="1" dirty="0"/>
              <a:t>Official Languages</a:t>
            </a:r>
          </a:p>
          <a:p>
            <a:r>
              <a:rPr lang="en-US" sz="2000" b="1" dirty="0"/>
              <a:t>Urdu</a:t>
            </a:r>
            <a:r>
              <a:rPr lang="en-US" sz="2000" dirty="0"/>
              <a:t> — National language</a:t>
            </a:r>
          </a:p>
          <a:p>
            <a:r>
              <a:rPr lang="en-US" sz="2000" b="1" dirty="0"/>
              <a:t>English</a:t>
            </a:r>
            <a:r>
              <a:rPr lang="en-US" sz="2000" dirty="0"/>
              <a:t> — Official language used in government and business contexts </a:t>
            </a:r>
          </a:p>
          <a:p>
            <a:r>
              <a:rPr lang="en-US" sz="2000" b="1" dirty="0"/>
              <a:t>Religion</a:t>
            </a:r>
          </a:p>
          <a:p>
            <a:r>
              <a:rPr lang="en-US" sz="2000" dirty="0"/>
              <a:t>Predominantly </a:t>
            </a:r>
            <a:r>
              <a:rPr lang="en-US" sz="2000" b="1" dirty="0"/>
              <a:t>Muslim</a:t>
            </a:r>
            <a:r>
              <a:rPr lang="en-US" sz="2000" dirty="0"/>
              <a:t> (over 95 %), with small minorities of Christians, Hindus, and others. </a:t>
            </a:r>
          </a:p>
          <a:p>
            <a:r>
              <a:rPr lang="en-US" sz="2000" b="1" dirty="0"/>
              <a:t>National Symbols</a:t>
            </a:r>
          </a:p>
          <a:p>
            <a:r>
              <a:rPr lang="en-US" sz="2000" dirty="0"/>
              <a:t>Flag: Green with a white crescent and star symbolizing progress, light, and knowledge</a:t>
            </a:r>
          </a:p>
          <a:p>
            <a:endParaRPr lang="en-PK" sz="2000" dirty="0"/>
          </a:p>
        </p:txBody>
      </p:sp>
    </p:spTree>
    <p:extLst>
      <p:ext uri="{BB962C8B-B14F-4D97-AF65-F5344CB8AC3E}">
        <p14:creationId xmlns:p14="http://schemas.microsoft.com/office/powerpoint/2010/main" val="2915167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376264"/>
          </a:xfrm>
        </p:spPr>
        <p:txBody>
          <a:bodyPr>
            <a:normAutofit/>
          </a:bodyPr>
          <a:lstStyle/>
          <a:p>
            <a:r>
              <a:rPr lang="en-US" sz="2800" b="1" dirty="0"/>
              <a:t>Geographical Location and Significance</a:t>
            </a:r>
            <a:br>
              <a:rPr lang="en-US" sz="2800" b="1" dirty="0"/>
            </a:br>
            <a:endParaRPr lang="en-US" sz="2800" b="1" dirty="0"/>
          </a:p>
        </p:txBody>
      </p:sp>
      <p:sp>
        <p:nvSpPr>
          <p:cNvPr id="3" name="Content Placeholder 2"/>
          <p:cNvSpPr>
            <a:spLocks noGrp="1"/>
          </p:cNvSpPr>
          <p:nvPr>
            <p:ph idx="1"/>
          </p:nvPr>
        </p:nvSpPr>
        <p:spPr>
          <a:xfrm>
            <a:off x="457200" y="1988840"/>
            <a:ext cx="8229600" cy="4137323"/>
          </a:xfrm>
        </p:spPr>
        <p:txBody>
          <a:bodyPr/>
          <a:lstStyle/>
          <a:p>
            <a:pPr marL="0" indent="0">
              <a:buNone/>
            </a:pPr>
            <a:r>
              <a:rPr lang="en-US" sz="2400" b="1" dirty="0">
                <a:sym typeface="+mn-ea"/>
              </a:rPr>
              <a:t>Climate</a:t>
            </a:r>
            <a:r>
              <a:rPr lang="en-US" sz="2400" dirty="0">
                <a:sym typeface="+mn-ea"/>
              </a:rPr>
              <a:t>:  Although there are some different climate. Climatic differences depending on where you are in Pakistan, the climate is generally temperate and consists of three seasons which include summer, winter and Monsoon. The extremes of these seasons vary depending on location. It is typically dry and hot in the south of the country and mild in the northern parts of the country.</a:t>
            </a:r>
            <a:endParaRPr lang="en-US" sz="2400" dirty="0"/>
          </a:p>
          <a:p>
            <a:pPr marL="0" indent="0">
              <a:buNone/>
            </a:pP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76672"/>
            <a:ext cx="8229600" cy="5544616"/>
          </a:xfrm>
        </p:spPr>
        <p:txBody>
          <a:bodyPr>
            <a:noAutofit/>
          </a:bodyPr>
          <a:lstStyle/>
          <a:p>
            <a:r>
              <a:rPr lang="en-US" sz="2000" b="1" dirty="0" smtClean="0"/>
              <a:t> </a:t>
            </a:r>
            <a:r>
              <a:rPr lang="en-US" sz="2800" b="1" dirty="0"/>
              <a:t>Government Structure of </a:t>
            </a:r>
            <a:r>
              <a:rPr lang="en-US" sz="2800" b="1" dirty="0" smtClean="0"/>
              <a:t>Pakistan :</a:t>
            </a:r>
          </a:p>
          <a:p>
            <a:pPr marL="0" indent="0">
              <a:buNone/>
            </a:pPr>
            <a:endParaRPr lang="en-US" sz="2000" b="1" dirty="0" smtClean="0"/>
          </a:p>
          <a:p>
            <a:r>
              <a:rPr lang="en-US" sz="2000" dirty="0" smtClean="0"/>
              <a:t>Pakistan </a:t>
            </a:r>
            <a:r>
              <a:rPr lang="en-US" sz="2000" dirty="0"/>
              <a:t>is a </a:t>
            </a:r>
            <a:r>
              <a:rPr lang="en-US" sz="2000" b="1" dirty="0"/>
              <a:t>federal parliamentary republic</a:t>
            </a:r>
            <a:r>
              <a:rPr lang="en-US" sz="2000" dirty="0"/>
              <a:t> governed under the </a:t>
            </a:r>
            <a:r>
              <a:rPr lang="en-US" sz="2000" b="1" dirty="0"/>
              <a:t>Constitution of 1973</a:t>
            </a:r>
            <a:r>
              <a:rPr lang="en-US" sz="2000" dirty="0"/>
              <a:t>. The country follows a democratic system in which power is divided between the federal government and the provincial governments</a:t>
            </a:r>
            <a:r>
              <a:rPr lang="en-US" sz="2000" dirty="0" smtClean="0"/>
              <a:t>.</a:t>
            </a:r>
          </a:p>
          <a:p>
            <a:pPr marL="0" indent="0">
              <a:buNone/>
            </a:pPr>
            <a:endParaRPr lang="en-US" sz="2000" dirty="0"/>
          </a:p>
          <a:p>
            <a:r>
              <a:rPr lang="en-US" sz="2000" dirty="0"/>
              <a:t>The </a:t>
            </a:r>
            <a:r>
              <a:rPr lang="en-US" sz="2000" b="1" dirty="0"/>
              <a:t>President of Pakistan</a:t>
            </a:r>
            <a:r>
              <a:rPr lang="en-US" sz="2000" dirty="0"/>
              <a:t> is the </a:t>
            </a:r>
            <a:r>
              <a:rPr lang="en-US" sz="2000" b="1" dirty="0"/>
              <a:t>Head of State</a:t>
            </a:r>
            <a:r>
              <a:rPr lang="en-US" sz="2000" dirty="0"/>
              <a:t> and holds a largely ceremonial position. The President is elected for a </a:t>
            </a:r>
            <a:r>
              <a:rPr lang="en-US" sz="2000" b="1" dirty="0"/>
              <a:t>five-year term</a:t>
            </a:r>
            <a:r>
              <a:rPr lang="en-US" sz="2000" dirty="0"/>
              <a:t>. The </a:t>
            </a:r>
            <a:r>
              <a:rPr lang="en-US" sz="2000" b="1" dirty="0"/>
              <a:t>Prime Minister</a:t>
            </a:r>
            <a:r>
              <a:rPr lang="en-US" sz="2000" dirty="0"/>
              <a:t> is the </a:t>
            </a:r>
            <a:r>
              <a:rPr lang="en-US" sz="2000" b="1" dirty="0"/>
              <a:t>Head of Government</a:t>
            </a:r>
            <a:r>
              <a:rPr lang="en-US" sz="2000" dirty="0"/>
              <a:t> and exercises executive authority. The Prime Minister is usually the leader of the majority party or coalition in the National Assembly.</a:t>
            </a:r>
          </a:p>
          <a:p>
            <a:r>
              <a:rPr lang="en-US" sz="2000" dirty="0"/>
              <a:t>Pakistan has a </a:t>
            </a:r>
            <a:r>
              <a:rPr lang="en-US" sz="2000" b="1" dirty="0"/>
              <a:t>bicameral Parliament</a:t>
            </a:r>
            <a:r>
              <a:rPr lang="en-US" sz="2000" dirty="0"/>
              <a:t>, consisting of:</a:t>
            </a:r>
          </a:p>
          <a:p>
            <a:r>
              <a:rPr lang="en-US" sz="2000" b="1" dirty="0"/>
              <a:t>National Assembly (Lower House)</a:t>
            </a:r>
            <a:endParaRPr lang="en-US" sz="2000" dirty="0"/>
          </a:p>
          <a:p>
            <a:r>
              <a:rPr lang="en-US" sz="2000" b="1" dirty="0"/>
              <a:t>Senate (Upper House)</a:t>
            </a:r>
            <a:endParaRPr lang="en-US" sz="2000" dirty="0"/>
          </a:p>
          <a:p>
            <a:pPr marL="0" indent="0">
              <a:buNone/>
            </a:pPr>
            <a:endParaRPr lang="en-US" sz="2000" b="1" dirty="0"/>
          </a:p>
          <a:p>
            <a:pPr marL="0" indent="0">
              <a:buNone/>
            </a:pP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760640"/>
          </a:xfrm>
        </p:spPr>
        <p:txBody>
          <a:bodyPr>
            <a:noAutofit/>
          </a:bodyPr>
          <a:lstStyle/>
          <a:p>
            <a:r>
              <a:rPr lang="en-US" sz="2800" b="1" dirty="0"/>
              <a:t>National </a:t>
            </a:r>
            <a:r>
              <a:rPr lang="en-US" sz="2800" b="1" dirty="0" smtClean="0"/>
              <a:t>Assembly:</a:t>
            </a:r>
            <a:endParaRPr lang="en-US" sz="2800" b="1" dirty="0"/>
          </a:p>
          <a:p>
            <a:r>
              <a:rPr lang="en-US" sz="2800" dirty="0"/>
              <a:t>The </a:t>
            </a:r>
            <a:r>
              <a:rPr lang="en-US" sz="2800" b="1" dirty="0"/>
              <a:t>National Assembly</a:t>
            </a:r>
            <a:r>
              <a:rPr lang="en-US" sz="2800" dirty="0"/>
              <a:t> has a total of </a:t>
            </a:r>
            <a:r>
              <a:rPr lang="en-US" sz="2800" b="1" dirty="0" smtClean="0"/>
              <a:t>336 members</a:t>
            </a:r>
            <a:r>
              <a:rPr lang="en-US" sz="2800" dirty="0"/>
              <a:t>, serving a </a:t>
            </a:r>
            <a:r>
              <a:rPr lang="en-US" sz="2800" b="1" dirty="0"/>
              <a:t>five-year term</a:t>
            </a:r>
            <a:r>
              <a:rPr lang="en-US" sz="2800" dirty="0"/>
              <a:t>:</a:t>
            </a:r>
          </a:p>
          <a:p>
            <a:r>
              <a:rPr lang="en-US" sz="2800" b="1" dirty="0"/>
              <a:t>266 members</a:t>
            </a:r>
            <a:r>
              <a:rPr lang="en-US" sz="2800" dirty="0"/>
              <a:t> are elected directly through </a:t>
            </a:r>
            <a:r>
              <a:rPr lang="en-US" sz="2800" b="1" dirty="0"/>
              <a:t>popular vote</a:t>
            </a:r>
            <a:endParaRPr lang="en-US" sz="2800" dirty="0"/>
          </a:p>
          <a:p>
            <a:r>
              <a:rPr lang="en-US" sz="2800" b="1" dirty="0"/>
              <a:t>60 seats are reserved for women</a:t>
            </a:r>
            <a:endParaRPr lang="en-US" sz="2800" dirty="0"/>
          </a:p>
          <a:p>
            <a:r>
              <a:rPr lang="en-US" sz="2800" b="1" dirty="0"/>
              <a:t>10 seats are reserved for non-Muslims (religious minorities)</a:t>
            </a:r>
            <a:endParaRPr lang="en-US" sz="2800" dirty="0"/>
          </a:p>
          <a:p>
            <a:r>
              <a:rPr lang="en-US" sz="2800" dirty="0"/>
              <a:t>Reserved seats are allocated to political parties in proportion to the number of general seats they win.</a:t>
            </a:r>
          </a:p>
          <a:p>
            <a:endParaRPr lang="en-US" sz="2800" dirty="0"/>
          </a:p>
        </p:txBody>
      </p:sp>
    </p:spTree>
    <p:extLst>
      <p:ext uri="{BB962C8B-B14F-4D97-AF65-F5344CB8AC3E}">
        <p14:creationId xmlns:p14="http://schemas.microsoft.com/office/powerpoint/2010/main" val="582143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184576"/>
          </a:xfrm>
        </p:spPr>
        <p:txBody>
          <a:bodyPr>
            <a:normAutofit fontScale="92500"/>
          </a:bodyPr>
          <a:lstStyle/>
          <a:p>
            <a:r>
              <a:rPr lang="en-US" sz="3000" b="1" dirty="0"/>
              <a:t>Provincial </a:t>
            </a:r>
            <a:r>
              <a:rPr lang="en-US" sz="3000" b="1" dirty="0" smtClean="0"/>
              <a:t>Governments:</a:t>
            </a:r>
            <a:endParaRPr lang="en-US" sz="3000" b="1" dirty="0"/>
          </a:p>
          <a:p>
            <a:r>
              <a:rPr lang="en-US" dirty="0"/>
              <a:t>Pakistan has </a:t>
            </a:r>
            <a:r>
              <a:rPr lang="en-US" b="1" dirty="0"/>
              <a:t>four provinces</a:t>
            </a:r>
            <a:r>
              <a:rPr lang="en-US" dirty="0"/>
              <a:t>: Punjab, Sindh</a:t>
            </a:r>
            <a:r>
              <a:rPr lang="en-US" dirty="0" smtClean="0"/>
              <a:t>, Khyber Pakhtunkhwa, and Baluchistan.</a:t>
            </a:r>
            <a:endParaRPr lang="en-US" dirty="0"/>
          </a:p>
          <a:p>
            <a:r>
              <a:rPr lang="en-US" dirty="0"/>
              <a:t>Each province has its </a:t>
            </a:r>
            <a:r>
              <a:rPr lang="en-US" b="1" dirty="0"/>
              <a:t>own Provincial Assembly</a:t>
            </a:r>
            <a:r>
              <a:rPr lang="en-US" dirty="0"/>
              <a:t>, and members are elected through </a:t>
            </a:r>
            <a:r>
              <a:rPr lang="en-US" b="1" dirty="0"/>
              <a:t>direct popular vote</a:t>
            </a:r>
            <a:r>
              <a:rPr lang="en-US" dirty="0"/>
              <a:t>. Provincial governments function under their respective Chief Ministers.</a:t>
            </a:r>
          </a:p>
          <a:p>
            <a:r>
              <a:rPr lang="en-US" b="1" dirty="0"/>
              <a:t>Currency of Pakistan</a:t>
            </a:r>
          </a:p>
          <a:p>
            <a:r>
              <a:rPr lang="en-US" dirty="0"/>
              <a:t>The official currency of Pakistan is the </a:t>
            </a:r>
            <a:r>
              <a:rPr lang="en-US" b="1" dirty="0"/>
              <a:t>Pakistani Rupee</a:t>
            </a:r>
            <a:r>
              <a:rPr lang="en-US" dirty="0"/>
              <a:t>, abbreviated as </a:t>
            </a:r>
            <a:r>
              <a:rPr lang="en-US" b="1" dirty="0"/>
              <a:t>PKR (₨)</a:t>
            </a:r>
            <a:r>
              <a:rPr lang="en-US" dirty="0"/>
              <a:t>.</a:t>
            </a:r>
          </a:p>
          <a:p>
            <a:endParaRPr lang="en-US" dirty="0"/>
          </a:p>
        </p:txBody>
      </p:sp>
    </p:spTree>
    <p:extLst>
      <p:ext uri="{BB962C8B-B14F-4D97-AF65-F5344CB8AC3E}">
        <p14:creationId xmlns:p14="http://schemas.microsoft.com/office/powerpoint/2010/main" val="3076929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476672"/>
            <a:ext cx="8229600" cy="5760640"/>
          </a:xfrm>
        </p:spPr>
        <p:txBody>
          <a:bodyPr>
            <a:noAutofit/>
          </a:bodyPr>
          <a:lstStyle/>
          <a:p>
            <a:r>
              <a:rPr lang="en-US" sz="2300" b="1" dirty="0" smtClean="0"/>
              <a:t>Total Area geographical area:</a:t>
            </a:r>
            <a:endParaRPr lang="en-US" sz="2300" b="1" dirty="0"/>
          </a:p>
          <a:p>
            <a:r>
              <a:rPr lang="en-US" sz="2300" dirty="0"/>
              <a:t>Pakistan covers a total area of </a:t>
            </a:r>
            <a:r>
              <a:rPr lang="en-US" sz="2300" b="1" dirty="0"/>
              <a:t>796,095 square kilometers</a:t>
            </a:r>
            <a:r>
              <a:rPr lang="en-US" sz="2300" dirty="0"/>
              <a:t>.</a:t>
            </a:r>
          </a:p>
          <a:p>
            <a:r>
              <a:rPr lang="en-US" sz="2300" b="1" dirty="0" smtClean="0"/>
              <a:t>Provinces </a:t>
            </a:r>
            <a:r>
              <a:rPr lang="en-US" sz="2300" b="1" dirty="0"/>
              <a:t>and Their </a:t>
            </a:r>
            <a:r>
              <a:rPr lang="en-US" sz="2300" b="1" dirty="0" smtClean="0"/>
              <a:t>Area:</a:t>
            </a:r>
            <a:endParaRPr lang="en-US" sz="2300" b="1" dirty="0"/>
          </a:p>
          <a:p>
            <a:r>
              <a:rPr lang="en-US" sz="2300" dirty="0"/>
              <a:t>Pakistan has </a:t>
            </a:r>
            <a:r>
              <a:rPr lang="en-US" sz="2300" b="1" dirty="0"/>
              <a:t>four provinces</a:t>
            </a:r>
            <a:r>
              <a:rPr lang="en-US" sz="2300" dirty="0"/>
              <a:t> with the following areas:</a:t>
            </a:r>
          </a:p>
          <a:p>
            <a:r>
              <a:rPr lang="en-US" sz="2300" b="1" dirty="0"/>
              <a:t>Punjab:</a:t>
            </a:r>
            <a:r>
              <a:rPr lang="en-US" sz="2300" dirty="0"/>
              <a:t> 205,344 sq. km</a:t>
            </a:r>
          </a:p>
          <a:p>
            <a:r>
              <a:rPr lang="en-US" sz="2300" b="1" dirty="0"/>
              <a:t>Sindh:</a:t>
            </a:r>
            <a:r>
              <a:rPr lang="en-US" sz="2300" dirty="0"/>
              <a:t> 140,914 sq. km</a:t>
            </a:r>
          </a:p>
          <a:p>
            <a:r>
              <a:rPr lang="en-US" sz="2300" b="1" dirty="0"/>
              <a:t>Khyber Pakhtunkhwa (KP):</a:t>
            </a:r>
            <a:r>
              <a:rPr lang="en-US" sz="2300" dirty="0"/>
              <a:t> 74,521 sq. km</a:t>
            </a:r>
          </a:p>
          <a:p>
            <a:r>
              <a:rPr lang="en-US" sz="2300" b="1" dirty="0" smtClean="0"/>
              <a:t>Baluchistan:</a:t>
            </a:r>
            <a:r>
              <a:rPr lang="en-US" sz="2300" dirty="0" smtClean="0"/>
              <a:t> </a:t>
            </a:r>
            <a:r>
              <a:rPr lang="en-US" sz="2300" dirty="0"/>
              <a:t>347,190 sq. km</a:t>
            </a:r>
          </a:p>
          <a:p>
            <a:r>
              <a:rPr lang="en-US" sz="2300" b="1" dirty="0" smtClean="0"/>
              <a:t>Baluchistan</a:t>
            </a:r>
            <a:r>
              <a:rPr lang="en-US" sz="2300" dirty="0" smtClean="0"/>
              <a:t> </a:t>
            </a:r>
            <a:r>
              <a:rPr lang="en-US" sz="2300" dirty="0"/>
              <a:t>is the </a:t>
            </a:r>
            <a:r>
              <a:rPr lang="en-US" sz="2300" b="1" dirty="0"/>
              <a:t>largest province by area</a:t>
            </a:r>
            <a:r>
              <a:rPr lang="en-US" sz="2300" dirty="0"/>
              <a:t>, while </a:t>
            </a:r>
            <a:r>
              <a:rPr lang="en-US" sz="2300" b="1" dirty="0"/>
              <a:t>Punjab</a:t>
            </a:r>
            <a:r>
              <a:rPr lang="en-US" sz="2300" dirty="0"/>
              <a:t> is the most populated.</a:t>
            </a:r>
          </a:p>
          <a:p>
            <a:r>
              <a:rPr lang="en-US" sz="2300" b="1" dirty="0"/>
              <a:t>Coastline</a:t>
            </a:r>
          </a:p>
          <a:p>
            <a:r>
              <a:rPr lang="en-US" sz="2300" dirty="0"/>
              <a:t>Pakistan has a </a:t>
            </a:r>
            <a:r>
              <a:rPr lang="en-US" sz="2300" b="1" dirty="0"/>
              <a:t>coastline of about 1,046 kilometers</a:t>
            </a:r>
            <a:endParaRPr lang="en-US" sz="2300" dirty="0"/>
          </a:p>
          <a:p>
            <a:r>
              <a:rPr lang="en-US" sz="2300" dirty="0"/>
              <a:t>It lies along the </a:t>
            </a:r>
            <a:r>
              <a:rPr lang="en-US" sz="2300" b="1" dirty="0"/>
              <a:t>Arabian Sea</a:t>
            </a:r>
            <a:endParaRPr lang="en-US" sz="2300" dirty="0"/>
          </a:p>
          <a:p>
            <a:pPr marL="0" indent="0">
              <a:buNone/>
            </a:pPr>
            <a:endParaRPr lang="en-US" sz="2300" dirty="0"/>
          </a:p>
          <a:p>
            <a:pPr marL="0" indent="0">
              <a:buNone/>
            </a:pPr>
            <a:endParaRPr lang="en-US" sz="23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669" y="620688"/>
            <a:ext cx="8229600" cy="1008112"/>
          </a:xfrm>
        </p:spPr>
        <p:txBody>
          <a:bodyPr>
            <a:normAutofit/>
          </a:bodyPr>
          <a:lstStyle/>
          <a:p>
            <a:r>
              <a:rPr lang="en-US" sz="2800" b="1" dirty="0"/>
              <a:t>Historical Background </a:t>
            </a:r>
            <a:r>
              <a:rPr lang="en-US" sz="2800" b="1" dirty="0" smtClean="0"/>
              <a:t>:Ancient </a:t>
            </a:r>
            <a:r>
              <a:rPr lang="en-US" sz="2800" b="1" dirty="0"/>
              <a:t>Civilization in the Region</a:t>
            </a:r>
          </a:p>
        </p:txBody>
      </p:sp>
      <p:sp>
        <p:nvSpPr>
          <p:cNvPr id="3" name="Content Placeholder 2"/>
          <p:cNvSpPr>
            <a:spLocks noGrp="1"/>
          </p:cNvSpPr>
          <p:nvPr>
            <p:ph idx="1"/>
          </p:nvPr>
        </p:nvSpPr>
        <p:spPr>
          <a:xfrm>
            <a:off x="457200" y="1772816"/>
            <a:ext cx="8229600" cy="4353347"/>
          </a:xfrm>
        </p:spPr>
        <p:txBody>
          <a:bodyPr>
            <a:normAutofit fontScale="97500" lnSpcReduction="10000"/>
          </a:bodyPr>
          <a:lstStyle/>
          <a:p>
            <a:r>
              <a:rPr lang="en-US" sz="2900" b="1" dirty="0"/>
              <a:t>Indus Valley Civilization (Harappa)</a:t>
            </a:r>
          </a:p>
          <a:p>
            <a:r>
              <a:rPr lang="en-US" sz="2400" dirty="0"/>
              <a:t>The </a:t>
            </a:r>
            <a:r>
              <a:rPr lang="en-US" sz="2400" b="1" dirty="0"/>
              <a:t>Indus Valley Civilization</a:t>
            </a:r>
            <a:r>
              <a:rPr lang="en-US" sz="2400" dirty="0"/>
              <a:t> was the </a:t>
            </a:r>
            <a:r>
              <a:rPr lang="en-US" sz="2400" b="1" dirty="0"/>
              <a:t>earliest urban civilization</a:t>
            </a:r>
            <a:r>
              <a:rPr lang="en-US" sz="2400" dirty="0"/>
              <a:t> of the Indian subcontinent.</a:t>
            </a:r>
          </a:p>
          <a:p>
            <a:r>
              <a:rPr lang="en-US" sz="2400" dirty="0"/>
              <a:t>It developed along the </a:t>
            </a:r>
            <a:r>
              <a:rPr lang="en-US" sz="2400" b="1" dirty="0"/>
              <a:t>Indus River system</a:t>
            </a:r>
            <a:r>
              <a:rPr lang="en-US" sz="2400" dirty="0"/>
              <a:t> around </a:t>
            </a:r>
            <a:r>
              <a:rPr lang="en-US" sz="2400" b="1" dirty="0"/>
              <a:t>2500–1700 BCE</a:t>
            </a:r>
            <a:r>
              <a:rPr lang="en-US" sz="2400" dirty="0"/>
              <a:t>.</a:t>
            </a:r>
          </a:p>
          <a:p>
            <a:r>
              <a:rPr lang="en-US" sz="2400" b="1" dirty="0" smtClean="0"/>
              <a:t> </a:t>
            </a:r>
            <a:r>
              <a:rPr lang="en-US" sz="2400" b="1" dirty="0"/>
              <a:t>Major Cities</a:t>
            </a:r>
          </a:p>
          <a:p>
            <a:r>
              <a:rPr lang="en-US" sz="2400" b="1" dirty="0"/>
              <a:t>Harappa</a:t>
            </a:r>
            <a:r>
              <a:rPr lang="en-US" sz="2400" dirty="0"/>
              <a:t>, </a:t>
            </a:r>
            <a:r>
              <a:rPr lang="en-US" sz="2400" b="1" dirty="0" smtClean="0"/>
              <a:t>Mohenjo-Daro</a:t>
            </a:r>
            <a:r>
              <a:rPr lang="en-US" sz="2400" dirty="0" smtClean="0"/>
              <a:t>, </a:t>
            </a:r>
            <a:endParaRPr lang="en-US" sz="2400" b="1" dirty="0"/>
          </a:p>
          <a:p>
            <a:r>
              <a:rPr lang="en-US" sz="2900" b="1" dirty="0" smtClean="0"/>
              <a:t>Urban </a:t>
            </a:r>
            <a:r>
              <a:rPr lang="en-US" sz="2900" b="1" dirty="0"/>
              <a:t>Planning</a:t>
            </a:r>
          </a:p>
          <a:p>
            <a:r>
              <a:rPr lang="en-US" sz="2400" dirty="0"/>
              <a:t>Cities built in a </a:t>
            </a:r>
            <a:r>
              <a:rPr lang="en-US" sz="2400" b="1" dirty="0"/>
              <a:t>grid pattern</a:t>
            </a:r>
            <a:endParaRPr lang="en-US" sz="2400" dirty="0"/>
          </a:p>
          <a:p>
            <a:r>
              <a:rPr lang="en-US" sz="2400" b="1" dirty="0"/>
              <a:t>Wide streets</a:t>
            </a:r>
            <a:r>
              <a:rPr lang="en-US" sz="2400" dirty="0"/>
              <a:t> crossing at right angles</a:t>
            </a:r>
          </a:p>
          <a:p>
            <a:r>
              <a:rPr lang="en-US" sz="2400" dirty="0"/>
              <a:t>Houses made of </a:t>
            </a:r>
            <a:r>
              <a:rPr lang="en-US" sz="2400" b="1" dirty="0"/>
              <a:t>baked bricks</a:t>
            </a:r>
            <a:endParaRPr lang="en-US" sz="2400" dirty="0"/>
          </a:p>
          <a:p>
            <a:pPr algn="just"/>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764704"/>
            <a:ext cx="8229600" cy="4896544"/>
          </a:xfrm>
        </p:spPr>
        <p:txBody>
          <a:bodyPr>
            <a:normAutofit/>
          </a:bodyPr>
          <a:lstStyle/>
          <a:p>
            <a:r>
              <a:rPr lang="en-US" b="1" dirty="0" smtClean="0"/>
              <a:t> </a:t>
            </a:r>
            <a:r>
              <a:rPr lang="en-US" b="1" dirty="0"/>
              <a:t>Water &amp; Drainage</a:t>
            </a:r>
          </a:p>
          <a:p>
            <a:r>
              <a:rPr lang="en-US" b="1" dirty="0"/>
              <a:t>Advanced drainage system</a:t>
            </a:r>
            <a:r>
              <a:rPr lang="en-US" dirty="0"/>
              <a:t> connected to houses</a:t>
            </a:r>
          </a:p>
          <a:p>
            <a:r>
              <a:rPr lang="en-US" b="1" dirty="0"/>
              <a:t>Wells, baths, and reservoirs</a:t>
            </a:r>
            <a:endParaRPr lang="en-US" dirty="0"/>
          </a:p>
          <a:p>
            <a:r>
              <a:rPr lang="en-US" dirty="0"/>
              <a:t>Famous </a:t>
            </a:r>
            <a:r>
              <a:rPr lang="en-US" b="1" dirty="0"/>
              <a:t>Great Bath of </a:t>
            </a:r>
            <a:r>
              <a:rPr lang="en-US" b="1" dirty="0" err="1"/>
              <a:t>Mohenjo-daro</a:t>
            </a:r>
            <a:endParaRPr lang="en-US" dirty="0"/>
          </a:p>
          <a:p>
            <a:r>
              <a:rPr lang="en-US" b="1" dirty="0" smtClean="0"/>
              <a:t>Public </a:t>
            </a:r>
            <a:r>
              <a:rPr lang="en-US" b="1" dirty="0"/>
              <a:t>Buildings</a:t>
            </a:r>
          </a:p>
          <a:p>
            <a:r>
              <a:rPr lang="en-US" b="1" dirty="0"/>
              <a:t>Granaries</a:t>
            </a:r>
            <a:r>
              <a:rPr lang="en-US" dirty="0"/>
              <a:t>, assembly halls, public baths</a:t>
            </a:r>
          </a:p>
          <a:p>
            <a:r>
              <a:rPr lang="en-US" dirty="0"/>
              <a:t>Shows </a:t>
            </a:r>
            <a:r>
              <a:rPr lang="en-US" b="1" dirty="0"/>
              <a:t>strong administration and planning</a:t>
            </a:r>
            <a:endParaRPr lang="en-US" dirty="0"/>
          </a:p>
          <a:p>
            <a:endParaRPr lang="en-US" dirty="0"/>
          </a:p>
        </p:txBody>
      </p:sp>
    </p:spTree>
    <p:extLst>
      <p:ext uri="{BB962C8B-B14F-4D97-AF65-F5344CB8AC3E}">
        <p14:creationId xmlns:p14="http://schemas.microsoft.com/office/powerpoint/2010/main" val="4283111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692696"/>
            <a:ext cx="8229600" cy="5112568"/>
          </a:xfrm>
        </p:spPr>
        <p:txBody>
          <a:bodyPr>
            <a:noAutofit/>
          </a:bodyPr>
          <a:lstStyle/>
          <a:p>
            <a:r>
              <a:rPr lang="en-US" sz="2400" b="1" dirty="0"/>
              <a:t>Mohenjo-Daro and Geography of Indus Valley Civilization</a:t>
            </a:r>
          </a:p>
          <a:p>
            <a:r>
              <a:rPr lang="en-US" sz="2200" b="1" dirty="0"/>
              <a:t>Mohenjo-Daro</a:t>
            </a:r>
          </a:p>
          <a:p>
            <a:r>
              <a:rPr lang="en-US" sz="2200" dirty="0"/>
              <a:t>Mohenjo-Daro is one of the </a:t>
            </a:r>
            <a:r>
              <a:rPr lang="en-US" sz="2200" b="1" dirty="0"/>
              <a:t>most important ancient cities</a:t>
            </a:r>
            <a:r>
              <a:rPr lang="en-US" sz="2200" dirty="0"/>
              <a:t> of South Asia and the </a:t>
            </a:r>
            <a:r>
              <a:rPr lang="en-US" sz="2200" b="1" dirty="0"/>
              <a:t>Indus Valley Civilization</a:t>
            </a:r>
            <a:r>
              <a:rPr lang="en-US" sz="2200" dirty="0"/>
              <a:t>.</a:t>
            </a:r>
          </a:p>
          <a:p>
            <a:r>
              <a:rPr lang="en-US" sz="2200" dirty="0"/>
              <a:t>Despite its significance, many books only give a brief overview of this city.</a:t>
            </a:r>
          </a:p>
          <a:p>
            <a:r>
              <a:rPr lang="en-US" sz="2200" b="1" dirty="0"/>
              <a:t>Geography of the Indus Valley Civilization</a:t>
            </a:r>
          </a:p>
          <a:p>
            <a:r>
              <a:rPr lang="en-US" sz="2200" dirty="0"/>
              <a:t>The civilization was located in a </a:t>
            </a:r>
            <a:r>
              <a:rPr lang="en-US" sz="2200" b="1" dirty="0"/>
              <a:t>small area covering parts of present-day Pakistan and India</a:t>
            </a:r>
            <a:r>
              <a:rPr lang="en-US" sz="2200" dirty="0"/>
              <a:t>.</a:t>
            </a:r>
          </a:p>
          <a:p>
            <a:r>
              <a:rPr lang="en-US" sz="2200" dirty="0"/>
              <a:t>It developed along the </a:t>
            </a:r>
            <a:r>
              <a:rPr lang="en-US" sz="2200" b="1" dirty="0"/>
              <a:t>banks of the Indus River</a:t>
            </a:r>
            <a:r>
              <a:rPr lang="en-US" sz="2200" dirty="0"/>
              <a:t>, which provided water and helped farming.</a:t>
            </a:r>
          </a:p>
          <a:p>
            <a:r>
              <a:rPr lang="en-US" sz="2200" dirty="0"/>
              <a:t>The region was surrounded by </a:t>
            </a:r>
            <a:r>
              <a:rPr lang="en-US" sz="2200" b="1" dirty="0"/>
              <a:t>forests, deserts, and the Arabian Sea</a:t>
            </a:r>
            <a:r>
              <a:rPr lang="en-US" sz="2200" dirty="0"/>
              <a:t>, making the land </a:t>
            </a:r>
            <a:r>
              <a:rPr lang="en-US" sz="2200" b="1" dirty="0"/>
              <a:t>fertile and suitable for agriculture</a:t>
            </a:r>
            <a:r>
              <a:rPr lang="en-US" sz="2200" dirty="0"/>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92696"/>
            <a:ext cx="8229600" cy="5112568"/>
          </a:xfrm>
        </p:spPr>
        <p:txBody>
          <a:bodyPr>
            <a:noAutofit/>
          </a:bodyPr>
          <a:lstStyle/>
          <a:p>
            <a:r>
              <a:rPr lang="en-US" sz="2700" b="1" dirty="0"/>
              <a:t>Indus Valley Civilization: Discovery &amp; Importance</a:t>
            </a:r>
          </a:p>
          <a:p>
            <a:r>
              <a:rPr lang="en-US" sz="2700" b="1" dirty="0"/>
              <a:t>Harappa</a:t>
            </a:r>
            <a:r>
              <a:rPr lang="en-US" sz="2700" dirty="0"/>
              <a:t> discovered in </a:t>
            </a:r>
            <a:r>
              <a:rPr lang="en-US" sz="2700" b="1" dirty="0"/>
              <a:t>1829 CE</a:t>
            </a:r>
            <a:r>
              <a:rPr lang="en-US" sz="2700" dirty="0"/>
              <a:t> → first evidence of an advanced urban civilization in </a:t>
            </a:r>
            <a:r>
              <a:rPr lang="en-US" sz="2700" b="1" dirty="0"/>
              <a:t>India/Pakistan</a:t>
            </a:r>
            <a:r>
              <a:rPr lang="en-US" sz="2700" dirty="0"/>
              <a:t>.</a:t>
            </a:r>
          </a:p>
          <a:p>
            <a:r>
              <a:rPr lang="en-US" sz="2700" dirty="0"/>
              <a:t>Compared with </a:t>
            </a:r>
            <a:r>
              <a:rPr lang="en-US" sz="2700" b="1" dirty="0"/>
              <a:t>Egypt and Mesopotamia</a:t>
            </a:r>
            <a:r>
              <a:rPr lang="en-US" sz="2700" dirty="0"/>
              <a:t>, but studied </a:t>
            </a:r>
            <a:r>
              <a:rPr lang="en-US" sz="2700" b="1" dirty="0"/>
              <a:t>much later</a:t>
            </a:r>
            <a:r>
              <a:rPr lang="en-US" sz="2700" dirty="0"/>
              <a:t>.</a:t>
            </a:r>
          </a:p>
          <a:p>
            <a:r>
              <a:rPr lang="en-US" sz="2700" dirty="0"/>
              <a:t>By that time, </a:t>
            </a:r>
            <a:r>
              <a:rPr lang="en-US" sz="2700" b="1" dirty="0"/>
              <a:t>Egyptian and Mesopotamian sites</a:t>
            </a:r>
            <a:r>
              <a:rPr lang="en-US" sz="2700" dirty="0"/>
              <a:t> were already excavated, and scripts were being translated by scholars like </a:t>
            </a:r>
            <a:r>
              <a:rPr lang="en-US" sz="2700" b="1" dirty="0"/>
              <a:t>George Smith (1840–1876)</a:t>
            </a:r>
            <a:r>
              <a:rPr lang="en-US" sz="2700" dirty="0"/>
              <a:t>.</a:t>
            </a:r>
          </a:p>
          <a:p>
            <a:r>
              <a:rPr lang="en-US" sz="2700" dirty="0"/>
              <a:t>Many </a:t>
            </a:r>
            <a:r>
              <a:rPr lang="en-US" sz="2700" b="1" dirty="0"/>
              <a:t>first achievements in city planning, architecture, and technology</a:t>
            </a:r>
            <a:r>
              <a:rPr lang="en-US" sz="2700" dirty="0"/>
              <a:t> may actually belong to the </a:t>
            </a:r>
            <a:r>
              <a:rPr lang="en-US" sz="2700" b="1" dirty="0"/>
              <a:t>Indus Valley Civilization</a:t>
            </a:r>
            <a:r>
              <a:rPr lang="en-US" sz="2700" dirty="0"/>
              <a:t>.</a:t>
            </a:r>
          </a:p>
          <a:p>
            <a:pPr algn="just"/>
            <a:endParaRPr lang="en-US" sz="27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92696"/>
            <a:ext cx="8229600" cy="5472608"/>
          </a:xfrm>
        </p:spPr>
        <p:txBody>
          <a:bodyPr>
            <a:noAutofit/>
          </a:bodyPr>
          <a:lstStyle/>
          <a:p>
            <a:r>
              <a:rPr lang="en-US" sz="2800" b="1" dirty="0"/>
              <a:t>Understanding BC / AD / BCE / CE</a:t>
            </a:r>
          </a:p>
          <a:p>
            <a:r>
              <a:rPr lang="en-US" sz="2000" b="1" dirty="0"/>
              <a:t>BC (Before Christ)</a:t>
            </a:r>
          </a:p>
          <a:p>
            <a:r>
              <a:rPr lang="en-US" sz="2000" dirty="0"/>
              <a:t>Years </a:t>
            </a:r>
            <a:r>
              <a:rPr lang="en-US" sz="2000" b="1" dirty="0"/>
              <a:t>before Jesus was born</a:t>
            </a:r>
            <a:endParaRPr lang="en-US" sz="2000" dirty="0"/>
          </a:p>
          <a:p>
            <a:r>
              <a:rPr lang="en-US" sz="2000" dirty="0"/>
              <a:t>Numbers </a:t>
            </a:r>
            <a:r>
              <a:rPr lang="en-US" sz="2000" b="1" dirty="0"/>
              <a:t>go backward</a:t>
            </a:r>
            <a:r>
              <a:rPr lang="en-US" sz="2000" dirty="0"/>
              <a:t/>
            </a:r>
            <a:br>
              <a:rPr lang="en-US" sz="2000" dirty="0"/>
            </a:br>
            <a:r>
              <a:rPr lang="en-US" sz="2000" b="1" dirty="0"/>
              <a:t>Example:</a:t>
            </a:r>
            <a:r>
              <a:rPr lang="en-US" sz="2000" dirty="0"/>
              <a:t> 500 BC → 500 years before Jesus</a:t>
            </a:r>
          </a:p>
          <a:p>
            <a:r>
              <a:rPr lang="en-US" sz="2000" b="1" dirty="0"/>
              <a:t>AD (Anno Domini)</a:t>
            </a:r>
          </a:p>
          <a:p>
            <a:r>
              <a:rPr lang="en-US" sz="2000" dirty="0"/>
              <a:t>Years </a:t>
            </a:r>
            <a:r>
              <a:rPr lang="en-US" sz="2000" b="1" dirty="0"/>
              <a:t>after Jesus was born</a:t>
            </a:r>
            <a:endParaRPr lang="en-US" sz="2000" dirty="0"/>
          </a:p>
          <a:p>
            <a:r>
              <a:rPr lang="en-US" sz="2000" dirty="0"/>
              <a:t>Numbers </a:t>
            </a:r>
            <a:r>
              <a:rPr lang="en-US" sz="2000" b="1" dirty="0"/>
              <a:t>go forward</a:t>
            </a:r>
            <a:r>
              <a:rPr lang="en-US" sz="2000" dirty="0"/>
              <a:t/>
            </a:r>
            <a:br>
              <a:rPr lang="en-US" sz="2000" dirty="0"/>
            </a:br>
            <a:r>
              <a:rPr lang="en-US" sz="2000" b="1" dirty="0"/>
              <a:t>Example:</a:t>
            </a:r>
            <a:r>
              <a:rPr lang="en-US" sz="2000" dirty="0"/>
              <a:t> AD 500 → 500 years after Jesus</a:t>
            </a:r>
          </a:p>
          <a:p>
            <a:r>
              <a:rPr lang="en-US" sz="2000" b="1" dirty="0"/>
              <a:t>BCE / CE (Modern Terms)</a:t>
            </a:r>
          </a:p>
          <a:p>
            <a:r>
              <a:rPr lang="en-US" sz="2000" dirty="0"/>
              <a:t>BCE = </a:t>
            </a:r>
            <a:r>
              <a:rPr lang="en-US" sz="2000" b="1" dirty="0"/>
              <a:t>Before Common Era</a:t>
            </a:r>
            <a:r>
              <a:rPr lang="en-US" sz="2000" dirty="0"/>
              <a:t> → same as BC</a:t>
            </a:r>
          </a:p>
          <a:p>
            <a:r>
              <a:rPr lang="en-US" sz="2000" dirty="0"/>
              <a:t>CE = </a:t>
            </a:r>
            <a:r>
              <a:rPr lang="en-US" sz="2000" b="1" dirty="0"/>
              <a:t>Common Era</a:t>
            </a:r>
            <a:r>
              <a:rPr lang="en-US" sz="2000" dirty="0"/>
              <a:t> → same as AD</a:t>
            </a:r>
          </a:p>
          <a:p>
            <a:r>
              <a:rPr lang="en-US" sz="2000" b="1" dirty="0" smtClean="0"/>
              <a:t> </a:t>
            </a:r>
            <a:r>
              <a:rPr lang="en-US" sz="2000" b="1" dirty="0"/>
              <a:t>Easy </a:t>
            </a:r>
            <a:r>
              <a:rPr lang="en-US" sz="2000" b="1" dirty="0" smtClean="0"/>
              <a:t>to remember</a:t>
            </a:r>
            <a:endParaRPr lang="en-US" sz="2000" b="1" dirty="0"/>
          </a:p>
          <a:p>
            <a:r>
              <a:rPr lang="en-US" sz="2000" b="1" dirty="0"/>
              <a:t>BC / BCE → backward in time</a:t>
            </a:r>
            <a:endParaRPr lang="en-US" sz="2000" dirty="0"/>
          </a:p>
          <a:p>
            <a:r>
              <a:rPr lang="en-US" sz="2000" b="1" dirty="0"/>
              <a:t>AD / CE → forward in time</a:t>
            </a:r>
            <a:endParaRPr lang="en-US" sz="2000" dirty="0"/>
          </a:p>
          <a:p>
            <a:endParaRPr lang="en-US" sz="2000" dirty="0"/>
          </a:p>
        </p:txBody>
      </p:sp>
    </p:spTree>
    <p:extLst>
      <p:ext uri="{BB962C8B-B14F-4D97-AF65-F5344CB8AC3E}">
        <p14:creationId xmlns:p14="http://schemas.microsoft.com/office/powerpoint/2010/main" val="1335563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764704"/>
            <a:ext cx="8229600" cy="5256584"/>
          </a:xfrm>
        </p:spPr>
        <p:txBody>
          <a:bodyPr>
            <a:noAutofit/>
          </a:bodyPr>
          <a:lstStyle/>
          <a:p>
            <a:r>
              <a:rPr lang="en-US" b="1" dirty="0"/>
              <a:t>Decline of the Indus Valley Civilization</a:t>
            </a:r>
          </a:p>
          <a:p>
            <a:r>
              <a:rPr lang="en-US" sz="2800" b="1" dirty="0"/>
              <a:t>Climate Change</a:t>
            </a:r>
            <a:r>
              <a:rPr lang="en-US" sz="2800" dirty="0"/>
              <a:t> – Drying of the </a:t>
            </a:r>
            <a:r>
              <a:rPr lang="en-US" sz="2800" b="1" dirty="0" err="1"/>
              <a:t>Saraswati</a:t>
            </a:r>
            <a:r>
              <a:rPr lang="en-US" sz="2800" b="1" dirty="0"/>
              <a:t> River</a:t>
            </a:r>
            <a:r>
              <a:rPr lang="en-US" sz="2800" dirty="0"/>
              <a:t> and reduced rainfall made farming difficult.</a:t>
            </a:r>
          </a:p>
          <a:p>
            <a:r>
              <a:rPr lang="en-US" sz="2800" b="1" dirty="0"/>
              <a:t>Floods</a:t>
            </a:r>
            <a:r>
              <a:rPr lang="en-US" sz="2800" dirty="0"/>
              <a:t> – Occasional </a:t>
            </a:r>
            <a:r>
              <a:rPr lang="en-US" sz="2800" b="1" dirty="0"/>
              <a:t>massive floods</a:t>
            </a:r>
            <a:r>
              <a:rPr lang="en-US" sz="2800" dirty="0"/>
              <a:t> damaged cities and farmlands.</a:t>
            </a:r>
          </a:p>
          <a:p>
            <a:r>
              <a:rPr lang="en-US" sz="2800" b="1" dirty="0"/>
              <a:t>Migration</a:t>
            </a:r>
            <a:r>
              <a:rPr lang="en-US" sz="2800" dirty="0"/>
              <a:t> – Around </a:t>
            </a:r>
            <a:r>
              <a:rPr lang="en-US" sz="2800" b="1" dirty="0"/>
              <a:t>1900–1800 BCE</a:t>
            </a:r>
            <a:r>
              <a:rPr lang="en-US" sz="2800" dirty="0"/>
              <a:t>, people moved </a:t>
            </a:r>
            <a:r>
              <a:rPr lang="en-US" sz="2800" b="1" dirty="0"/>
              <a:t>eastward to Himalayan foothills</a:t>
            </a:r>
            <a:r>
              <a:rPr lang="en-US" sz="2800" dirty="0"/>
              <a:t>.</a:t>
            </a:r>
          </a:p>
          <a:p>
            <a:r>
              <a:rPr lang="en-US" sz="2800" b="1" dirty="0"/>
              <a:t>Urban Decay</a:t>
            </a:r>
            <a:r>
              <a:rPr lang="en-US" sz="2800" dirty="0"/>
              <a:t> – Cities gradually </a:t>
            </a:r>
            <a:r>
              <a:rPr lang="en-US" sz="2800" b="1" dirty="0"/>
              <a:t>lost population</a:t>
            </a:r>
            <a:r>
              <a:rPr lang="en-US" sz="2800" dirty="0"/>
              <a:t> and were abandoned.</a:t>
            </a:r>
          </a:p>
          <a:p>
            <a:pPr marL="0" indent="0" algn="just">
              <a:buNone/>
            </a:pPr>
            <a:endParaRPr lang="en-US" sz="28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764704"/>
            <a:ext cx="8229600" cy="5112568"/>
          </a:xfrm>
        </p:spPr>
        <p:txBody>
          <a:bodyPr>
            <a:noAutofit/>
          </a:bodyPr>
          <a:lstStyle/>
          <a:p>
            <a:pPr marL="0" lvl="0" indent="0" algn="ctr">
              <a:buNone/>
            </a:pPr>
            <a:r>
              <a:rPr lang="en-US" sz="2800" b="1" u="sng" dirty="0">
                <a:sym typeface="+mn-ea"/>
              </a:rPr>
              <a:t>The war of Independence of 1857 and its </a:t>
            </a:r>
            <a:r>
              <a:rPr lang="en-US" sz="2800" b="1" u="sng" dirty="0" smtClean="0">
                <a:sym typeface="+mn-ea"/>
              </a:rPr>
              <a:t>impact</a:t>
            </a:r>
          </a:p>
          <a:p>
            <a:pPr marL="0" lvl="0" indent="0" algn="ctr">
              <a:buNone/>
            </a:pPr>
            <a:endParaRPr lang="en-US" sz="2400" dirty="0"/>
          </a:p>
          <a:p>
            <a:pPr marL="0" indent="0" algn="just">
              <a:buNone/>
            </a:pPr>
            <a:r>
              <a:rPr lang="en-US" sz="2000" dirty="0">
                <a:sym typeface="+mn-ea"/>
              </a:rPr>
              <a:t>            </a:t>
            </a:r>
            <a:r>
              <a:rPr lang="en-US" sz="2000" b="1" dirty="0">
                <a:sym typeface="+mn-ea"/>
              </a:rPr>
              <a:t>  </a:t>
            </a:r>
            <a:r>
              <a:rPr lang="en-US" sz="2000" dirty="0"/>
              <a:t>The </a:t>
            </a:r>
            <a:r>
              <a:rPr lang="en-US" sz="2000" b="1" dirty="0"/>
              <a:t>War of Independence of 1857</a:t>
            </a:r>
            <a:r>
              <a:rPr lang="en-US" sz="2000" dirty="0"/>
              <a:t>, also called the </a:t>
            </a:r>
            <a:r>
              <a:rPr lang="en-US" sz="2000" b="1" dirty="0"/>
              <a:t>First War of Indian Independence</a:t>
            </a:r>
            <a:r>
              <a:rPr lang="en-US" sz="2000" dirty="0"/>
              <a:t> or the </a:t>
            </a:r>
            <a:r>
              <a:rPr lang="en-US" sz="2000" b="1" dirty="0" err="1"/>
              <a:t>Sepoy</a:t>
            </a:r>
            <a:r>
              <a:rPr lang="en-US" sz="2000" b="1" dirty="0"/>
              <a:t> Mutiny</a:t>
            </a:r>
            <a:r>
              <a:rPr lang="en-US" sz="2000" dirty="0"/>
              <a:t>, was a major revolt against the </a:t>
            </a:r>
            <a:r>
              <a:rPr lang="en-US" sz="2000" b="1" dirty="0"/>
              <a:t>British East India Company</a:t>
            </a:r>
            <a:r>
              <a:rPr lang="en-US" sz="2000" dirty="0"/>
              <a:t>. It began on </a:t>
            </a:r>
            <a:r>
              <a:rPr lang="en-US" sz="2000" b="1" dirty="0"/>
              <a:t>10 May 1857 in Meerut</a:t>
            </a:r>
            <a:r>
              <a:rPr lang="en-US" sz="2000" dirty="0"/>
              <a:t>, when Indian soldiers (</a:t>
            </a:r>
            <a:r>
              <a:rPr lang="en-US" sz="2000" dirty="0" err="1"/>
              <a:t>sepoys</a:t>
            </a:r>
            <a:r>
              <a:rPr lang="en-US" sz="2000" dirty="0"/>
              <a:t>) refused to use </a:t>
            </a:r>
            <a:r>
              <a:rPr lang="en-US" sz="2000" b="1" dirty="0"/>
              <a:t>greased cartridges</a:t>
            </a:r>
            <a:r>
              <a:rPr lang="en-US" sz="2000" dirty="0"/>
              <a:t>, which violated both </a:t>
            </a:r>
            <a:r>
              <a:rPr lang="en-US" sz="2000" b="1" dirty="0"/>
              <a:t>Hindu and Muslim religious practices</a:t>
            </a:r>
            <a:r>
              <a:rPr lang="en-US" sz="2000" dirty="0"/>
              <a:t>. The rebellion quickly spread to cities like </a:t>
            </a:r>
            <a:r>
              <a:rPr lang="en-US" sz="2000" b="1" dirty="0"/>
              <a:t>Delhi, Kanpur, Lucknow, Jhansi, and Bareilly</a:t>
            </a:r>
            <a:r>
              <a:rPr lang="en-US" sz="2000" dirty="0"/>
              <a:t>, and drew support from </a:t>
            </a:r>
            <a:r>
              <a:rPr lang="en-US" sz="2000" b="1" dirty="0"/>
              <a:t>peasants, local rulers, and </a:t>
            </a:r>
            <a:r>
              <a:rPr lang="en-US" sz="2000" b="1" dirty="0" err="1"/>
              <a:t>zamindars</a:t>
            </a:r>
            <a:r>
              <a:rPr lang="en-US" sz="2000" dirty="0"/>
              <a:t>. Key leaders included </a:t>
            </a:r>
            <a:r>
              <a:rPr lang="en-US" sz="2000" b="1" dirty="0" err="1"/>
              <a:t>Mangal</a:t>
            </a:r>
            <a:r>
              <a:rPr lang="en-US" sz="2000" b="1" dirty="0"/>
              <a:t> Pandey, Rani </a:t>
            </a:r>
            <a:r>
              <a:rPr lang="en-US" sz="2000" b="1" dirty="0" err="1"/>
              <a:t>Lakshmibai</a:t>
            </a:r>
            <a:r>
              <a:rPr lang="en-US" sz="2000" b="1" dirty="0"/>
              <a:t> of Jhansi, </a:t>
            </a:r>
            <a:r>
              <a:rPr lang="en-US" sz="2000" b="1" dirty="0" smtClean="0"/>
              <a:t>, </a:t>
            </a:r>
            <a:r>
              <a:rPr lang="en-US" sz="2000" b="1" dirty="0"/>
              <a:t>and Bahadur Shah Zafar</a:t>
            </a:r>
            <a:r>
              <a:rPr lang="en-US" sz="2000" dirty="0"/>
              <a:t>, who resisted British control with courage and determination. The revolt was eventually </a:t>
            </a:r>
            <a:r>
              <a:rPr lang="en-US" sz="2000" b="1" dirty="0"/>
              <a:t>suppressed by the British on 20 July 1858</a:t>
            </a:r>
            <a:r>
              <a:rPr lang="en-US" sz="2000" dirty="0"/>
              <a:t>, but it marked a </a:t>
            </a:r>
            <a:r>
              <a:rPr lang="en-US" sz="2000" b="1" dirty="0"/>
              <a:t>turning point in Indian history</a:t>
            </a:r>
            <a:r>
              <a:rPr lang="en-US" sz="2000" dirty="0"/>
              <a:t>, awakening a sense of </a:t>
            </a:r>
            <a:r>
              <a:rPr lang="en-US" sz="2000" b="1" dirty="0"/>
              <a:t>national unity and consciousness</a:t>
            </a:r>
            <a:r>
              <a:rPr lang="en-US" sz="2000" dirty="0"/>
              <a:t>, and leading to the end of the East India Company’s rule and the beginning of </a:t>
            </a:r>
            <a:r>
              <a:rPr lang="en-US" sz="2000" b="1" dirty="0"/>
              <a:t>direct British Crown administration in India</a:t>
            </a:r>
            <a:r>
              <a:rPr lang="en-US" sz="2000" dirty="0"/>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92696"/>
            <a:ext cx="8229600" cy="5400600"/>
          </a:xfrm>
        </p:spPr>
        <p:txBody>
          <a:bodyPr>
            <a:noAutofit/>
          </a:bodyPr>
          <a:lstStyle/>
          <a:p>
            <a:r>
              <a:rPr lang="en-US" sz="2800" b="1" dirty="0"/>
              <a:t>The Urdu-Hindi </a:t>
            </a:r>
            <a:r>
              <a:rPr lang="en-US" sz="2800" b="1" dirty="0" smtClean="0"/>
              <a:t>Controversy:</a:t>
            </a:r>
            <a:endParaRPr lang="en-US" sz="2800" b="1" dirty="0"/>
          </a:p>
          <a:p>
            <a:r>
              <a:rPr lang="en-US" sz="2400" dirty="0"/>
              <a:t>The </a:t>
            </a:r>
            <a:r>
              <a:rPr lang="en-US" sz="2400" b="1" dirty="0"/>
              <a:t>Urdu-Hindi controversy</a:t>
            </a:r>
            <a:r>
              <a:rPr lang="en-US" sz="2400" dirty="0"/>
              <a:t> was a major </a:t>
            </a:r>
            <a:r>
              <a:rPr lang="en-US" sz="2400" b="1" dirty="0"/>
              <a:t>cultural and political dispute</a:t>
            </a:r>
            <a:r>
              <a:rPr lang="en-US" sz="2400" dirty="0"/>
              <a:t> in </a:t>
            </a:r>
            <a:r>
              <a:rPr lang="en-US" sz="2400" b="1" dirty="0"/>
              <a:t>northern India</a:t>
            </a:r>
            <a:r>
              <a:rPr lang="en-US" sz="2400" dirty="0"/>
              <a:t> during the 19th century, mainly in </a:t>
            </a:r>
            <a:r>
              <a:rPr lang="en-US" sz="2400" b="1" dirty="0"/>
              <a:t>Delhi, Lucknow, and surrounding areas</a:t>
            </a:r>
            <a:r>
              <a:rPr lang="en-US" sz="2400" dirty="0"/>
              <a:t>, over which language should be the official language of administration and education.</a:t>
            </a:r>
          </a:p>
          <a:p>
            <a:r>
              <a:rPr lang="en-US" sz="2400" b="1" dirty="0" smtClean="0"/>
              <a:t> Background:</a:t>
            </a:r>
            <a:endParaRPr lang="en-US" sz="2400" b="1" dirty="0"/>
          </a:p>
          <a:p>
            <a:r>
              <a:rPr lang="en-US" sz="2400" dirty="0"/>
              <a:t>During the </a:t>
            </a:r>
            <a:r>
              <a:rPr lang="en-US" sz="2400" b="1" dirty="0"/>
              <a:t>British rule</a:t>
            </a:r>
            <a:r>
              <a:rPr lang="en-US" sz="2400" dirty="0"/>
              <a:t>, </a:t>
            </a:r>
            <a:r>
              <a:rPr lang="en-US" sz="2400" b="1" dirty="0"/>
              <a:t>Urdu</a:t>
            </a:r>
            <a:r>
              <a:rPr lang="en-US" sz="2400" dirty="0"/>
              <a:t> (written in the </a:t>
            </a:r>
            <a:r>
              <a:rPr lang="en-US" sz="2400" b="1" dirty="0" err="1"/>
              <a:t>Perso</a:t>
            </a:r>
            <a:r>
              <a:rPr lang="en-US" sz="2400" b="1" dirty="0"/>
              <a:t>-Arabic script</a:t>
            </a:r>
            <a:r>
              <a:rPr lang="en-US" sz="2400" dirty="0"/>
              <a:t>) was widely used in </a:t>
            </a:r>
            <a:r>
              <a:rPr lang="en-US" sz="2400" b="1" dirty="0"/>
              <a:t>northern India</a:t>
            </a:r>
            <a:r>
              <a:rPr lang="en-US" sz="2400" dirty="0"/>
              <a:t> for administration and literature.</a:t>
            </a:r>
          </a:p>
          <a:p>
            <a:r>
              <a:rPr lang="en-US" sz="2400" b="1" dirty="0"/>
              <a:t>Hindi</a:t>
            </a:r>
            <a:r>
              <a:rPr lang="en-US" sz="2400" dirty="0"/>
              <a:t> (written in the </a:t>
            </a:r>
            <a:r>
              <a:rPr lang="en-US" sz="2400" b="1" dirty="0"/>
              <a:t>Devanagari script</a:t>
            </a:r>
            <a:r>
              <a:rPr lang="en-US" sz="2400" dirty="0"/>
              <a:t>) was increasingly promoted by </a:t>
            </a:r>
            <a:r>
              <a:rPr lang="en-US" sz="2400" b="1" dirty="0"/>
              <a:t>Hindu reformers and nationalist groups</a:t>
            </a:r>
            <a:r>
              <a:rPr lang="en-US" sz="2400" dirty="0"/>
              <a:t>, who wanted a language closer to the local spoken dialects.</a:t>
            </a:r>
          </a:p>
          <a:p>
            <a:pPr marL="0" indent="0" algn="just">
              <a:buNone/>
            </a:pPr>
            <a:endParaRPr lang="en-US" sz="24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764704"/>
            <a:ext cx="8229600" cy="4896544"/>
          </a:xfrm>
        </p:spPr>
        <p:txBody>
          <a:bodyPr>
            <a:noAutofit/>
          </a:bodyPr>
          <a:lstStyle/>
          <a:p>
            <a:r>
              <a:rPr lang="en-US" sz="2400" b="1" dirty="0"/>
              <a:t>Key </a:t>
            </a:r>
            <a:r>
              <a:rPr lang="en-US" sz="2400" b="1" dirty="0" smtClean="0"/>
              <a:t>Events:</a:t>
            </a:r>
            <a:endParaRPr lang="en-US" sz="2400" b="1" dirty="0"/>
          </a:p>
          <a:p>
            <a:r>
              <a:rPr lang="en-US" sz="2400" dirty="0"/>
              <a:t>The controversy began in the </a:t>
            </a:r>
            <a:r>
              <a:rPr lang="en-US" sz="2400" b="1" dirty="0"/>
              <a:t>mid-19th century</a:t>
            </a:r>
            <a:r>
              <a:rPr lang="en-US" sz="2400" dirty="0"/>
              <a:t> and escalated in </a:t>
            </a:r>
            <a:r>
              <a:rPr lang="en-US" sz="2400" b="1" dirty="0"/>
              <a:t>1867</a:t>
            </a:r>
            <a:r>
              <a:rPr lang="en-US" sz="2400" dirty="0"/>
              <a:t> when the British introduced </a:t>
            </a:r>
            <a:r>
              <a:rPr lang="en-US" sz="2400" b="1" dirty="0"/>
              <a:t>Hindi in the Devanagari script</a:t>
            </a:r>
            <a:r>
              <a:rPr lang="en-US" sz="2400" dirty="0"/>
              <a:t> for official use in some districts of the United Provinces (modern Uttar Pradesh).</a:t>
            </a:r>
          </a:p>
          <a:p>
            <a:r>
              <a:rPr lang="en-US" sz="2400" b="1" dirty="0"/>
              <a:t>Muslims</a:t>
            </a:r>
            <a:r>
              <a:rPr lang="en-US" sz="2400" dirty="0"/>
              <a:t> largely supported </a:t>
            </a:r>
            <a:r>
              <a:rPr lang="en-US" sz="2400" b="1" dirty="0"/>
              <a:t>Urdu</a:t>
            </a:r>
            <a:r>
              <a:rPr lang="en-US" sz="2400" dirty="0"/>
              <a:t>, seeing it as their cultural and religious identity.</a:t>
            </a:r>
          </a:p>
          <a:p>
            <a:r>
              <a:rPr lang="en-US" sz="2400" b="1" dirty="0"/>
              <a:t>Hindus</a:t>
            </a:r>
            <a:r>
              <a:rPr lang="en-US" sz="2400" dirty="0"/>
              <a:t> supported </a:t>
            </a:r>
            <a:r>
              <a:rPr lang="en-US" sz="2400" b="1" dirty="0" smtClean="0"/>
              <a:t>Hindi</a:t>
            </a:r>
            <a:r>
              <a:rPr lang="en-US" sz="2400" dirty="0" smtClean="0"/>
              <a:t>, </a:t>
            </a:r>
            <a:r>
              <a:rPr lang="en-US" sz="2400" dirty="0"/>
              <a:t>linking it to </a:t>
            </a:r>
            <a:r>
              <a:rPr lang="en-US" sz="2400" b="1" dirty="0"/>
              <a:t>national identity</a:t>
            </a:r>
            <a:r>
              <a:rPr lang="en-US" sz="2400" dirty="0"/>
              <a:t> and resistance against Muslim cultural dominance.</a:t>
            </a:r>
          </a:p>
          <a:p>
            <a:r>
              <a:rPr lang="en-US" sz="2400" dirty="0"/>
              <a:t>The conflict was not only </a:t>
            </a:r>
            <a:r>
              <a:rPr lang="en-US" sz="2400" b="1" dirty="0"/>
              <a:t>linguistic</a:t>
            </a:r>
            <a:r>
              <a:rPr lang="en-US" sz="2400" dirty="0"/>
              <a:t>, but also </a:t>
            </a:r>
            <a:r>
              <a:rPr lang="en-US" sz="2400" b="1" dirty="0"/>
              <a:t>religious and political</a:t>
            </a:r>
            <a:r>
              <a:rPr lang="en-US" sz="2400" dirty="0"/>
              <a:t>, reflecting the growing tension between </a:t>
            </a:r>
            <a:r>
              <a:rPr lang="en-US" sz="2400" b="1" dirty="0"/>
              <a:t>Hindus and Muslims</a:t>
            </a:r>
            <a:r>
              <a:rPr lang="en-US" sz="2400" dirty="0"/>
              <a:t> in the region.</a:t>
            </a:r>
          </a:p>
          <a:p>
            <a:endParaRPr lang="en-US" sz="2400" dirty="0"/>
          </a:p>
        </p:txBody>
      </p:sp>
    </p:spTree>
    <p:extLst>
      <p:ext uri="{BB962C8B-B14F-4D97-AF65-F5344CB8AC3E}">
        <p14:creationId xmlns:p14="http://schemas.microsoft.com/office/powerpoint/2010/main" val="442729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92696"/>
            <a:ext cx="8229600" cy="5184576"/>
          </a:xfrm>
        </p:spPr>
        <p:txBody>
          <a:bodyPr>
            <a:noAutofit/>
          </a:bodyPr>
          <a:lstStyle/>
          <a:p>
            <a:r>
              <a:rPr lang="en-US" b="1" dirty="0"/>
              <a:t>Outcome</a:t>
            </a:r>
          </a:p>
          <a:p>
            <a:r>
              <a:rPr lang="en-US" dirty="0"/>
              <a:t>The controversy </a:t>
            </a:r>
            <a:r>
              <a:rPr lang="en-US" b="1" dirty="0"/>
              <a:t>intensified communal divisions</a:t>
            </a:r>
            <a:r>
              <a:rPr lang="en-US" dirty="0"/>
              <a:t> in northern India.</a:t>
            </a:r>
          </a:p>
          <a:p>
            <a:r>
              <a:rPr lang="en-US" dirty="0"/>
              <a:t>Urdu remained popular among </a:t>
            </a:r>
            <a:r>
              <a:rPr lang="en-US" b="1" dirty="0"/>
              <a:t>Muslims</a:t>
            </a:r>
            <a:r>
              <a:rPr lang="en-US" dirty="0"/>
              <a:t>, while Hindi became increasingly associated with </a:t>
            </a:r>
            <a:r>
              <a:rPr lang="en-US" b="1" dirty="0"/>
              <a:t>Hindu identity and Indian nationalism</a:t>
            </a:r>
            <a:r>
              <a:rPr lang="en-US" dirty="0"/>
              <a:t>.</a:t>
            </a:r>
          </a:p>
          <a:p>
            <a:r>
              <a:rPr lang="en-US" dirty="0"/>
              <a:t>This dispute laid the groundwork for </a:t>
            </a:r>
            <a:r>
              <a:rPr lang="en-US" b="1" dirty="0"/>
              <a:t>future cultural and political divisions</a:t>
            </a:r>
            <a:r>
              <a:rPr lang="en-US" dirty="0"/>
              <a:t> between the two communities, influencing language and politics in </a:t>
            </a:r>
            <a:r>
              <a:rPr lang="en-US" b="1" dirty="0"/>
              <a:t>pre-independence India</a:t>
            </a:r>
            <a:r>
              <a:rPr lang="en-US" dirty="0"/>
              <a:t>.</a:t>
            </a:r>
          </a:p>
          <a:p>
            <a:endParaRPr lang="en-US" dirty="0"/>
          </a:p>
        </p:txBody>
      </p:sp>
    </p:spTree>
    <p:extLst>
      <p:ext uri="{BB962C8B-B14F-4D97-AF65-F5344CB8AC3E}">
        <p14:creationId xmlns:p14="http://schemas.microsoft.com/office/powerpoint/2010/main" val="2966013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8229600" cy="4824536"/>
          </a:xfrm>
        </p:spPr>
        <p:txBody>
          <a:bodyPr>
            <a:noAutofit/>
          </a:bodyPr>
          <a:lstStyle/>
          <a:p>
            <a:r>
              <a:rPr lang="en-US" sz="2800" b="1" dirty="0"/>
              <a:t>The Indian National Congress (INC)</a:t>
            </a:r>
          </a:p>
          <a:p>
            <a:r>
              <a:rPr lang="en-US" sz="2000" dirty="0"/>
              <a:t>The </a:t>
            </a:r>
            <a:r>
              <a:rPr lang="en-US" sz="2000" b="1" dirty="0"/>
              <a:t>Indian National Congress (INC)</a:t>
            </a:r>
            <a:r>
              <a:rPr lang="en-US" sz="2000" dirty="0"/>
              <a:t> was founded in </a:t>
            </a:r>
            <a:r>
              <a:rPr lang="en-US" sz="2000" b="1" dirty="0"/>
              <a:t>1885</a:t>
            </a:r>
            <a:r>
              <a:rPr lang="en-US" sz="2000" dirty="0"/>
              <a:t> in </a:t>
            </a:r>
            <a:r>
              <a:rPr lang="en-US" sz="2000" b="1" dirty="0"/>
              <a:t>Bombay (Mumbai)</a:t>
            </a:r>
            <a:r>
              <a:rPr lang="en-US" sz="2000" dirty="0"/>
              <a:t> with the primary goal of providing a platform for Indians to </a:t>
            </a:r>
            <a:r>
              <a:rPr lang="en-US" sz="2000" b="1" dirty="0"/>
              <a:t>participate in the governance of their own country under British rule</a:t>
            </a:r>
            <a:r>
              <a:rPr lang="en-US" sz="2000" dirty="0"/>
              <a:t>. It was started by </a:t>
            </a:r>
            <a:r>
              <a:rPr lang="en-US" sz="2000" b="1" dirty="0"/>
              <a:t>A.O. Hume</a:t>
            </a:r>
            <a:r>
              <a:rPr lang="en-US" sz="2000" dirty="0"/>
              <a:t>, a retired British civil servant, along with prominent Indian leaders.</a:t>
            </a:r>
          </a:p>
          <a:p>
            <a:r>
              <a:rPr lang="en-US" sz="2800" b="1" dirty="0" smtClean="0"/>
              <a:t> </a:t>
            </a:r>
            <a:r>
              <a:rPr lang="en-US" sz="2800" b="1" dirty="0"/>
              <a:t>Early Objectives</a:t>
            </a:r>
          </a:p>
          <a:p>
            <a:r>
              <a:rPr lang="en-US" sz="2000" dirty="0"/>
              <a:t>Initially, the Congress </a:t>
            </a:r>
            <a:r>
              <a:rPr lang="en-US" sz="2000" b="1" dirty="0"/>
              <a:t>did not demand complete independence</a:t>
            </a:r>
            <a:r>
              <a:rPr lang="en-US" sz="2000" dirty="0"/>
              <a:t>.</a:t>
            </a:r>
          </a:p>
          <a:p>
            <a:r>
              <a:rPr lang="en-US" sz="2000" dirty="0"/>
              <a:t>Its main aim was to </a:t>
            </a:r>
            <a:r>
              <a:rPr lang="en-US" sz="2000" b="1" dirty="0"/>
              <a:t>seek reforms within the British administration</a:t>
            </a:r>
            <a:r>
              <a:rPr lang="en-US" sz="2000" dirty="0"/>
              <a:t>, such as:</a:t>
            </a:r>
          </a:p>
          <a:p>
            <a:pPr lvl="1"/>
            <a:r>
              <a:rPr lang="en-US" sz="2000" b="1" dirty="0"/>
              <a:t>More Indian representation</a:t>
            </a:r>
            <a:r>
              <a:rPr lang="en-US" sz="2000" dirty="0"/>
              <a:t> in legislative councils</a:t>
            </a:r>
          </a:p>
          <a:p>
            <a:pPr lvl="1"/>
            <a:r>
              <a:rPr lang="en-US" sz="2000" b="1" dirty="0"/>
              <a:t>Civil service reforms</a:t>
            </a:r>
            <a:endParaRPr lang="en-US" sz="2000" dirty="0"/>
          </a:p>
          <a:p>
            <a:pPr lvl="1"/>
            <a:r>
              <a:rPr lang="en-US" sz="2000" b="1" dirty="0"/>
              <a:t>Better administration and justice</a:t>
            </a: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692696"/>
            <a:ext cx="8229600" cy="5328592"/>
          </a:xfrm>
        </p:spPr>
        <p:txBody>
          <a:bodyPr>
            <a:noAutofit/>
          </a:bodyPr>
          <a:lstStyle/>
          <a:p>
            <a:r>
              <a:rPr lang="en-US" b="1" u="sng" dirty="0"/>
              <a:t>Early </a:t>
            </a:r>
            <a:r>
              <a:rPr lang="en-US" b="1" u="sng" dirty="0" smtClean="0"/>
              <a:t>Leaders:</a:t>
            </a:r>
          </a:p>
          <a:p>
            <a:endParaRPr lang="en-US" sz="2400" b="1" dirty="0"/>
          </a:p>
          <a:p>
            <a:r>
              <a:rPr lang="en-US" sz="1800" b="1" dirty="0" err="1"/>
              <a:t>Dadabhai</a:t>
            </a:r>
            <a:r>
              <a:rPr lang="en-US" sz="1800" b="1" dirty="0"/>
              <a:t> </a:t>
            </a:r>
            <a:r>
              <a:rPr lang="en-US" sz="1800" b="1" dirty="0" err="1"/>
              <a:t>Naoroji</a:t>
            </a:r>
            <a:r>
              <a:rPr lang="en-US" sz="1800" dirty="0"/>
              <a:t> – focused on </a:t>
            </a:r>
            <a:r>
              <a:rPr lang="en-US" sz="1800" b="1" dirty="0"/>
              <a:t>economic exploitation of India</a:t>
            </a:r>
            <a:r>
              <a:rPr lang="en-US" sz="1800" dirty="0"/>
              <a:t> (Drain of Wealth theory)</a:t>
            </a:r>
          </a:p>
          <a:p>
            <a:r>
              <a:rPr lang="en-US" sz="1800" b="1" dirty="0"/>
              <a:t>W.C. </a:t>
            </a:r>
            <a:r>
              <a:rPr lang="en-US" sz="1800" b="1" dirty="0" err="1"/>
              <a:t>Bonnerjee</a:t>
            </a:r>
            <a:r>
              <a:rPr lang="en-US" sz="1800" dirty="0"/>
              <a:t> – first president of INC</a:t>
            </a:r>
          </a:p>
          <a:p>
            <a:r>
              <a:rPr lang="en-US" sz="1800" b="1" dirty="0"/>
              <a:t>Gopal Krishna </a:t>
            </a:r>
            <a:r>
              <a:rPr lang="en-US" sz="1800" b="1" dirty="0" err="1"/>
              <a:t>Gokhale</a:t>
            </a:r>
            <a:r>
              <a:rPr lang="en-US" sz="1800" dirty="0"/>
              <a:t> – advocated </a:t>
            </a:r>
            <a:r>
              <a:rPr lang="en-US" sz="1800" b="1" dirty="0"/>
              <a:t>moderate reforms and dialogue with </a:t>
            </a:r>
            <a:r>
              <a:rPr lang="en-US" sz="1800" b="1" dirty="0" smtClean="0"/>
              <a:t>British</a:t>
            </a:r>
            <a:endParaRPr lang="en-US" sz="1800" dirty="0"/>
          </a:p>
          <a:p>
            <a:r>
              <a:rPr lang="en-US" sz="2400" b="1" dirty="0" smtClean="0"/>
              <a:t> </a:t>
            </a:r>
            <a:r>
              <a:rPr lang="en-US" sz="2400" b="1" dirty="0"/>
              <a:t>Growth and </a:t>
            </a:r>
            <a:r>
              <a:rPr lang="en-US" sz="2400" b="1" dirty="0" smtClean="0"/>
              <a:t>Shift:</a:t>
            </a:r>
            <a:endParaRPr lang="en-US" sz="2400" b="1" dirty="0"/>
          </a:p>
          <a:p>
            <a:r>
              <a:rPr lang="en-US" sz="1800" dirty="0"/>
              <a:t>Initially, the INC worked through </a:t>
            </a:r>
            <a:r>
              <a:rPr lang="en-US" sz="1800" b="1" dirty="0"/>
              <a:t>petitions, resolutions, and debates</a:t>
            </a:r>
            <a:r>
              <a:rPr lang="en-US" sz="1800" dirty="0"/>
              <a:t> (Moderate Phase).</a:t>
            </a:r>
          </a:p>
          <a:p>
            <a:r>
              <a:rPr lang="en-US" sz="1800" dirty="0"/>
              <a:t>By the </a:t>
            </a:r>
            <a:r>
              <a:rPr lang="en-US" sz="1800" b="1" dirty="0"/>
              <a:t>1905-1919 period</a:t>
            </a:r>
            <a:r>
              <a:rPr lang="en-US" sz="1800" dirty="0"/>
              <a:t>, under leaders like </a:t>
            </a:r>
            <a:r>
              <a:rPr lang="en-US" sz="1800" b="1" dirty="0"/>
              <a:t>Bal </a:t>
            </a:r>
            <a:r>
              <a:rPr lang="en-US" sz="1800" b="1" dirty="0" err="1"/>
              <a:t>Gangadhar</a:t>
            </a:r>
            <a:r>
              <a:rPr lang="en-US" sz="1800" b="1" dirty="0"/>
              <a:t> </a:t>
            </a:r>
            <a:r>
              <a:rPr lang="en-US" sz="1800" b="1" dirty="0" err="1"/>
              <a:t>Tilak</a:t>
            </a:r>
            <a:r>
              <a:rPr lang="en-US" sz="1800" dirty="0"/>
              <a:t>, the INC began to adopt a </a:t>
            </a:r>
            <a:r>
              <a:rPr lang="en-US" sz="1800" b="1" dirty="0"/>
              <a:t>more assertive approach</a:t>
            </a:r>
            <a:r>
              <a:rPr lang="en-US" sz="1800" dirty="0"/>
              <a:t>, demanding </a:t>
            </a:r>
            <a:r>
              <a:rPr lang="en-US" sz="1800" b="1" dirty="0"/>
              <a:t>self-rule (</a:t>
            </a:r>
            <a:r>
              <a:rPr lang="en-US" sz="1800" b="1" dirty="0" err="1"/>
              <a:t>Swaraj</a:t>
            </a:r>
            <a:r>
              <a:rPr lang="en-US" sz="1800" b="1" dirty="0"/>
              <a:t>)</a:t>
            </a:r>
            <a:r>
              <a:rPr lang="en-US" sz="1800" dirty="0"/>
              <a:t>.</a:t>
            </a:r>
          </a:p>
          <a:p>
            <a:r>
              <a:rPr lang="en-US" sz="1800" dirty="0"/>
              <a:t>The </a:t>
            </a:r>
            <a:r>
              <a:rPr lang="en-US" sz="1800" b="1" dirty="0"/>
              <a:t>Gandhian Era (1920s–1947)</a:t>
            </a:r>
            <a:r>
              <a:rPr lang="en-US" sz="1800" dirty="0"/>
              <a:t> saw INC transform into a </a:t>
            </a:r>
            <a:r>
              <a:rPr lang="en-US" sz="1800" b="1" dirty="0"/>
              <a:t>mass movement</a:t>
            </a:r>
            <a:r>
              <a:rPr lang="en-US" sz="1800" dirty="0"/>
              <a:t>:</a:t>
            </a:r>
          </a:p>
          <a:p>
            <a:pPr marL="457200" lvl="1" indent="0">
              <a:buNone/>
            </a:pPr>
            <a:r>
              <a:rPr lang="en-US" sz="1800" b="1" dirty="0"/>
              <a:t>Non-Cooperation Movement (1920–22)</a:t>
            </a:r>
            <a:endParaRPr lang="en-US" sz="1800" dirty="0"/>
          </a:p>
          <a:p>
            <a:pPr marL="457200" lvl="1" indent="0">
              <a:buNone/>
            </a:pPr>
            <a:r>
              <a:rPr lang="en-US" sz="1800" b="1" dirty="0"/>
              <a:t>Civil Disobedience Movement (1930–34)</a:t>
            </a:r>
            <a:endParaRPr lang="en-US" sz="1800" dirty="0"/>
          </a:p>
          <a:p>
            <a:pPr marL="457200" lvl="1" indent="0">
              <a:buNone/>
            </a:pPr>
            <a:r>
              <a:rPr lang="en-US" sz="1800" b="1" dirty="0"/>
              <a:t>Quit India Movement (1942)</a:t>
            </a:r>
            <a:endParaRPr lang="en-US" sz="1800" dirty="0"/>
          </a:p>
          <a:p>
            <a:endParaRPr lang="en-US" sz="1800" dirty="0"/>
          </a:p>
        </p:txBody>
      </p:sp>
    </p:spTree>
    <p:extLst>
      <p:ext uri="{BB962C8B-B14F-4D97-AF65-F5344CB8AC3E}">
        <p14:creationId xmlns:p14="http://schemas.microsoft.com/office/powerpoint/2010/main" val="1543322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576064"/>
          </a:xfrm>
        </p:spPr>
        <p:txBody>
          <a:bodyPr>
            <a:noAutofit/>
          </a:bodyPr>
          <a:lstStyle/>
          <a:p>
            <a:r>
              <a:rPr lang="en-US" sz="3200" b="1" dirty="0"/>
              <a:t>Factors Leading to the Creation of Pakistan</a:t>
            </a:r>
          </a:p>
        </p:txBody>
      </p:sp>
      <p:sp>
        <p:nvSpPr>
          <p:cNvPr id="3" name="Content Placeholder 2"/>
          <p:cNvSpPr>
            <a:spLocks noGrp="1"/>
          </p:cNvSpPr>
          <p:nvPr>
            <p:ph idx="1"/>
          </p:nvPr>
        </p:nvSpPr>
        <p:spPr>
          <a:xfrm>
            <a:off x="611560" y="1484784"/>
            <a:ext cx="8229600" cy="4608651"/>
          </a:xfrm>
        </p:spPr>
        <p:txBody>
          <a:bodyPr>
            <a:noAutofit/>
          </a:bodyPr>
          <a:lstStyle/>
          <a:p>
            <a:r>
              <a:rPr lang="en-US" sz="2800" b="1" dirty="0"/>
              <a:t>All India Muslim League (AIML)</a:t>
            </a:r>
          </a:p>
          <a:p>
            <a:r>
              <a:rPr lang="en-US" sz="2400" b="1" dirty="0" smtClean="0"/>
              <a:t>Formation:</a:t>
            </a:r>
            <a:endParaRPr lang="en-US" sz="2400" b="1" dirty="0"/>
          </a:p>
          <a:p>
            <a:r>
              <a:rPr lang="en-US" sz="2000" b="1" dirty="0"/>
              <a:t>Founded in 1906 in Dhaka</a:t>
            </a:r>
            <a:r>
              <a:rPr lang="en-US" sz="2000" dirty="0"/>
              <a:t> by Muslim leaders to </a:t>
            </a:r>
            <a:r>
              <a:rPr lang="en-US" sz="2000" b="1" dirty="0"/>
              <a:t>protect Muslim rights</a:t>
            </a:r>
            <a:r>
              <a:rPr lang="en-US" sz="2000" dirty="0"/>
              <a:t> under British rule.</a:t>
            </a:r>
          </a:p>
          <a:p>
            <a:r>
              <a:rPr lang="en-US" sz="2000" dirty="0"/>
              <a:t>Formed due to concerns that Muslims were </a:t>
            </a:r>
            <a:r>
              <a:rPr lang="en-US" sz="2000" b="1" dirty="0"/>
              <a:t>politically underrepresented</a:t>
            </a:r>
            <a:r>
              <a:rPr lang="en-US" sz="2000" dirty="0"/>
              <a:t> compared to Hindus in colonial governance.</a:t>
            </a:r>
          </a:p>
          <a:p>
            <a:r>
              <a:rPr lang="en-US" sz="2400" b="1" dirty="0" smtClean="0"/>
              <a:t>Objectives:</a:t>
            </a:r>
            <a:endParaRPr lang="en-US" sz="2400" b="1" dirty="0"/>
          </a:p>
          <a:p>
            <a:r>
              <a:rPr lang="en-US" sz="2000" dirty="0"/>
              <a:t>Safeguard </a:t>
            </a:r>
            <a:r>
              <a:rPr lang="en-US" sz="2000" b="1" dirty="0"/>
              <a:t>political, social, and economic interests of Muslims</a:t>
            </a:r>
            <a:r>
              <a:rPr lang="en-US" sz="2000" dirty="0"/>
              <a:t>.</a:t>
            </a:r>
          </a:p>
          <a:p>
            <a:r>
              <a:rPr lang="en-US" sz="2000" dirty="0"/>
              <a:t>Ensure </a:t>
            </a:r>
            <a:r>
              <a:rPr lang="en-US" sz="2000" b="1" dirty="0"/>
              <a:t>separate representation</a:t>
            </a:r>
            <a:r>
              <a:rPr lang="en-US" sz="2000" dirty="0"/>
              <a:t> for Muslims in legislative councils (</a:t>
            </a:r>
            <a:r>
              <a:rPr lang="en-US" sz="2000" b="1" dirty="0"/>
              <a:t>separate electorates</a:t>
            </a:r>
            <a:r>
              <a:rPr lang="en-US" sz="2000" dirty="0"/>
              <a:t>).</a:t>
            </a:r>
          </a:p>
          <a:p>
            <a:r>
              <a:rPr lang="en-US" sz="2000" dirty="0"/>
              <a:t>Promote </a:t>
            </a:r>
            <a:r>
              <a:rPr lang="en-US" sz="2000" b="1" dirty="0"/>
              <a:t>Muslim education and political awareness</a:t>
            </a:r>
            <a:r>
              <a:rPr lang="en-US" sz="2000" dirty="0"/>
              <a:t>.</a:t>
            </a:r>
          </a:p>
          <a:p>
            <a:r>
              <a:rPr lang="en-US" sz="2000" dirty="0"/>
              <a:t>Initially, the League supported </a:t>
            </a:r>
            <a:r>
              <a:rPr lang="en-US" sz="2000" b="1" dirty="0"/>
              <a:t>loyalty to t</a:t>
            </a: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576064"/>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124605"/>
            <a:ext cx="8229600" cy="4536643"/>
          </a:xfrm>
        </p:spPr>
        <p:txBody>
          <a:bodyPr>
            <a:noAutofit/>
          </a:bodyPr>
          <a:lstStyle/>
          <a:p>
            <a:r>
              <a:rPr lang="en-US" sz="2800" b="1" dirty="0"/>
              <a:t>Key </a:t>
            </a:r>
            <a:r>
              <a:rPr lang="en-US" sz="2800" b="1" dirty="0" smtClean="0"/>
              <a:t>Leaders:</a:t>
            </a:r>
            <a:endParaRPr lang="en-US" sz="2800" b="1" dirty="0"/>
          </a:p>
          <a:p>
            <a:r>
              <a:rPr lang="en-US" sz="2000" b="1" dirty="0"/>
              <a:t>Early Leaders:</a:t>
            </a:r>
            <a:r>
              <a:rPr lang="en-US" sz="2000" dirty="0"/>
              <a:t> </a:t>
            </a:r>
            <a:r>
              <a:rPr lang="en-US" sz="2000" dirty="0" err="1"/>
              <a:t>Nawab</a:t>
            </a:r>
            <a:r>
              <a:rPr lang="en-US" sz="2000" dirty="0"/>
              <a:t> </a:t>
            </a:r>
            <a:r>
              <a:rPr lang="en-US" sz="2000" dirty="0" err="1"/>
              <a:t>Salimullah</a:t>
            </a:r>
            <a:r>
              <a:rPr lang="en-US" sz="2000" dirty="0"/>
              <a:t>, Aga Khan, Sir Syed Ahmed Khan</a:t>
            </a:r>
          </a:p>
          <a:p>
            <a:r>
              <a:rPr lang="en-US" sz="2000" b="1" dirty="0"/>
              <a:t>Prominent Later Leader:</a:t>
            </a:r>
            <a:r>
              <a:rPr lang="en-US" sz="2000" dirty="0"/>
              <a:t> Muhammad Ali Jinnah, who transformed it into a </a:t>
            </a:r>
            <a:r>
              <a:rPr lang="en-US" sz="2000" b="1" dirty="0"/>
              <a:t>major nationalist force</a:t>
            </a:r>
            <a:r>
              <a:rPr lang="en-US" sz="2000" dirty="0"/>
              <a:t> advocating for Muslim self-determination.</a:t>
            </a:r>
          </a:p>
          <a:p>
            <a:r>
              <a:rPr lang="en-US" sz="2000" b="1" dirty="0"/>
              <a:t>Major Developments</a:t>
            </a:r>
          </a:p>
          <a:p>
            <a:r>
              <a:rPr lang="en-US" sz="2000" b="1" dirty="0"/>
              <a:t>1906–1930s:</a:t>
            </a:r>
            <a:r>
              <a:rPr lang="en-US" sz="2000" dirty="0"/>
              <a:t> Focused on </a:t>
            </a:r>
            <a:r>
              <a:rPr lang="en-US" sz="2000" b="1" dirty="0"/>
              <a:t>political representation and rights</a:t>
            </a:r>
            <a:r>
              <a:rPr lang="en-US" sz="2000" dirty="0"/>
              <a:t> for Muslims.</a:t>
            </a:r>
          </a:p>
          <a:p>
            <a:r>
              <a:rPr lang="en-US" sz="2000" b="1" dirty="0"/>
              <a:t>1937 Elections:</a:t>
            </a:r>
            <a:r>
              <a:rPr lang="en-US" sz="2000" dirty="0"/>
              <a:t> Muslim League emerged stronger after seeing the </a:t>
            </a:r>
            <a:r>
              <a:rPr lang="en-US" sz="2000" b="1" dirty="0"/>
              <a:t>decline of Muslim influence in provincial governments</a:t>
            </a:r>
            <a:r>
              <a:rPr lang="en-US" sz="2000" dirty="0"/>
              <a:t>.</a:t>
            </a:r>
          </a:p>
          <a:p>
            <a:r>
              <a:rPr lang="en-US" sz="2000" b="1" dirty="0"/>
              <a:t>Lahore Resolution, 1940:</a:t>
            </a:r>
            <a:r>
              <a:rPr lang="en-US" sz="2000" dirty="0"/>
              <a:t> Demanded a </a:t>
            </a:r>
            <a:r>
              <a:rPr lang="en-US" sz="2000" b="1" dirty="0"/>
              <a:t>separate homeland for Muslims</a:t>
            </a:r>
            <a:r>
              <a:rPr lang="en-US" sz="2000" dirty="0"/>
              <a:t>, laying the foundation for </a:t>
            </a:r>
            <a:r>
              <a:rPr lang="en-US" sz="2000" b="1" dirty="0"/>
              <a:t>Pakistan</a:t>
            </a:r>
            <a:r>
              <a:rPr lang="en-US" sz="2000" dirty="0"/>
              <a:t>.</a:t>
            </a:r>
          </a:p>
          <a:p>
            <a:r>
              <a:rPr lang="en-US" sz="2000" dirty="0"/>
              <a:t>Played a </a:t>
            </a:r>
            <a:r>
              <a:rPr lang="en-US" sz="2000" b="1" dirty="0"/>
              <a:t>central role in Muslim politics</a:t>
            </a:r>
            <a:r>
              <a:rPr lang="en-US" sz="2000" dirty="0"/>
              <a:t> during British India, uniting diverse Muslim communities under a single political platform.</a:t>
            </a:r>
          </a:p>
          <a:p>
            <a:endParaRPr lang="en-US" sz="2000" b="1"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836712"/>
            <a:ext cx="8229600" cy="4752528"/>
          </a:xfrm>
        </p:spPr>
        <p:txBody>
          <a:bodyPr>
            <a:normAutofit fontScale="77500" lnSpcReduction="20000"/>
          </a:bodyPr>
          <a:lstStyle/>
          <a:p>
            <a:pPr marL="0" indent="0">
              <a:buNone/>
            </a:pPr>
            <a:endParaRPr lang="en-US" b="1" dirty="0" smtClean="0"/>
          </a:p>
          <a:p>
            <a:r>
              <a:rPr lang="en-US" sz="3600" b="1" dirty="0"/>
              <a:t>Lahore Resolution</a:t>
            </a:r>
            <a:r>
              <a:rPr lang="en-US" b="1" dirty="0"/>
              <a:t>, 1940:</a:t>
            </a:r>
            <a:r>
              <a:rPr lang="en-US" dirty="0"/>
              <a:t> Demanded a </a:t>
            </a:r>
            <a:r>
              <a:rPr lang="en-US" b="1" dirty="0"/>
              <a:t>separate homeland for Muslims</a:t>
            </a:r>
            <a:r>
              <a:rPr lang="en-US" dirty="0"/>
              <a:t>, laying the foundation for </a:t>
            </a:r>
            <a:r>
              <a:rPr lang="en-US" b="1" dirty="0"/>
              <a:t>Pakistan</a:t>
            </a:r>
            <a:r>
              <a:rPr lang="en-US" dirty="0"/>
              <a:t>.</a:t>
            </a:r>
          </a:p>
          <a:p>
            <a:r>
              <a:rPr lang="en-US" dirty="0"/>
              <a:t>Played a </a:t>
            </a:r>
            <a:r>
              <a:rPr lang="en-US" b="1" dirty="0"/>
              <a:t>central role in Muslim politics</a:t>
            </a:r>
            <a:r>
              <a:rPr lang="en-US" dirty="0"/>
              <a:t> during British India, uniting diverse Muslim communities under a single political platform.</a:t>
            </a:r>
          </a:p>
          <a:p>
            <a:endParaRPr lang="en-US" b="1" dirty="0"/>
          </a:p>
          <a:p>
            <a:pPr marL="0" indent="0">
              <a:buNone/>
            </a:pPr>
            <a:r>
              <a:rPr lang="en-US" sz="4100" b="1" dirty="0" smtClean="0"/>
              <a:t>  conclusion</a:t>
            </a:r>
            <a:r>
              <a:rPr lang="en-US" sz="4100" b="1" dirty="0"/>
              <a:t>:</a:t>
            </a:r>
          </a:p>
          <a:p>
            <a:pPr marL="0" indent="0">
              <a:buNone/>
            </a:pPr>
            <a:endParaRPr lang="en-US" b="1" dirty="0"/>
          </a:p>
          <a:p>
            <a:r>
              <a:rPr lang="en-US" dirty="0"/>
              <a:t>Successfully led the demand for a </a:t>
            </a:r>
            <a:r>
              <a:rPr lang="en-US" b="1" dirty="0"/>
              <a:t>separate Muslim nation</a:t>
            </a:r>
            <a:r>
              <a:rPr lang="en-US" dirty="0"/>
              <a:t>, resulting in the </a:t>
            </a:r>
            <a:r>
              <a:rPr lang="en-US" b="1" dirty="0"/>
              <a:t>creation of Pakistan in 1947</a:t>
            </a:r>
            <a:r>
              <a:rPr lang="en-US" dirty="0"/>
              <a:t>.</a:t>
            </a:r>
          </a:p>
          <a:p>
            <a:r>
              <a:rPr lang="en-US" dirty="0"/>
              <a:t>Established the </a:t>
            </a:r>
            <a:r>
              <a:rPr lang="en-US" b="1" dirty="0"/>
              <a:t>political identity of Muslims</a:t>
            </a:r>
            <a:r>
              <a:rPr lang="en-US" dirty="0"/>
              <a:t> in the Indian subcontinent.</a:t>
            </a:r>
          </a:p>
          <a:p>
            <a:endParaRPr lang="en-US" dirty="0"/>
          </a:p>
        </p:txBody>
      </p:sp>
    </p:spTree>
    <p:extLst>
      <p:ext uri="{BB962C8B-B14F-4D97-AF65-F5344CB8AC3E}">
        <p14:creationId xmlns:p14="http://schemas.microsoft.com/office/powerpoint/2010/main" val="237578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92696"/>
            <a:ext cx="8229600" cy="5832648"/>
          </a:xfrm>
        </p:spPr>
        <p:txBody>
          <a:bodyPr>
            <a:noAutofit/>
          </a:bodyPr>
          <a:lstStyle/>
          <a:p>
            <a:r>
              <a:rPr lang="en-US" b="1" dirty="0"/>
              <a:t>Lucknow Pact (1916</a:t>
            </a:r>
            <a:r>
              <a:rPr lang="en-US" b="1" dirty="0" smtClean="0"/>
              <a:t>):</a:t>
            </a:r>
            <a:endParaRPr lang="en-US" b="1" dirty="0"/>
          </a:p>
          <a:p>
            <a:r>
              <a:rPr lang="en-US" sz="2400" b="1" dirty="0" smtClean="0"/>
              <a:t> </a:t>
            </a:r>
            <a:r>
              <a:rPr lang="en-US" sz="2800" b="1" dirty="0" smtClean="0"/>
              <a:t>Background:</a:t>
            </a:r>
            <a:endParaRPr lang="en-US" sz="2800" b="1" dirty="0"/>
          </a:p>
          <a:p>
            <a:r>
              <a:rPr lang="en-US" sz="2400" dirty="0"/>
              <a:t>By the early 1900s, </a:t>
            </a:r>
            <a:r>
              <a:rPr lang="en-US" sz="2400" b="1" dirty="0"/>
              <a:t>Hindus and Muslims were politically divided</a:t>
            </a:r>
            <a:r>
              <a:rPr lang="en-US" sz="2400" dirty="0"/>
              <a:t> under British rule.</a:t>
            </a:r>
          </a:p>
          <a:p>
            <a:r>
              <a:rPr lang="en-US" sz="2400" dirty="0"/>
              <a:t>Both the </a:t>
            </a:r>
            <a:r>
              <a:rPr lang="en-US" sz="2400" b="1" dirty="0"/>
              <a:t>Indian National Congress (INC)</a:t>
            </a:r>
            <a:r>
              <a:rPr lang="en-US" sz="2400" dirty="0"/>
              <a:t> and the </a:t>
            </a:r>
            <a:r>
              <a:rPr lang="en-US" sz="2400" b="1" dirty="0"/>
              <a:t>All India Muslim League (AIML)</a:t>
            </a:r>
            <a:r>
              <a:rPr lang="en-US" sz="2400" dirty="0"/>
              <a:t> realized the need to </a:t>
            </a:r>
            <a:r>
              <a:rPr lang="en-US" sz="2400" b="1" dirty="0"/>
              <a:t>unite for reforms</a:t>
            </a:r>
            <a:r>
              <a:rPr lang="en-US" sz="2400" dirty="0"/>
              <a:t>.</a:t>
            </a:r>
          </a:p>
          <a:p>
            <a:r>
              <a:rPr lang="en-US" sz="2400" dirty="0"/>
              <a:t>The </a:t>
            </a:r>
            <a:r>
              <a:rPr lang="en-US" sz="2400" b="1" dirty="0"/>
              <a:t>Lucknow Pact</a:t>
            </a:r>
            <a:r>
              <a:rPr lang="en-US" sz="2400" dirty="0"/>
              <a:t> was an </a:t>
            </a:r>
            <a:r>
              <a:rPr lang="en-US" sz="2400" b="1" dirty="0"/>
              <a:t>agreement signed on 8 December 1916</a:t>
            </a:r>
            <a:r>
              <a:rPr lang="en-US" sz="2400" dirty="0"/>
              <a:t> to present </a:t>
            </a:r>
            <a:r>
              <a:rPr lang="en-US" sz="2400" b="1" dirty="0"/>
              <a:t>joint demands for constitutional reforms</a:t>
            </a:r>
            <a:r>
              <a:rPr lang="en-US" sz="2400" dirty="0"/>
              <a:t>.</a:t>
            </a:r>
          </a:p>
          <a:p>
            <a:r>
              <a:rPr lang="en-US" sz="2400" b="1" dirty="0"/>
              <a:t>Key Features</a:t>
            </a:r>
          </a:p>
          <a:p>
            <a:r>
              <a:rPr lang="en-US" sz="2400" b="1" dirty="0"/>
              <a:t>Political Cooperation</a:t>
            </a:r>
            <a:r>
              <a:rPr lang="en-US" sz="2400" dirty="0"/>
              <a:t> – Hindus and Muslims agreed to </a:t>
            </a:r>
            <a:r>
              <a:rPr lang="en-US" sz="2400" b="1" dirty="0"/>
              <a:t>work together</a:t>
            </a:r>
            <a:r>
              <a:rPr lang="en-US" sz="2400" dirty="0"/>
              <a:t> in elections and governance.</a:t>
            </a:r>
          </a:p>
          <a:p>
            <a:r>
              <a:rPr lang="en-US" sz="2400" b="1" dirty="0"/>
              <a:t>Separate Electorates</a:t>
            </a:r>
            <a:r>
              <a:rPr lang="en-US" sz="2400" dirty="0"/>
              <a:t> – Muslims retained </a:t>
            </a:r>
            <a:r>
              <a:rPr lang="en-US" sz="2400" b="1" dirty="0"/>
              <a:t>their own electorates</a:t>
            </a:r>
            <a:r>
              <a:rPr lang="en-US" sz="2400" dirty="0"/>
              <a:t> to protect representation.</a:t>
            </a:r>
          </a:p>
          <a:p>
            <a:pPr marL="0" indent="0">
              <a:buNone/>
            </a:pPr>
            <a:endParaRPr lang="en-US" sz="2400" dirty="0"/>
          </a:p>
          <a:p>
            <a:pPr marL="0" indent="0" algn="just">
              <a:buNone/>
            </a:pPr>
            <a:endParaRPr lang="en-US" sz="24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980728"/>
            <a:ext cx="8229600" cy="4824536"/>
          </a:xfrm>
        </p:spPr>
        <p:txBody>
          <a:bodyPr>
            <a:normAutofit fontScale="77500" lnSpcReduction="20000"/>
          </a:bodyPr>
          <a:lstStyle/>
          <a:p>
            <a:r>
              <a:rPr lang="en-US" sz="4100" b="1" dirty="0"/>
              <a:t>Weighted </a:t>
            </a:r>
            <a:r>
              <a:rPr lang="en-US" sz="4100" b="1" dirty="0" smtClean="0"/>
              <a:t>Representation:</a:t>
            </a:r>
            <a:r>
              <a:rPr lang="en-US" sz="4100" dirty="0" smtClean="0"/>
              <a:t> </a:t>
            </a:r>
            <a:r>
              <a:rPr lang="en-US" dirty="0"/>
              <a:t>– In provinces with </a:t>
            </a:r>
            <a:r>
              <a:rPr lang="en-US" b="1" dirty="0"/>
              <a:t>large Muslim populations</a:t>
            </a:r>
            <a:r>
              <a:rPr lang="en-US" dirty="0"/>
              <a:t>, Muslims got </a:t>
            </a:r>
            <a:r>
              <a:rPr lang="en-US" b="1" dirty="0"/>
              <a:t>greater weightage</a:t>
            </a:r>
            <a:r>
              <a:rPr lang="en-US" dirty="0"/>
              <a:t> in legislatures.</a:t>
            </a:r>
          </a:p>
          <a:p>
            <a:r>
              <a:rPr lang="en-US" b="1" dirty="0"/>
              <a:t>Minority Safeguards</a:t>
            </a:r>
            <a:r>
              <a:rPr lang="en-US" dirty="0"/>
              <a:t> – Interests of minorities were to be </a:t>
            </a:r>
            <a:r>
              <a:rPr lang="en-US" b="1" dirty="0"/>
              <a:t>protected</a:t>
            </a:r>
            <a:r>
              <a:rPr lang="en-US" dirty="0"/>
              <a:t> in provincial councils.</a:t>
            </a:r>
          </a:p>
          <a:p>
            <a:r>
              <a:rPr lang="en-US" b="1" dirty="0"/>
              <a:t>Goal</a:t>
            </a:r>
            <a:r>
              <a:rPr lang="en-US" dirty="0"/>
              <a:t> – To demand </a:t>
            </a:r>
            <a:r>
              <a:rPr lang="en-US" b="1" dirty="0"/>
              <a:t>more self-governing powers</a:t>
            </a:r>
            <a:r>
              <a:rPr lang="en-US" dirty="0"/>
              <a:t> from the British.</a:t>
            </a:r>
          </a:p>
          <a:p>
            <a:r>
              <a:rPr lang="en-US" sz="4100" b="1" dirty="0" smtClean="0"/>
              <a:t>Importance:</a:t>
            </a:r>
            <a:endParaRPr lang="en-US" sz="4100" b="1" dirty="0"/>
          </a:p>
          <a:p>
            <a:r>
              <a:rPr lang="en-US" dirty="0"/>
              <a:t>Marked the </a:t>
            </a:r>
            <a:r>
              <a:rPr lang="en-US" b="1" dirty="0"/>
              <a:t>first major cooperation</a:t>
            </a:r>
            <a:r>
              <a:rPr lang="en-US" dirty="0"/>
              <a:t> between </a:t>
            </a:r>
            <a:r>
              <a:rPr lang="en-US" b="1" dirty="0"/>
              <a:t>INC and Muslim League</a:t>
            </a:r>
            <a:r>
              <a:rPr lang="en-US" dirty="0"/>
              <a:t>.</a:t>
            </a:r>
          </a:p>
          <a:p>
            <a:r>
              <a:rPr lang="en-US" dirty="0"/>
              <a:t>Strengthened </a:t>
            </a:r>
            <a:r>
              <a:rPr lang="en-US" b="1" dirty="0"/>
              <a:t>Hindu-Muslim unity</a:t>
            </a:r>
            <a:r>
              <a:rPr lang="en-US" dirty="0"/>
              <a:t> in the freedom struggle.</a:t>
            </a:r>
          </a:p>
          <a:p>
            <a:r>
              <a:rPr lang="en-US" dirty="0"/>
              <a:t>Laid the foundation for </a:t>
            </a:r>
            <a:r>
              <a:rPr lang="en-US" b="1" dirty="0"/>
              <a:t>future constitutional reforms</a:t>
            </a:r>
            <a:r>
              <a:rPr lang="en-US" dirty="0"/>
              <a:t>.</a:t>
            </a:r>
          </a:p>
          <a:p>
            <a:pPr marL="0" indent="0" algn="just">
              <a:buNone/>
            </a:pPr>
            <a:endParaRPr lang="en-US" dirty="0">
              <a:sym typeface="+mn-ea"/>
            </a:endParaRPr>
          </a:p>
          <a:p>
            <a:endParaRPr lang="en-US" dirty="0"/>
          </a:p>
        </p:txBody>
      </p:sp>
    </p:spTree>
    <p:extLst>
      <p:ext uri="{BB962C8B-B14F-4D97-AF65-F5344CB8AC3E}">
        <p14:creationId xmlns:p14="http://schemas.microsoft.com/office/powerpoint/2010/main" val="595245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548680"/>
            <a:ext cx="8229600" cy="5760640"/>
          </a:xfrm>
        </p:spPr>
        <p:txBody>
          <a:bodyPr>
            <a:noAutofit/>
          </a:bodyPr>
          <a:lstStyle/>
          <a:p>
            <a:r>
              <a:rPr lang="en-US" sz="2400" b="1" dirty="0" err="1"/>
              <a:t>Khilafat</a:t>
            </a:r>
            <a:r>
              <a:rPr lang="en-US" sz="2400" b="1" dirty="0"/>
              <a:t> Movement (1919–1924</a:t>
            </a:r>
            <a:r>
              <a:rPr lang="en-US" sz="2400" b="1" dirty="0" smtClean="0"/>
              <a:t>)</a:t>
            </a:r>
            <a:endParaRPr lang="en-US" sz="2400" b="1" dirty="0"/>
          </a:p>
          <a:p>
            <a:r>
              <a:rPr lang="en-US" sz="1700" dirty="0"/>
              <a:t>After </a:t>
            </a:r>
            <a:r>
              <a:rPr lang="en-US" sz="1700" b="1" dirty="0"/>
              <a:t>World War I (1914–1918)</a:t>
            </a:r>
            <a:r>
              <a:rPr lang="en-US" sz="1700" dirty="0"/>
              <a:t>, the </a:t>
            </a:r>
            <a:r>
              <a:rPr lang="en-US" sz="1700" b="1" dirty="0"/>
              <a:t>Ottoman Empire</a:t>
            </a:r>
            <a:r>
              <a:rPr lang="en-US" sz="1700" dirty="0"/>
              <a:t> was defeated, and the </a:t>
            </a:r>
            <a:r>
              <a:rPr lang="en-US" sz="1700" b="1" dirty="0"/>
              <a:t>Treaty of </a:t>
            </a:r>
            <a:r>
              <a:rPr lang="en-US" sz="1700" b="1" dirty="0" smtClean="0"/>
              <a:t>Sevres </a:t>
            </a:r>
            <a:r>
              <a:rPr lang="en-US" sz="1700" b="1" dirty="0"/>
              <a:t>(1920)</a:t>
            </a:r>
            <a:r>
              <a:rPr lang="en-US" sz="1700" dirty="0"/>
              <a:t> was imposed.</a:t>
            </a:r>
          </a:p>
          <a:p>
            <a:r>
              <a:rPr lang="en-US" sz="1700" dirty="0"/>
              <a:t>The treaty </a:t>
            </a:r>
            <a:r>
              <a:rPr lang="en-US" sz="1700" b="1" dirty="0"/>
              <a:t>weakened the Ottoman Caliphate</a:t>
            </a:r>
            <a:r>
              <a:rPr lang="en-US" sz="1700" dirty="0"/>
              <a:t>, which was considered the </a:t>
            </a:r>
            <a:r>
              <a:rPr lang="en-US" sz="1700" b="1" dirty="0"/>
              <a:t>spiritual head of Muslims worldwide</a:t>
            </a:r>
            <a:r>
              <a:rPr lang="en-US" sz="1700" dirty="0"/>
              <a:t>.</a:t>
            </a:r>
          </a:p>
          <a:p>
            <a:r>
              <a:rPr lang="en-US" sz="1700" dirty="0"/>
              <a:t>Indian Muslims felt this was a </a:t>
            </a:r>
            <a:r>
              <a:rPr lang="en-US" sz="1700" b="1" dirty="0"/>
              <a:t>threat to Islam</a:t>
            </a:r>
            <a:r>
              <a:rPr lang="en-US" sz="1700" dirty="0"/>
              <a:t>, as the Caliph was the </a:t>
            </a:r>
            <a:r>
              <a:rPr lang="en-US" sz="1700" b="1" dirty="0"/>
              <a:t>religious leader of Sunni Muslims</a:t>
            </a:r>
            <a:r>
              <a:rPr lang="en-US" sz="1700" dirty="0" smtClean="0"/>
              <a:t>.</a:t>
            </a:r>
            <a:endParaRPr lang="en-US" sz="1700" b="1" dirty="0"/>
          </a:p>
          <a:p>
            <a:r>
              <a:rPr lang="en-US" sz="2000" b="1" dirty="0"/>
              <a:t>Countries Involved in World War I (1914–1918)</a:t>
            </a:r>
          </a:p>
          <a:p>
            <a:r>
              <a:rPr lang="en-US" sz="1700" b="1" dirty="0"/>
              <a:t>Allied Powers (Won the war)</a:t>
            </a:r>
          </a:p>
          <a:p>
            <a:r>
              <a:rPr lang="en-US" sz="1700" dirty="0"/>
              <a:t>United Kingdom (Britain)</a:t>
            </a:r>
          </a:p>
          <a:p>
            <a:r>
              <a:rPr lang="en-US" sz="1700" dirty="0"/>
              <a:t>France</a:t>
            </a:r>
          </a:p>
          <a:p>
            <a:r>
              <a:rPr lang="en-US" sz="1700" dirty="0"/>
              <a:t>Russia (till 1917)</a:t>
            </a:r>
          </a:p>
          <a:p>
            <a:r>
              <a:rPr lang="en-US" sz="1700" dirty="0"/>
              <a:t>Italy</a:t>
            </a:r>
          </a:p>
          <a:p>
            <a:r>
              <a:rPr lang="en-US" sz="1700" dirty="0"/>
              <a:t>United States (joined 1917)</a:t>
            </a:r>
          </a:p>
          <a:p>
            <a:r>
              <a:rPr lang="en-US" sz="1700" dirty="0"/>
              <a:t>Japan</a:t>
            </a:r>
          </a:p>
          <a:p>
            <a:r>
              <a:rPr lang="en-US" sz="1700" dirty="0"/>
              <a:t>Belgium</a:t>
            </a:r>
          </a:p>
          <a:p>
            <a:r>
              <a:rPr lang="en-US" sz="1700" dirty="0"/>
              <a:t>Serbia</a:t>
            </a:r>
          </a:p>
          <a:p>
            <a:pPr marL="0" indent="0" algn="just">
              <a:buNone/>
            </a:pPr>
            <a:endParaRPr lang="en-US" sz="17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92696"/>
            <a:ext cx="8229600" cy="5112568"/>
          </a:xfrm>
        </p:spPr>
        <p:txBody>
          <a:bodyPr>
            <a:noAutofit/>
          </a:bodyPr>
          <a:lstStyle/>
          <a:p>
            <a:r>
              <a:rPr lang="en-US" sz="2800" b="1" dirty="0"/>
              <a:t>Central Powers (Lost the war)</a:t>
            </a:r>
          </a:p>
          <a:p>
            <a:r>
              <a:rPr lang="en-US" sz="2600" dirty="0"/>
              <a:t>Germany</a:t>
            </a:r>
          </a:p>
          <a:p>
            <a:r>
              <a:rPr lang="en-US" sz="2600" dirty="0"/>
              <a:t>Austria-Hungary</a:t>
            </a:r>
          </a:p>
          <a:p>
            <a:r>
              <a:rPr lang="en-US" sz="2600" dirty="0"/>
              <a:t>Ottoman Empire (Turkey)</a:t>
            </a:r>
          </a:p>
          <a:p>
            <a:r>
              <a:rPr lang="en-US" sz="2600" dirty="0"/>
              <a:t>Bulgaria</a:t>
            </a:r>
          </a:p>
          <a:p>
            <a:r>
              <a:rPr lang="en-US" sz="2600" b="1" dirty="0"/>
              <a:t>Objectives</a:t>
            </a:r>
          </a:p>
          <a:p>
            <a:r>
              <a:rPr lang="en-US" sz="2600" dirty="0"/>
              <a:t>To </a:t>
            </a:r>
            <a:r>
              <a:rPr lang="en-US" sz="2600" b="1" dirty="0"/>
              <a:t>protect the Caliphate</a:t>
            </a:r>
            <a:r>
              <a:rPr lang="en-US" sz="2600" dirty="0"/>
              <a:t> and </a:t>
            </a:r>
            <a:r>
              <a:rPr lang="en-US" sz="2600" b="1" dirty="0"/>
              <a:t>support the Ottoman Sultan</a:t>
            </a:r>
            <a:r>
              <a:rPr lang="en-US" sz="2600" dirty="0"/>
              <a:t> as the Caliph.</a:t>
            </a:r>
          </a:p>
          <a:p>
            <a:r>
              <a:rPr lang="en-US" sz="2600" dirty="0"/>
              <a:t>To </a:t>
            </a:r>
            <a:r>
              <a:rPr lang="en-US" sz="2600" b="1" dirty="0"/>
              <a:t>oppose British policies</a:t>
            </a:r>
            <a:r>
              <a:rPr lang="en-US" sz="2600" dirty="0"/>
              <a:t> that threatened the Caliphate.</a:t>
            </a:r>
          </a:p>
          <a:p>
            <a:r>
              <a:rPr lang="en-US" sz="2600" dirty="0"/>
              <a:t>To promote </a:t>
            </a:r>
            <a:r>
              <a:rPr lang="en-US" sz="2600" b="1" dirty="0"/>
              <a:t>unity among Indian Muslims</a:t>
            </a:r>
            <a:r>
              <a:rPr lang="en-US" sz="2600" dirty="0"/>
              <a:t> against colonial rule.</a:t>
            </a:r>
          </a:p>
          <a:p>
            <a:pPr marL="0" indent="0">
              <a:buNone/>
            </a:pPr>
            <a:r>
              <a:rPr lang="en-US" sz="2600" b="1" dirty="0" smtClean="0"/>
              <a:t> </a:t>
            </a:r>
            <a:endParaRPr lang="en-US" sz="2600" b="1" dirty="0"/>
          </a:p>
          <a:p>
            <a:endParaRPr lang="en-US" sz="2600" dirty="0"/>
          </a:p>
        </p:txBody>
      </p:sp>
    </p:spTree>
    <p:extLst>
      <p:ext uri="{BB962C8B-B14F-4D97-AF65-F5344CB8AC3E}">
        <p14:creationId xmlns:p14="http://schemas.microsoft.com/office/powerpoint/2010/main" val="1636062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764704"/>
            <a:ext cx="8229600" cy="4968552"/>
          </a:xfrm>
        </p:spPr>
        <p:txBody>
          <a:bodyPr>
            <a:noAutofit/>
          </a:bodyPr>
          <a:lstStyle/>
          <a:p>
            <a:r>
              <a:rPr lang="en-US" b="1" dirty="0"/>
              <a:t>Key </a:t>
            </a:r>
            <a:r>
              <a:rPr lang="en-US" b="1" dirty="0" smtClean="0"/>
              <a:t>Leaders:</a:t>
            </a:r>
            <a:endParaRPr lang="en-US" b="1" dirty="0"/>
          </a:p>
          <a:p>
            <a:r>
              <a:rPr lang="en-US" sz="2400" b="1" dirty="0" err="1"/>
              <a:t>Maulana</a:t>
            </a:r>
            <a:r>
              <a:rPr lang="en-US" sz="2400" b="1" dirty="0"/>
              <a:t> Muhammad Ali</a:t>
            </a:r>
            <a:r>
              <a:rPr lang="en-US" sz="2400" dirty="0"/>
              <a:t> and </a:t>
            </a:r>
            <a:r>
              <a:rPr lang="en-US" sz="2400" b="1" dirty="0" err="1"/>
              <a:t>Maulana</a:t>
            </a:r>
            <a:r>
              <a:rPr lang="en-US" sz="2400" b="1" dirty="0"/>
              <a:t> </a:t>
            </a:r>
            <a:r>
              <a:rPr lang="en-US" sz="2400" b="1" dirty="0" err="1"/>
              <a:t>Shaukat</a:t>
            </a:r>
            <a:r>
              <a:rPr lang="en-US" sz="2400" b="1" dirty="0"/>
              <a:t> Ali</a:t>
            </a:r>
            <a:r>
              <a:rPr lang="en-US" sz="2400" dirty="0"/>
              <a:t> – main leaders of the movement.</a:t>
            </a:r>
          </a:p>
          <a:p>
            <a:r>
              <a:rPr lang="en-US" sz="2400" b="1" dirty="0"/>
              <a:t>Mahatma Gandhi</a:t>
            </a:r>
            <a:r>
              <a:rPr lang="en-US" sz="2400" dirty="0"/>
              <a:t> – supported the </a:t>
            </a:r>
            <a:r>
              <a:rPr lang="en-US" sz="2400" dirty="0" err="1"/>
              <a:t>Khilafat</a:t>
            </a:r>
            <a:r>
              <a:rPr lang="en-US" sz="2400" dirty="0"/>
              <a:t> Movement, linking it with the </a:t>
            </a:r>
            <a:r>
              <a:rPr lang="en-US" sz="2400" b="1" dirty="0"/>
              <a:t>Non-Cooperation Movement</a:t>
            </a:r>
            <a:r>
              <a:rPr lang="en-US" sz="2400" dirty="0"/>
              <a:t> for Indian independence.</a:t>
            </a:r>
          </a:p>
          <a:p>
            <a:r>
              <a:rPr lang="en-US" sz="2400" b="1" dirty="0" smtClean="0"/>
              <a:t>Major </a:t>
            </a:r>
            <a:r>
              <a:rPr lang="en-US" sz="2400" b="1" dirty="0"/>
              <a:t>Activities</a:t>
            </a:r>
          </a:p>
          <a:p>
            <a:r>
              <a:rPr lang="en-US" sz="2400" b="1" dirty="0"/>
              <a:t>Mass protests, petitions, and strikes</a:t>
            </a:r>
            <a:r>
              <a:rPr lang="en-US" sz="2400" dirty="0"/>
              <a:t> against British policies.</a:t>
            </a:r>
          </a:p>
          <a:p>
            <a:r>
              <a:rPr lang="en-US" sz="2400" b="1" dirty="0"/>
              <a:t>Boycott of British goods, schools, and courts</a:t>
            </a:r>
            <a:r>
              <a:rPr lang="en-US" sz="2400" dirty="0"/>
              <a:t> as part of Non-Cooperation Movement.</a:t>
            </a:r>
          </a:p>
          <a:p>
            <a:r>
              <a:rPr lang="en-US" sz="2400" b="1" dirty="0"/>
              <a:t>All India </a:t>
            </a:r>
            <a:r>
              <a:rPr lang="en-US" sz="2400" b="1" dirty="0" err="1"/>
              <a:t>Khilafat</a:t>
            </a:r>
            <a:r>
              <a:rPr lang="en-US" sz="2400" b="1" dirty="0"/>
              <a:t> Committee</a:t>
            </a:r>
            <a:r>
              <a:rPr lang="en-US" sz="2400" dirty="0"/>
              <a:t> was formed to coordinate efforts.</a:t>
            </a:r>
          </a:p>
          <a:p>
            <a:endParaRPr lang="en-US" sz="2400" dirty="0"/>
          </a:p>
        </p:txBody>
      </p:sp>
    </p:spTree>
    <p:extLst>
      <p:ext uri="{BB962C8B-B14F-4D97-AF65-F5344CB8AC3E}">
        <p14:creationId xmlns:p14="http://schemas.microsoft.com/office/powerpoint/2010/main" val="1109904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764704"/>
            <a:ext cx="8229600" cy="5256584"/>
          </a:xfrm>
        </p:spPr>
        <p:txBody>
          <a:bodyPr>
            <a:noAutofit/>
          </a:bodyPr>
          <a:lstStyle/>
          <a:p>
            <a:r>
              <a:rPr lang="en-US" sz="2700" b="1" dirty="0" smtClean="0"/>
              <a:t>OUTPUT:</a:t>
            </a:r>
          </a:p>
          <a:p>
            <a:r>
              <a:rPr lang="en-US" sz="2700" b="1" dirty="0" smtClean="0"/>
              <a:t>Initially </a:t>
            </a:r>
            <a:r>
              <a:rPr lang="en-US" sz="2700" b="1" dirty="0"/>
              <a:t>strength</a:t>
            </a:r>
            <a:r>
              <a:rPr lang="en-US" sz="2700" dirty="0"/>
              <a:t>ened </a:t>
            </a:r>
            <a:r>
              <a:rPr lang="en-US" sz="2700" b="1" dirty="0"/>
              <a:t>Hindu-Muslim unity</a:t>
            </a:r>
            <a:r>
              <a:rPr lang="en-US" sz="2700" dirty="0"/>
              <a:t> under Gandhi’s leadership.</a:t>
            </a:r>
          </a:p>
          <a:p>
            <a:r>
              <a:rPr lang="en-US" sz="2700" dirty="0"/>
              <a:t>The movement </a:t>
            </a:r>
            <a:r>
              <a:rPr lang="en-US" sz="2700" b="1" dirty="0"/>
              <a:t>lost momentum by 1924</a:t>
            </a:r>
            <a:r>
              <a:rPr lang="en-US" sz="2700" dirty="0"/>
              <a:t> after:</a:t>
            </a:r>
          </a:p>
          <a:p>
            <a:pPr lvl="1"/>
            <a:r>
              <a:rPr lang="en-US" sz="2700" dirty="0"/>
              <a:t>The </a:t>
            </a:r>
            <a:r>
              <a:rPr lang="en-US" sz="2700" b="1" dirty="0"/>
              <a:t>abolition of the Caliphate</a:t>
            </a:r>
            <a:r>
              <a:rPr lang="en-US" sz="2700" dirty="0"/>
              <a:t> by Mustafa </a:t>
            </a:r>
            <a:r>
              <a:rPr lang="en-US" sz="2700" dirty="0" smtClean="0"/>
              <a:t>Kamal </a:t>
            </a:r>
            <a:r>
              <a:rPr lang="en-US" sz="2700" dirty="0"/>
              <a:t>Atatürk in Turkey (1924).</a:t>
            </a:r>
          </a:p>
          <a:p>
            <a:pPr lvl="1"/>
            <a:r>
              <a:rPr lang="en-US" sz="2700" dirty="0"/>
              <a:t>Growing differences between </a:t>
            </a:r>
            <a:r>
              <a:rPr lang="en-US" sz="2700" b="1" dirty="0"/>
              <a:t>Hindu and Muslim political interests</a:t>
            </a:r>
            <a:r>
              <a:rPr lang="en-US" sz="2700" dirty="0"/>
              <a:t>.</a:t>
            </a:r>
          </a:p>
          <a:p>
            <a:r>
              <a:rPr lang="en-US" sz="2700" dirty="0"/>
              <a:t>Despite its failure, the movement had a </a:t>
            </a:r>
            <a:r>
              <a:rPr lang="en-US" sz="2700" b="1" dirty="0"/>
              <a:t>significant impact on India’s independence struggle</a:t>
            </a:r>
            <a:r>
              <a:rPr lang="en-US" sz="2700" dirty="0"/>
              <a:t>, encouraging </a:t>
            </a:r>
            <a:r>
              <a:rPr lang="en-US" sz="2700" b="1" dirty="0"/>
              <a:t>mass mobilization</a:t>
            </a:r>
            <a:r>
              <a:rPr lang="en-US" sz="2700" dirty="0"/>
              <a:t> against British rule.</a:t>
            </a:r>
          </a:p>
          <a:p>
            <a:endParaRPr lang="en-US" sz="2700" dirty="0"/>
          </a:p>
        </p:txBody>
      </p:sp>
    </p:spTree>
    <p:extLst>
      <p:ext uri="{BB962C8B-B14F-4D97-AF65-F5344CB8AC3E}">
        <p14:creationId xmlns:p14="http://schemas.microsoft.com/office/powerpoint/2010/main" val="2834562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8839" y="620688"/>
            <a:ext cx="8229600" cy="720080"/>
          </a:xfrm>
        </p:spPr>
        <p:txBody>
          <a:bodyPr>
            <a:normAutofit/>
          </a:bodyPr>
          <a:lstStyle/>
          <a:p>
            <a:r>
              <a:rPr lang="en-US" sz="3200" b="1" dirty="0"/>
              <a:t>Simon Commission (1927–1930)</a:t>
            </a:r>
          </a:p>
        </p:txBody>
      </p:sp>
      <p:sp>
        <p:nvSpPr>
          <p:cNvPr id="5" name="Content Placeholder 4"/>
          <p:cNvSpPr>
            <a:spLocks noGrp="1"/>
          </p:cNvSpPr>
          <p:nvPr>
            <p:ph idx="1"/>
          </p:nvPr>
        </p:nvSpPr>
        <p:spPr>
          <a:xfrm>
            <a:off x="507860" y="1556792"/>
            <a:ext cx="8229600" cy="4493096"/>
          </a:xfrm>
        </p:spPr>
        <p:txBody>
          <a:bodyPr>
            <a:normAutofit fontScale="92500" lnSpcReduction="20000"/>
          </a:bodyPr>
          <a:lstStyle/>
          <a:p>
            <a:r>
              <a:rPr lang="en-US" b="1" dirty="0" smtClean="0"/>
              <a:t>Background:</a:t>
            </a:r>
            <a:endParaRPr lang="en-US" b="1" dirty="0"/>
          </a:p>
          <a:p>
            <a:r>
              <a:rPr lang="en-US" dirty="0"/>
              <a:t>After the </a:t>
            </a:r>
            <a:r>
              <a:rPr lang="en-US" b="1" dirty="0"/>
              <a:t>Government of India Act 1919</a:t>
            </a:r>
            <a:r>
              <a:rPr lang="en-US" dirty="0"/>
              <a:t>, India had </a:t>
            </a:r>
            <a:r>
              <a:rPr lang="en-US" b="1" dirty="0" err="1"/>
              <a:t>dyarchical</a:t>
            </a:r>
            <a:r>
              <a:rPr lang="en-US" b="1" dirty="0"/>
              <a:t> provincial governments</a:t>
            </a:r>
            <a:r>
              <a:rPr lang="en-US" dirty="0"/>
              <a:t>, but the British promised further reforms.</a:t>
            </a:r>
          </a:p>
          <a:p>
            <a:r>
              <a:rPr lang="en-US" dirty="0"/>
              <a:t>In </a:t>
            </a:r>
            <a:r>
              <a:rPr lang="en-US" b="1" dirty="0"/>
              <a:t>1927</a:t>
            </a:r>
            <a:r>
              <a:rPr lang="en-US" dirty="0"/>
              <a:t>, the British government appointed a </a:t>
            </a:r>
            <a:r>
              <a:rPr lang="en-US" b="1" dirty="0"/>
              <a:t>commission to review constitutional reforms in India</a:t>
            </a:r>
            <a:r>
              <a:rPr lang="en-US" dirty="0"/>
              <a:t>.</a:t>
            </a:r>
          </a:p>
          <a:p>
            <a:r>
              <a:rPr lang="en-US" dirty="0"/>
              <a:t>The </a:t>
            </a:r>
            <a:r>
              <a:rPr lang="en-US" b="1" dirty="0"/>
              <a:t>commission was headed by Sir John Simon</a:t>
            </a:r>
            <a:r>
              <a:rPr lang="en-US" dirty="0"/>
              <a:t> and included </a:t>
            </a:r>
            <a:r>
              <a:rPr lang="en-US" b="1" dirty="0"/>
              <a:t>all British members</a:t>
            </a:r>
            <a:r>
              <a:rPr lang="en-US" dirty="0"/>
              <a:t>—</a:t>
            </a:r>
            <a:r>
              <a:rPr lang="en-US" b="1" dirty="0"/>
              <a:t>no Indian representatives were included</a:t>
            </a:r>
            <a:r>
              <a:rPr lang="en-US" dirty="0"/>
              <a:t>, which caused widespread resentment.</a:t>
            </a:r>
          </a:p>
          <a:p>
            <a:pPr marL="0" indent="0">
              <a:buNone/>
            </a:pPr>
            <a:endParaRPr lang="en-US" b="1"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908720"/>
            <a:ext cx="8229600" cy="4824536"/>
          </a:xfrm>
        </p:spPr>
        <p:txBody>
          <a:bodyPr>
            <a:noAutofit/>
          </a:bodyPr>
          <a:lstStyle/>
          <a:p>
            <a:r>
              <a:rPr lang="en-US" sz="2800" b="1" dirty="0" smtClean="0"/>
              <a:t>Objectives:</a:t>
            </a:r>
            <a:endParaRPr lang="en-US" sz="2800" b="1" dirty="0"/>
          </a:p>
          <a:p>
            <a:r>
              <a:rPr lang="en-US" sz="2400" dirty="0"/>
              <a:t>To </a:t>
            </a:r>
            <a:r>
              <a:rPr lang="en-US" sz="2400" b="1" dirty="0"/>
              <a:t>review the working of the Government of India Act 1919</a:t>
            </a:r>
            <a:r>
              <a:rPr lang="en-US" sz="2400" dirty="0"/>
              <a:t>.</a:t>
            </a:r>
          </a:p>
          <a:p>
            <a:r>
              <a:rPr lang="en-US" sz="2400" dirty="0"/>
              <a:t>To </a:t>
            </a:r>
            <a:r>
              <a:rPr lang="en-US" sz="2400" b="1" dirty="0"/>
              <a:t>suggest changes for constitutional reforms</a:t>
            </a:r>
            <a:r>
              <a:rPr lang="en-US" sz="2400" dirty="0"/>
              <a:t> in India.</a:t>
            </a:r>
          </a:p>
          <a:p>
            <a:r>
              <a:rPr lang="en-US" sz="2800" b="1" dirty="0" smtClean="0"/>
              <a:t>Indian Reaction:</a:t>
            </a:r>
            <a:endParaRPr lang="en-US" sz="2800" b="1" dirty="0"/>
          </a:p>
          <a:p>
            <a:r>
              <a:rPr lang="en-US" sz="2400" dirty="0"/>
              <a:t>Indians opposed the commission because </a:t>
            </a:r>
            <a:r>
              <a:rPr lang="en-US" sz="2400" b="1" dirty="0"/>
              <a:t>it had no Indian members</a:t>
            </a:r>
            <a:r>
              <a:rPr lang="en-US" sz="2400" dirty="0"/>
              <a:t>.</a:t>
            </a:r>
          </a:p>
          <a:p>
            <a:r>
              <a:rPr lang="en-US" sz="2400" dirty="0"/>
              <a:t>The slogan </a:t>
            </a:r>
            <a:r>
              <a:rPr lang="en-US" sz="2400" b="1" dirty="0"/>
              <a:t>“Simon Go Back!”</a:t>
            </a:r>
            <a:r>
              <a:rPr lang="en-US" sz="2400" dirty="0"/>
              <a:t> became popular across India.</a:t>
            </a:r>
          </a:p>
          <a:p>
            <a:r>
              <a:rPr lang="en-US" sz="2400" b="1" dirty="0"/>
              <a:t>All political parties, including the Congress and Muslim League</a:t>
            </a:r>
            <a:r>
              <a:rPr lang="en-US" sz="2400" dirty="0"/>
              <a:t>, protested against it.</a:t>
            </a:r>
          </a:p>
          <a:p>
            <a:r>
              <a:rPr lang="en-US" sz="2400" b="1" dirty="0"/>
              <a:t>Mass demonstrations, </a:t>
            </a:r>
            <a:r>
              <a:rPr lang="en-US" sz="2400" b="1" dirty="0" smtClean="0"/>
              <a:t> </a:t>
            </a:r>
            <a:r>
              <a:rPr lang="en-US" sz="2400" b="1" dirty="0"/>
              <a:t>(strikes), and boycotts</a:t>
            </a:r>
            <a:r>
              <a:rPr lang="en-US" sz="2400" dirty="0"/>
              <a:t> were organized.</a:t>
            </a:r>
          </a:p>
          <a:p>
            <a:pPr marL="0" indent="0">
              <a:buNone/>
            </a:pPr>
            <a:endParaRPr lang="en-US" sz="2400" b="1" dirty="0"/>
          </a:p>
          <a:p>
            <a:endParaRPr lang="en-US" sz="2400" dirty="0"/>
          </a:p>
        </p:txBody>
      </p:sp>
    </p:spTree>
    <p:extLst>
      <p:ext uri="{BB962C8B-B14F-4D97-AF65-F5344CB8AC3E}">
        <p14:creationId xmlns:p14="http://schemas.microsoft.com/office/powerpoint/2010/main" val="596680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400600"/>
          </a:xfrm>
        </p:spPr>
        <p:txBody>
          <a:bodyPr>
            <a:noAutofit/>
          </a:bodyPr>
          <a:lstStyle/>
          <a:p>
            <a:pPr marL="0" indent="0">
              <a:buNone/>
            </a:pPr>
            <a:r>
              <a:rPr lang="en-US" sz="2300" b="1" dirty="0" smtClean="0"/>
              <a:t>  Key Events:</a:t>
            </a:r>
          </a:p>
          <a:p>
            <a:r>
              <a:rPr lang="en-US" sz="2300" b="1" dirty="0" smtClean="0"/>
              <a:t>1928</a:t>
            </a:r>
            <a:r>
              <a:rPr lang="en-US" sz="2300" b="1" dirty="0"/>
              <a:t>:</a:t>
            </a:r>
            <a:r>
              <a:rPr lang="en-US" sz="2300" dirty="0"/>
              <a:t> The commission arrived in India and faced </a:t>
            </a:r>
            <a:r>
              <a:rPr lang="en-US" sz="2300" b="1" dirty="0"/>
              <a:t>nationwide </a:t>
            </a:r>
            <a:r>
              <a:rPr lang="en-US" sz="2300" b="1" dirty="0" smtClean="0"/>
              <a:t>protests</a:t>
            </a:r>
            <a:r>
              <a:rPr lang="en-US" sz="2300" dirty="0"/>
              <a:t>.</a:t>
            </a:r>
          </a:p>
          <a:p>
            <a:r>
              <a:rPr lang="en-US" sz="2300" b="1" dirty="0"/>
              <a:t>Indian National Congress</a:t>
            </a:r>
            <a:r>
              <a:rPr lang="en-US" sz="2300" dirty="0"/>
              <a:t> and other parties prepared </a:t>
            </a:r>
            <a:r>
              <a:rPr lang="en-US" sz="2300" b="1" dirty="0"/>
              <a:t>alternative proposals</a:t>
            </a:r>
            <a:r>
              <a:rPr lang="en-US" sz="2300" dirty="0"/>
              <a:t> for constitutional reforms.</a:t>
            </a:r>
          </a:p>
          <a:p>
            <a:r>
              <a:rPr lang="en-US" sz="2300" b="1" dirty="0" err="1"/>
              <a:t>Motilal</a:t>
            </a:r>
            <a:r>
              <a:rPr lang="en-US" sz="2300" b="1" dirty="0"/>
              <a:t> Nehru</a:t>
            </a:r>
            <a:r>
              <a:rPr lang="en-US" sz="2300" dirty="0"/>
              <a:t> and other leaders submitted the </a:t>
            </a:r>
            <a:r>
              <a:rPr lang="en-US" sz="2300" b="1" dirty="0"/>
              <a:t>Nehru Report (1928)</a:t>
            </a:r>
            <a:r>
              <a:rPr lang="en-US" sz="2300" dirty="0"/>
              <a:t> as a counter to the Simon Commission.</a:t>
            </a:r>
          </a:p>
          <a:p>
            <a:r>
              <a:rPr lang="en-US" sz="2300" b="1" dirty="0" smtClean="0"/>
              <a:t> Outcome:</a:t>
            </a:r>
            <a:endParaRPr lang="en-US" sz="2300" b="1" dirty="0"/>
          </a:p>
          <a:p>
            <a:r>
              <a:rPr lang="en-US" sz="2300" dirty="0"/>
              <a:t>The commission </a:t>
            </a:r>
            <a:r>
              <a:rPr lang="en-US" sz="2300" b="1" dirty="0"/>
              <a:t>ignored Indian aspirations</a:t>
            </a:r>
            <a:r>
              <a:rPr lang="en-US" sz="2300" dirty="0"/>
              <a:t>, but the protests united Indians against British rule.</a:t>
            </a:r>
          </a:p>
          <a:p>
            <a:r>
              <a:rPr lang="en-US" sz="2300" dirty="0"/>
              <a:t>The </a:t>
            </a:r>
            <a:r>
              <a:rPr lang="en-US" sz="2300" b="1" dirty="0"/>
              <a:t>Nehru Report</a:t>
            </a:r>
            <a:r>
              <a:rPr lang="en-US" sz="2300" dirty="0"/>
              <a:t> became a </a:t>
            </a:r>
            <a:r>
              <a:rPr lang="en-US" sz="2300" b="1" dirty="0"/>
              <a:t>basis for future constitutional discussions</a:t>
            </a:r>
            <a:r>
              <a:rPr lang="en-US" sz="2300" dirty="0"/>
              <a:t>.</a:t>
            </a:r>
          </a:p>
          <a:p>
            <a:r>
              <a:rPr lang="en-US" sz="2300" dirty="0"/>
              <a:t>Strengthened </a:t>
            </a:r>
            <a:r>
              <a:rPr lang="en-US" sz="2300" b="1" dirty="0"/>
              <a:t>nationalist unity</a:t>
            </a:r>
            <a:r>
              <a:rPr lang="en-US" sz="2300" dirty="0"/>
              <a:t> and prepared the ground for </a:t>
            </a:r>
            <a:r>
              <a:rPr lang="en-US" sz="2300" b="1" dirty="0"/>
              <a:t>Civil Disobedience and Independence movements</a:t>
            </a:r>
            <a:r>
              <a:rPr lang="en-US" sz="2300" dirty="0"/>
              <a:t> in the 1930s.</a:t>
            </a:r>
          </a:p>
          <a:p>
            <a:endParaRPr lang="en-US" sz="2300" dirty="0"/>
          </a:p>
        </p:txBody>
      </p:sp>
    </p:spTree>
    <p:extLst>
      <p:ext uri="{BB962C8B-B14F-4D97-AF65-F5344CB8AC3E}">
        <p14:creationId xmlns:p14="http://schemas.microsoft.com/office/powerpoint/2010/main" val="1847581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836712"/>
            <a:ext cx="8229600" cy="5112603"/>
          </a:xfrm>
        </p:spPr>
        <p:txBody>
          <a:bodyPr>
            <a:noAutofit/>
          </a:bodyPr>
          <a:lstStyle/>
          <a:p>
            <a:r>
              <a:rPr lang="en-US" sz="2800" b="1" dirty="0"/>
              <a:t>Nehru Report (1928</a:t>
            </a:r>
            <a:r>
              <a:rPr lang="en-US" sz="2800" b="1" dirty="0" smtClean="0"/>
              <a:t>):</a:t>
            </a:r>
            <a:endParaRPr lang="en-US" sz="2800" b="1" dirty="0"/>
          </a:p>
          <a:p>
            <a:pPr marL="0" indent="0">
              <a:buNone/>
            </a:pPr>
            <a:endParaRPr lang="en-US" sz="2000" b="1" dirty="0"/>
          </a:p>
          <a:p>
            <a:r>
              <a:rPr lang="en-US" sz="2000" dirty="0"/>
              <a:t>After the </a:t>
            </a:r>
            <a:r>
              <a:rPr lang="en-US" sz="2000" b="1" dirty="0"/>
              <a:t>Simon Commission (1927)</a:t>
            </a:r>
            <a:r>
              <a:rPr lang="en-US" sz="2000" dirty="0"/>
              <a:t>, Indians demanded </a:t>
            </a:r>
            <a:r>
              <a:rPr lang="en-US" sz="2000" b="1" dirty="0"/>
              <a:t>constitutional reforms</a:t>
            </a:r>
            <a:r>
              <a:rPr lang="en-US" sz="2000" dirty="0"/>
              <a:t>.</a:t>
            </a:r>
          </a:p>
          <a:p>
            <a:r>
              <a:rPr lang="en-US" sz="2000" dirty="0"/>
              <a:t>All parties wanted </a:t>
            </a:r>
            <a:r>
              <a:rPr lang="en-US" sz="2000" b="1" dirty="0"/>
              <a:t>Indian representation</a:t>
            </a:r>
            <a:r>
              <a:rPr lang="en-US" sz="2000" dirty="0"/>
              <a:t> and </a:t>
            </a:r>
            <a:r>
              <a:rPr lang="en-US" sz="2000" b="1" dirty="0"/>
              <a:t>self-governance</a:t>
            </a:r>
            <a:r>
              <a:rPr lang="en-US" sz="2000" dirty="0"/>
              <a:t>.</a:t>
            </a:r>
          </a:p>
          <a:p>
            <a:r>
              <a:rPr lang="en-US" sz="2000" b="1" dirty="0" err="1"/>
              <a:t>Motilal</a:t>
            </a:r>
            <a:r>
              <a:rPr lang="en-US" sz="2000" b="1" dirty="0"/>
              <a:t> Nehru</a:t>
            </a:r>
            <a:r>
              <a:rPr lang="en-US" sz="2000" dirty="0"/>
              <a:t> led a committee to draft a </a:t>
            </a:r>
            <a:r>
              <a:rPr lang="en-US" sz="2000" b="1" dirty="0"/>
              <a:t>proposed constitution</a:t>
            </a:r>
            <a:r>
              <a:rPr lang="en-US" sz="2000" dirty="0"/>
              <a:t> for India.</a:t>
            </a:r>
          </a:p>
          <a:p>
            <a:r>
              <a:rPr lang="en-US" sz="2400" b="1" dirty="0" smtClean="0"/>
              <a:t>Key Features:</a:t>
            </a:r>
            <a:endParaRPr lang="en-US" sz="2400" b="1" dirty="0"/>
          </a:p>
          <a:p>
            <a:r>
              <a:rPr lang="en-US" sz="2000" b="1" dirty="0"/>
              <a:t>Dominion Status</a:t>
            </a:r>
            <a:r>
              <a:rPr lang="en-US" sz="2000" dirty="0"/>
              <a:t> for India under the British Crown.</a:t>
            </a:r>
          </a:p>
          <a:p>
            <a:r>
              <a:rPr lang="en-US" sz="2000" b="1" dirty="0"/>
              <a:t>Common electorate</a:t>
            </a:r>
            <a:r>
              <a:rPr lang="en-US" sz="2000" dirty="0"/>
              <a:t> for all communities (no separate electorates).</a:t>
            </a:r>
          </a:p>
          <a:p>
            <a:r>
              <a:rPr lang="en-US" sz="2000" b="1" dirty="0"/>
              <a:t>Fundamental rights</a:t>
            </a:r>
            <a:r>
              <a:rPr lang="en-US" sz="2000" dirty="0"/>
              <a:t> guaranteed to all citizens.</a:t>
            </a:r>
          </a:p>
          <a:p>
            <a:r>
              <a:rPr lang="en-US" sz="2000" b="1" dirty="0"/>
              <a:t>Provincial autonomy</a:t>
            </a:r>
            <a:r>
              <a:rPr lang="en-US" sz="2000" dirty="0"/>
              <a:t> for provinces to manage local affairs.</a:t>
            </a:r>
          </a:p>
          <a:p>
            <a:r>
              <a:rPr lang="en-US" sz="2000" b="1" dirty="0"/>
              <a:t>Minority safeguards</a:t>
            </a:r>
            <a:r>
              <a:rPr lang="en-US" sz="2000" dirty="0"/>
              <a:t>: Muslims and other minorities were given </a:t>
            </a:r>
            <a:r>
              <a:rPr lang="en-US" sz="2000" b="1" dirty="0"/>
              <a:t>special protections</a:t>
            </a:r>
            <a:r>
              <a:rPr lang="en-US" sz="2000" dirty="0"/>
              <a:t>.</a:t>
            </a:r>
          </a:p>
          <a:p>
            <a:pPr marL="0" indent="0">
              <a:buNone/>
            </a:pPr>
            <a:endParaRPr lang="en-US" sz="2000" b="1"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980728"/>
            <a:ext cx="8229600" cy="4525963"/>
          </a:xfrm>
        </p:spPr>
        <p:txBody>
          <a:bodyPr/>
          <a:lstStyle/>
          <a:p>
            <a:r>
              <a:rPr lang="en-US" sz="3600" b="1" u="sng" dirty="0"/>
              <a:t>Jinnah’s 14 Points (8 March 1929)</a:t>
            </a:r>
          </a:p>
          <a:p>
            <a:r>
              <a:rPr lang="en-US" b="1" dirty="0" smtClean="0"/>
              <a:t> Background:</a:t>
            </a:r>
            <a:endParaRPr lang="en-US" b="1" dirty="0"/>
          </a:p>
          <a:p>
            <a:r>
              <a:rPr lang="en-US" dirty="0"/>
              <a:t>Drafted by </a:t>
            </a:r>
            <a:r>
              <a:rPr lang="en-US" b="1" dirty="0"/>
              <a:t>Muhammad Ali Jinnah</a:t>
            </a:r>
            <a:r>
              <a:rPr lang="en-US" dirty="0"/>
              <a:t> on </a:t>
            </a:r>
            <a:r>
              <a:rPr lang="en-US" b="1" dirty="0"/>
              <a:t>8 March 1929</a:t>
            </a:r>
            <a:r>
              <a:rPr lang="en-US" dirty="0"/>
              <a:t>.</a:t>
            </a:r>
          </a:p>
          <a:p>
            <a:r>
              <a:rPr lang="en-US" dirty="0"/>
              <a:t>Response to the </a:t>
            </a:r>
            <a:r>
              <a:rPr lang="en-US" b="1" dirty="0"/>
              <a:t>Nehru Report (1928)</a:t>
            </a:r>
            <a:r>
              <a:rPr lang="en-US" dirty="0"/>
              <a:t>, which rejected separate electorates for Muslims.</a:t>
            </a:r>
          </a:p>
          <a:p>
            <a:r>
              <a:rPr lang="en-US" dirty="0"/>
              <a:t>Aim: </a:t>
            </a:r>
            <a:r>
              <a:rPr lang="en-US" b="1" dirty="0"/>
              <a:t>Protect Muslim political, religious, and cultural rights</a:t>
            </a:r>
            <a:r>
              <a:rPr lang="en-US" dirty="0"/>
              <a:t> in India.</a:t>
            </a:r>
          </a:p>
          <a:p>
            <a:endParaRPr lang="en-US" dirty="0"/>
          </a:p>
        </p:txBody>
      </p:sp>
    </p:spTree>
    <p:extLst>
      <p:ext uri="{BB962C8B-B14F-4D97-AF65-F5344CB8AC3E}">
        <p14:creationId xmlns:p14="http://schemas.microsoft.com/office/powerpoint/2010/main" val="1884828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764704"/>
            <a:ext cx="8229600" cy="5184576"/>
          </a:xfrm>
        </p:spPr>
        <p:txBody>
          <a:bodyPr>
            <a:noAutofit/>
          </a:bodyPr>
          <a:lstStyle/>
          <a:p>
            <a:r>
              <a:rPr lang="en-US" b="1" dirty="0"/>
              <a:t>Main Points :</a:t>
            </a:r>
          </a:p>
          <a:p>
            <a:r>
              <a:rPr lang="en-US" sz="2900" b="1" dirty="0"/>
              <a:t>Federal government</a:t>
            </a:r>
            <a:r>
              <a:rPr lang="en-US" sz="2900" dirty="0"/>
              <a:t> with strong provinces.</a:t>
            </a:r>
          </a:p>
          <a:p>
            <a:r>
              <a:rPr lang="en-US" sz="2900" b="1" dirty="0"/>
              <a:t>Muslims in majority provinces</a:t>
            </a:r>
            <a:r>
              <a:rPr lang="en-US" sz="2900" dirty="0"/>
              <a:t> control local affairs.</a:t>
            </a:r>
          </a:p>
          <a:p>
            <a:r>
              <a:rPr lang="en-US" sz="2900" b="1" dirty="0"/>
              <a:t>Separate electorates</a:t>
            </a:r>
            <a:r>
              <a:rPr lang="en-US" sz="2900" dirty="0"/>
              <a:t> for Muslims.</a:t>
            </a:r>
          </a:p>
          <a:p>
            <a:r>
              <a:rPr lang="en-US" sz="2900" b="1" dirty="0"/>
              <a:t>Proportional representation</a:t>
            </a:r>
            <a:r>
              <a:rPr lang="en-US" sz="2900" dirty="0"/>
              <a:t> in central legislature.</a:t>
            </a:r>
          </a:p>
          <a:p>
            <a:r>
              <a:rPr lang="en-US" sz="2900" b="1" dirty="0"/>
              <a:t>Minorities must be protected</a:t>
            </a:r>
            <a:r>
              <a:rPr lang="en-US" sz="2900" dirty="0"/>
              <a:t> in all provinces.</a:t>
            </a:r>
          </a:p>
          <a:p>
            <a:r>
              <a:rPr lang="en-US" sz="2900" b="1" dirty="0"/>
              <a:t>Muslims manage their religious institutions</a:t>
            </a:r>
            <a:r>
              <a:rPr lang="en-US" sz="2900" dirty="0"/>
              <a:t>.</a:t>
            </a:r>
          </a:p>
          <a:p>
            <a:r>
              <a:rPr lang="en-US" sz="2900" b="1" dirty="0"/>
              <a:t>Freedom of religion</a:t>
            </a:r>
            <a:r>
              <a:rPr lang="en-US" sz="2900" dirty="0"/>
              <a:t> for all.</a:t>
            </a:r>
          </a:p>
          <a:p>
            <a:r>
              <a:rPr lang="en-US" sz="2900" b="1" dirty="0"/>
              <a:t>Muslim culture and education</a:t>
            </a:r>
            <a:r>
              <a:rPr lang="en-US" sz="2900" dirty="0"/>
              <a:t> should be preserved.</a:t>
            </a:r>
          </a:p>
          <a:p>
            <a:endParaRPr lang="en-US" sz="2900" dirty="0"/>
          </a:p>
        </p:txBody>
      </p:sp>
    </p:spTree>
    <p:extLst>
      <p:ext uri="{BB962C8B-B14F-4D97-AF65-F5344CB8AC3E}">
        <p14:creationId xmlns:p14="http://schemas.microsoft.com/office/powerpoint/2010/main" val="3657278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8229600" cy="5040560"/>
          </a:xfrm>
        </p:spPr>
        <p:txBody>
          <a:bodyPr>
            <a:noAutofit/>
          </a:bodyPr>
          <a:lstStyle/>
          <a:p>
            <a:r>
              <a:rPr lang="en-US" b="1" dirty="0"/>
              <a:t>Veto power</a:t>
            </a:r>
            <a:r>
              <a:rPr lang="en-US" dirty="0"/>
              <a:t> for Muslim-majority provinces on central matters affecting them.</a:t>
            </a:r>
          </a:p>
          <a:p>
            <a:r>
              <a:rPr lang="en-US" b="1" dirty="0"/>
              <a:t>Fair representation</a:t>
            </a:r>
            <a:r>
              <a:rPr lang="en-US" dirty="0"/>
              <a:t> in bureaucracy.</a:t>
            </a:r>
          </a:p>
          <a:p>
            <a:r>
              <a:rPr lang="en-US" b="1" dirty="0"/>
              <a:t>No laws</a:t>
            </a:r>
            <a:r>
              <a:rPr lang="en-US" dirty="0"/>
              <a:t> affecting Muslims without their consent.</a:t>
            </a:r>
          </a:p>
          <a:p>
            <a:r>
              <a:rPr lang="en-US" b="1" dirty="0"/>
              <a:t>Revenue allocation</a:t>
            </a:r>
            <a:r>
              <a:rPr lang="en-US" dirty="0"/>
              <a:t> must consider Muslim interests.</a:t>
            </a:r>
          </a:p>
          <a:p>
            <a:r>
              <a:rPr lang="en-US" b="1" dirty="0"/>
              <a:t>Judiciary</a:t>
            </a:r>
            <a:r>
              <a:rPr lang="en-US" dirty="0"/>
              <a:t> must protect Muslim personal laws.</a:t>
            </a:r>
          </a:p>
          <a:p>
            <a:r>
              <a:rPr lang="en-US" b="1" dirty="0"/>
              <a:t>Religion and politics</a:t>
            </a:r>
            <a:r>
              <a:rPr lang="en-US" dirty="0"/>
              <a:t> should be separate.</a:t>
            </a:r>
          </a:p>
          <a:p>
            <a:endParaRPr lang="en-US" dirty="0"/>
          </a:p>
          <a:p>
            <a:endParaRPr lang="en-US" dirty="0"/>
          </a:p>
        </p:txBody>
      </p:sp>
    </p:spTree>
    <p:extLst>
      <p:ext uri="{BB962C8B-B14F-4D97-AF65-F5344CB8AC3E}">
        <p14:creationId xmlns:p14="http://schemas.microsoft.com/office/powerpoint/2010/main" val="3472600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764704"/>
            <a:ext cx="8229600" cy="5544616"/>
          </a:xfrm>
        </p:spPr>
        <p:txBody>
          <a:bodyPr>
            <a:noAutofit/>
          </a:bodyPr>
          <a:lstStyle/>
          <a:p>
            <a:r>
              <a:rPr lang="en-US" sz="2800" b="1" u="sng" dirty="0"/>
              <a:t>Lahore Resolution (1940</a:t>
            </a:r>
            <a:r>
              <a:rPr lang="en-US" sz="2800" b="1" u="sng" dirty="0" smtClean="0"/>
              <a:t>):</a:t>
            </a:r>
            <a:endParaRPr lang="en-US" sz="2800" b="1" u="sng" dirty="0"/>
          </a:p>
          <a:p>
            <a:r>
              <a:rPr lang="en-US" sz="2800" b="1" dirty="0" smtClean="0"/>
              <a:t> </a:t>
            </a:r>
            <a:r>
              <a:rPr lang="en-US" sz="2000" b="1" dirty="0" smtClean="0"/>
              <a:t>Background:</a:t>
            </a:r>
            <a:endParaRPr lang="en-US" sz="2000" b="1" dirty="0"/>
          </a:p>
          <a:p>
            <a:r>
              <a:rPr lang="en-US" sz="2000" dirty="0"/>
              <a:t>Passed by the </a:t>
            </a:r>
            <a:r>
              <a:rPr lang="en-US" sz="2000" b="1" dirty="0"/>
              <a:t>All India Muslim League</a:t>
            </a:r>
            <a:r>
              <a:rPr lang="en-US" sz="2000" dirty="0"/>
              <a:t> during its </a:t>
            </a:r>
            <a:r>
              <a:rPr lang="en-US" sz="2000" b="1" dirty="0"/>
              <a:t>session in Lahore</a:t>
            </a:r>
            <a:r>
              <a:rPr lang="en-US" sz="2000" dirty="0"/>
              <a:t> on </a:t>
            </a:r>
            <a:r>
              <a:rPr lang="en-US" sz="2000" b="1" dirty="0"/>
              <a:t>23–24 March 1940</a:t>
            </a:r>
            <a:r>
              <a:rPr lang="en-US" sz="2000" dirty="0"/>
              <a:t>.</a:t>
            </a:r>
          </a:p>
          <a:p>
            <a:r>
              <a:rPr lang="en-US" sz="2000" dirty="0"/>
              <a:t>Proposed by </a:t>
            </a:r>
            <a:r>
              <a:rPr lang="en-US" sz="2000" b="1" dirty="0"/>
              <a:t>A.K. </a:t>
            </a:r>
            <a:r>
              <a:rPr lang="en-US" sz="2000" b="1" dirty="0" err="1"/>
              <a:t>Fazlul</a:t>
            </a:r>
            <a:r>
              <a:rPr lang="en-US" sz="2000" b="1" dirty="0"/>
              <a:t> Haq</a:t>
            </a:r>
            <a:r>
              <a:rPr lang="en-US" sz="2000" dirty="0"/>
              <a:t> and strongly supported by </a:t>
            </a:r>
            <a:r>
              <a:rPr lang="en-US" sz="2000" b="1" dirty="0"/>
              <a:t>Muhammad Ali Jinnah</a:t>
            </a:r>
            <a:r>
              <a:rPr lang="en-US" sz="2000" dirty="0"/>
              <a:t>.</a:t>
            </a:r>
          </a:p>
          <a:p>
            <a:r>
              <a:rPr lang="en-US" sz="2000" dirty="0"/>
              <a:t>Muslims demanded </a:t>
            </a:r>
            <a:r>
              <a:rPr lang="en-US" sz="2000" b="1" dirty="0"/>
              <a:t>political safeguards</a:t>
            </a:r>
            <a:r>
              <a:rPr lang="en-US" sz="2000" dirty="0"/>
              <a:t> due to fears of </a:t>
            </a:r>
            <a:r>
              <a:rPr lang="en-US" sz="2000" b="1" dirty="0"/>
              <a:t>Hindu majority domination</a:t>
            </a:r>
            <a:r>
              <a:rPr lang="en-US" sz="2000" dirty="0"/>
              <a:t>.</a:t>
            </a:r>
          </a:p>
          <a:p>
            <a:r>
              <a:rPr lang="en-US" sz="2400" b="1" dirty="0" err="1" smtClean="0"/>
              <a:t>Imprtant</a:t>
            </a:r>
            <a:r>
              <a:rPr lang="en-US" sz="2400" b="1" dirty="0" smtClean="0"/>
              <a:t> points :</a:t>
            </a:r>
            <a:endParaRPr lang="en-US" sz="2400" b="1" dirty="0"/>
          </a:p>
          <a:p>
            <a:r>
              <a:rPr lang="en-US" sz="2000" b="1" dirty="0"/>
              <a:t>Muslim-majority areas</a:t>
            </a:r>
            <a:r>
              <a:rPr lang="en-US" sz="2000" dirty="0"/>
              <a:t> in India should be grouped into </a:t>
            </a:r>
            <a:r>
              <a:rPr lang="en-US" sz="2000" b="1" dirty="0"/>
              <a:t>independent states</a:t>
            </a:r>
            <a:r>
              <a:rPr lang="en-US" sz="2000" dirty="0"/>
              <a:t>.</a:t>
            </a:r>
          </a:p>
          <a:p>
            <a:r>
              <a:rPr lang="en-US" sz="2000" dirty="0" smtClean="0"/>
              <a:t>Known </a:t>
            </a:r>
            <a:r>
              <a:rPr lang="en-US" sz="2000" dirty="0"/>
              <a:t>as the </a:t>
            </a:r>
            <a:r>
              <a:rPr lang="en-US" sz="2000" b="1" dirty="0"/>
              <a:t>“Pakistan Resolution”</a:t>
            </a:r>
            <a:r>
              <a:rPr lang="en-US" sz="2000" dirty="0"/>
              <a:t>.</a:t>
            </a:r>
          </a:p>
          <a:p>
            <a:r>
              <a:rPr lang="en-US" sz="2000" dirty="0"/>
              <a:t>Laid the </a:t>
            </a:r>
            <a:r>
              <a:rPr lang="en-US" sz="2000" b="1" dirty="0"/>
              <a:t>formal foundation for the creation of Pakistan (1947)</a:t>
            </a:r>
            <a:r>
              <a:rPr lang="en-US" sz="2000" dirty="0"/>
              <a:t>.</a:t>
            </a:r>
          </a:p>
          <a:p>
            <a:r>
              <a:rPr lang="en-US" sz="2000" dirty="0"/>
              <a:t>Strengthened the </a:t>
            </a:r>
            <a:r>
              <a:rPr lang="en-US" sz="2000" b="1" dirty="0"/>
              <a:t>Muslim League’s position</a:t>
            </a:r>
            <a:r>
              <a:rPr lang="en-US" sz="2000" dirty="0"/>
              <a:t> as the sole representative of Indian </a:t>
            </a:r>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692696"/>
            <a:ext cx="8229600" cy="5328592"/>
          </a:xfrm>
        </p:spPr>
        <p:txBody>
          <a:bodyPr>
            <a:noAutofit/>
          </a:bodyPr>
          <a:lstStyle/>
          <a:p>
            <a:r>
              <a:rPr lang="en-US" sz="2400" b="1" dirty="0"/>
              <a:t>Muslims should have full control</a:t>
            </a:r>
            <a:r>
              <a:rPr lang="en-US" sz="2400" dirty="0"/>
              <a:t> over their affairs in these areas.</a:t>
            </a:r>
          </a:p>
          <a:p>
            <a:r>
              <a:rPr lang="en-US" sz="2400" b="1" dirty="0"/>
              <a:t>No interference</a:t>
            </a:r>
            <a:r>
              <a:rPr lang="en-US" sz="2400" dirty="0"/>
              <a:t> from the central government in Muslim-majority provinces.</a:t>
            </a:r>
          </a:p>
          <a:p>
            <a:r>
              <a:rPr lang="en-US" sz="2400" b="1" dirty="0"/>
              <a:t>Religious, cultural, and political rights</a:t>
            </a:r>
            <a:r>
              <a:rPr lang="en-US" sz="2400" dirty="0"/>
              <a:t> of Muslims must be protected.</a:t>
            </a:r>
          </a:p>
          <a:p>
            <a:r>
              <a:rPr lang="en-US" sz="2400" dirty="0"/>
              <a:t>Led to the </a:t>
            </a:r>
            <a:r>
              <a:rPr lang="en-US" sz="2400" b="1" dirty="0"/>
              <a:t>demand for Pakistan</a:t>
            </a:r>
            <a:r>
              <a:rPr lang="en-US" sz="2400" dirty="0"/>
              <a:t> as a separate nation.</a:t>
            </a:r>
          </a:p>
          <a:p>
            <a:r>
              <a:rPr lang="en-US" sz="2400" b="1" dirty="0" smtClean="0"/>
              <a:t>Significance:</a:t>
            </a:r>
            <a:endParaRPr lang="en-US" sz="2400" b="1" dirty="0"/>
          </a:p>
          <a:p>
            <a:r>
              <a:rPr lang="en-US" sz="2400" dirty="0"/>
              <a:t>Known as the </a:t>
            </a:r>
            <a:r>
              <a:rPr lang="en-US" sz="2400" b="1" dirty="0"/>
              <a:t>“Pakistan Resolution”</a:t>
            </a:r>
            <a:r>
              <a:rPr lang="en-US" sz="2400" dirty="0"/>
              <a:t>.</a:t>
            </a:r>
          </a:p>
          <a:p>
            <a:r>
              <a:rPr lang="en-US" sz="2400" dirty="0"/>
              <a:t>Laid the </a:t>
            </a:r>
            <a:r>
              <a:rPr lang="en-US" sz="2400" b="1" dirty="0"/>
              <a:t>formal foundation for the creation of Pakistan (1947)</a:t>
            </a:r>
            <a:r>
              <a:rPr lang="en-US" sz="2400" dirty="0"/>
              <a:t>.</a:t>
            </a:r>
          </a:p>
          <a:p>
            <a:r>
              <a:rPr lang="en-US" sz="2400" dirty="0"/>
              <a:t>Strengthened the </a:t>
            </a:r>
            <a:r>
              <a:rPr lang="en-US" sz="2400" b="1" dirty="0"/>
              <a:t>Muslim League’s position</a:t>
            </a:r>
            <a:r>
              <a:rPr lang="en-US" sz="2400" dirty="0"/>
              <a:t> as the sole representative of Indian </a:t>
            </a:r>
          </a:p>
          <a:p>
            <a:endParaRPr lang="en-US" sz="2400" dirty="0"/>
          </a:p>
        </p:txBody>
      </p:sp>
    </p:spTree>
    <p:extLst>
      <p:ext uri="{BB962C8B-B14F-4D97-AF65-F5344CB8AC3E}">
        <p14:creationId xmlns:p14="http://schemas.microsoft.com/office/powerpoint/2010/main" val="4099799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pPr algn="just"/>
            <a:r>
              <a:rPr lang="en-US" sz="2400" dirty="0">
                <a:sym typeface="+mn-ea"/>
              </a:rPr>
              <a:t>India’s then Governor-General and Viceroy </a:t>
            </a:r>
            <a:r>
              <a:rPr lang="en-US" sz="2400" b="1" dirty="0">
                <a:sym typeface="+mn-ea"/>
              </a:rPr>
              <a:t>Lord Mountbatten</a:t>
            </a:r>
            <a:r>
              <a:rPr lang="en-US" sz="2400" dirty="0">
                <a:sym typeface="+mn-ea"/>
              </a:rPr>
              <a:t> addressed the nation over All India Radio on June 3, 1947. He announced his 3rd June Plan, according to which India would be given independence on August 15, 1947.  </a:t>
            </a:r>
            <a:endParaRPr lang="en-US" sz="2400" dirty="0"/>
          </a:p>
          <a:p>
            <a:pPr algn="just"/>
            <a:r>
              <a:rPr lang="en-US" sz="2400" dirty="0">
                <a:sym typeface="+mn-ea"/>
              </a:rPr>
              <a:t>Under this Plan, the British would transfer power to two successor authorities — the Congress and the Muslim League. In territorial terms, the dominions of India and Pakistan would remain within the British Commonwealth. British paramount over 559 princely states in India would not be transferred to the two dominions and, consequently, would go by constitutionally. </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pPr algn="just"/>
            <a:r>
              <a:rPr lang="en-US" sz="2400" dirty="0">
                <a:sym typeface="+mn-ea"/>
              </a:rPr>
              <a:t>The princely states would be free to join either of the two dominions. The third option of them becoming independent and not joining either dominion was kept open. This was denied to the British Indian provinces.</a:t>
            </a:r>
            <a:endParaRPr lang="en-US" sz="2400" dirty="0"/>
          </a:p>
          <a:p>
            <a:pPr algn="just"/>
            <a:r>
              <a:rPr lang="en-US" sz="2400" dirty="0" err="1">
                <a:sym typeface="+mn-ea"/>
              </a:rPr>
              <a:t>Khizar</a:t>
            </a:r>
            <a:r>
              <a:rPr lang="en-US" sz="2400" dirty="0">
                <a:sym typeface="+mn-ea"/>
              </a:rPr>
              <a:t> Hayat </a:t>
            </a:r>
            <a:r>
              <a:rPr lang="en-US" sz="2400" dirty="0" err="1">
                <a:sym typeface="+mn-ea"/>
              </a:rPr>
              <a:t>Tiwana's</a:t>
            </a:r>
            <a:r>
              <a:rPr lang="en-US" sz="2400" dirty="0">
                <a:sym typeface="+mn-ea"/>
              </a:rPr>
              <a:t> government had resigned in Punjab on March 2, 1947 and communal disturbance had started in Rawalpindi and other cities of Punjab. Initially, the Governor of Punjab, Sir Evan Jenkins  had thought of inviting the Muslim League leader, the </a:t>
            </a:r>
            <a:r>
              <a:rPr lang="en-US" sz="2400" dirty="0" err="1">
                <a:sym typeface="+mn-ea"/>
              </a:rPr>
              <a:t>Nawab</a:t>
            </a:r>
            <a:r>
              <a:rPr lang="en-US" sz="2400" dirty="0">
                <a:sym typeface="+mn-ea"/>
              </a:rPr>
              <a:t> of </a:t>
            </a:r>
            <a:r>
              <a:rPr lang="en-US" sz="2400" dirty="0" err="1">
                <a:sym typeface="+mn-ea"/>
              </a:rPr>
              <a:t>Mamdot</a:t>
            </a:r>
            <a:r>
              <a:rPr lang="en-US" sz="2400" dirty="0">
                <a:sym typeface="+mn-ea"/>
              </a:rPr>
              <a:t>, to form a government in Punjab, but later he decided against it and Governor's rule was imposed. </a:t>
            </a:r>
            <a:r>
              <a:rPr lang="en-US" sz="2400" b="1" dirty="0">
                <a:sym typeface="+mn-ea"/>
              </a:rPr>
              <a:t>Lord Mountbatten</a:t>
            </a:r>
            <a:r>
              <a:rPr lang="en-US" sz="2400" dirty="0">
                <a:sym typeface="+mn-ea"/>
              </a:rPr>
              <a:t> arrived in India on March 22, 1947.</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pPr algn="just"/>
            <a:r>
              <a:rPr lang="en-US" sz="2400" dirty="0">
                <a:sym typeface="+mn-ea"/>
              </a:rPr>
              <a:t>On June 3, 1947, Mountbatten was able to bring Nehru, Patel, JB </a:t>
            </a:r>
            <a:r>
              <a:rPr lang="en-US" sz="2400" dirty="0" err="1">
                <a:sym typeface="+mn-ea"/>
              </a:rPr>
              <a:t>Kripalani</a:t>
            </a:r>
            <a:r>
              <a:rPr lang="en-US" sz="2400" dirty="0">
                <a:sym typeface="+mn-ea"/>
              </a:rPr>
              <a:t> (as Congress president) </a:t>
            </a:r>
            <a:r>
              <a:rPr lang="en-US" sz="2400" dirty="0" err="1">
                <a:sym typeface="+mn-ea"/>
              </a:rPr>
              <a:t>Baldev</a:t>
            </a:r>
            <a:r>
              <a:rPr lang="en-US" sz="2400" dirty="0">
                <a:sym typeface="+mn-ea"/>
              </a:rPr>
              <a:t> Singh, Jinnah, </a:t>
            </a:r>
            <a:r>
              <a:rPr lang="en-US" sz="2400" dirty="0" err="1">
                <a:sym typeface="+mn-ea"/>
              </a:rPr>
              <a:t>Liaquat</a:t>
            </a:r>
            <a:r>
              <a:rPr lang="en-US" sz="2400" dirty="0">
                <a:sym typeface="+mn-ea"/>
              </a:rPr>
              <a:t> Ali Khan and </a:t>
            </a:r>
            <a:r>
              <a:rPr lang="en-US" sz="2400" dirty="0" err="1">
                <a:sym typeface="+mn-ea"/>
              </a:rPr>
              <a:t>Abdur</a:t>
            </a:r>
            <a:r>
              <a:rPr lang="en-US" sz="2400" dirty="0">
                <a:sym typeface="+mn-ea"/>
              </a:rPr>
              <a:t> </a:t>
            </a:r>
            <a:r>
              <a:rPr lang="en-US" sz="2400" dirty="0" err="1">
                <a:sym typeface="+mn-ea"/>
              </a:rPr>
              <a:t>Rab</a:t>
            </a:r>
            <a:r>
              <a:rPr lang="en-US" sz="2400" dirty="0">
                <a:sym typeface="+mn-ea"/>
              </a:rPr>
              <a:t> </a:t>
            </a:r>
            <a:r>
              <a:rPr lang="en-US" sz="2400" dirty="0" err="1">
                <a:sym typeface="+mn-ea"/>
              </a:rPr>
              <a:t>Nishtar</a:t>
            </a:r>
            <a:r>
              <a:rPr lang="en-US" sz="2400" dirty="0">
                <a:sym typeface="+mn-ea"/>
              </a:rPr>
              <a:t>, around a conference table, where they collectively endorsed Mountbatten's plan, under the watchful gaze of Lord </a:t>
            </a:r>
            <a:r>
              <a:rPr lang="en-US" sz="2400" dirty="0" err="1">
                <a:sym typeface="+mn-ea"/>
              </a:rPr>
              <a:t>Ismay</a:t>
            </a:r>
            <a:r>
              <a:rPr lang="en-US" sz="2400" dirty="0">
                <a:sym typeface="+mn-ea"/>
              </a:rPr>
              <a:t>.</a:t>
            </a:r>
            <a:endParaRPr lang="en-US" sz="2400" dirty="0"/>
          </a:p>
          <a:p>
            <a:pPr algn="just"/>
            <a:r>
              <a:rPr lang="en-US" sz="2400" dirty="0">
                <a:sym typeface="+mn-ea"/>
              </a:rPr>
              <a:t>Jinnah had deputed </a:t>
            </a:r>
            <a:r>
              <a:rPr lang="en-US" sz="2400" dirty="0" err="1">
                <a:sym typeface="+mn-ea"/>
              </a:rPr>
              <a:t>Iskander</a:t>
            </a:r>
            <a:r>
              <a:rPr lang="en-US" sz="2400" dirty="0">
                <a:sym typeface="+mn-ea"/>
              </a:rPr>
              <a:t> Mirza to start a jihad in the NWFP when referendum was held there in July 1947. </a:t>
            </a:r>
            <a:r>
              <a:rPr lang="en-US" sz="2400" dirty="0" err="1">
                <a:sym typeface="+mn-ea"/>
              </a:rPr>
              <a:t>Iskander</a:t>
            </a:r>
            <a:r>
              <a:rPr lang="en-US" sz="2400" dirty="0">
                <a:sym typeface="+mn-ea"/>
              </a:rPr>
              <a:t> Mirza was a great grandson of Mir </a:t>
            </a:r>
            <a:r>
              <a:rPr lang="en-US" sz="2400" dirty="0" err="1">
                <a:sym typeface="+mn-ea"/>
              </a:rPr>
              <a:t>Jafar</a:t>
            </a:r>
            <a:r>
              <a:rPr lang="en-US" sz="2400" dirty="0">
                <a:sym typeface="+mn-ea"/>
              </a:rPr>
              <a:t>, who had allowed to Lord Clive in the Battle of Plassey in 1757, after taking huge bribes. </a:t>
            </a:r>
            <a:r>
              <a:rPr lang="en-US" sz="2400" dirty="0" err="1">
                <a:sym typeface="+mn-ea"/>
              </a:rPr>
              <a:t>Iskander</a:t>
            </a:r>
            <a:r>
              <a:rPr lang="en-US" sz="2400" dirty="0">
                <a:sym typeface="+mn-ea"/>
              </a:rPr>
              <a:t> Mirza was later rewarded with president ship of Pakistan in the 1950s.</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endParaRPr lang="en-US" sz="2400" dirty="0">
              <a:sym typeface="+mn-ea"/>
            </a:endParaRPr>
          </a:p>
          <a:p>
            <a:r>
              <a:rPr lang="en-US" sz="2400" dirty="0">
                <a:sym typeface="+mn-ea"/>
              </a:rPr>
              <a:t>On the midnight of 14th and 15th August 1947, the dominions of Pakistan and India respectively came into existence. Lord Mountbatten was appointed the first Governor-general of independent India and M.A. Jinnah became the Governor-General of Pakistan.</a:t>
            </a:r>
            <a:endParaRPr lang="en-US" sz="2400" dirty="0"/>
          </a:p>
          <a:p>
            <a:pPr marL="0" indent="0">
              <a:buNone/>
            </a:pP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3400</Words>
  <Application>Microsoft Office PowerPoint</Application>
  <PresentationFormat>On-screen Show (4:3)</PresentationFormat>
  <Paragraphs>380</Paragraphs>
  <Slides>45</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 </vt:lpstr>
      <vt:lpstr> Pakistan studies  Chapter 1 </vt:lpstr>
      <vt:lpstr>Geographical Location and Significance </vt:lpstr>
      <vt:lpstr>PowerPoint Presentation</vt:lpstr>
      <vt:lpstr>PowerPoint Presentation</vt:lpstr>
      <vt:lpstr>PowerPoint Presentation</vt:lpstr>
      <vt:lpstr>Geographical Location and Significance </vt:lpstr>
      <vt:lpstr>PowerPoint Presentation</vt:lpstr>
      <vt:lpstr>PowerPoint Presentation</vt:lpstr>
      <vt:lpstr>PowerPoint Presentation</vt:lpstr>
      <vt:lpstr>PowerPoint Presentation</vt:lpstr>
      <vt:lpstr>Historical Background :Ancient Civilization in the Region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Factors Leading to the Creation of Pakistan</vt:lpstr>
      <vt:lpstr>Factors Leading to the Creation of Pakistan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Simon Commission (1927–1930)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Factors Leading to the Creation of Pakistan</vt:lpstr>
      <vt:lpstr>Factors Leading to the Creation of Pakistan</vt:lpstr>
      <vt:lpstr>Factors Leading to the Creation of Pakistan</vt:lpstr>
      <vt:lpstr>Factors Leading to the Creation of Pakistan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1296-154-506</dc:creator>
  <cp:lastModifiedBy>Muhammad Zubair</cp:lastModifiedBy>
  <cp:revision>243</cp:revision>
  <dcterms:created xsi:type="dcterms:W3CDTF">2023-02-17T04:28:00Z</dcterms:created>
  <dcterms:modified xsi:type="dcterms:W3CDTF">2026-01-27T09:43:51Z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F581C52ABF68447AA9D5FE4BC54E107C_13</vt:lpwstr>
  </property>
  <property fmtid="{D5CDD505-2E9C-101B-9397-08002B2CF9AE}" pid="3" name="KSOProductBuildVer">
    <vt:lpwstr>1033-12.2.0.19805</vt:lpwstr>
  </property>
</Properties>
</file>