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theme+xml" PartName="/ppt/theme/theme1.xml"/>
  <Override ContentType="application/vnd.openxmlformats-officedocument.theme+xml" PartName="/ppt/theme/them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43.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custom-properties+xml" PartName="/docProps/custom.xml"/>
  <Override ContentType="application/binary" PartName="/ppt/metadata"/>
  <Override ContentType="application/vnd.openxmlformats-officedocument.presentationml.notesMaster+xml" PartName="/ppt/notesMasters/notesMaster1.xml"/>
  <Override ContentType="application/vnd.openxmlformats-officedocument.presentationml.presProps+xml" PartName="/ppt/presProps.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Lst>
  <p:sldSz cy="68580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2">
          <p15:clr>
            <a:srgbClr val="A4A3A4"/>
          </p15:clr>
        </p15:guide>
        <p15:guide id="2" pos="2880">
          <p15:clr>
            <a:srgbClr val="A4A3A4"/>
          </p15:clr>
        </p15:guide>
      </p15:sldGuideLst>
    </p:ext>
    <p:ext uri="GoogleSlidesCustomDataVersion2">
      <go:slidesCustomData xmlns:go="http://customooxmlschemas.google.com/" r:id="rId50" roundtripDataSignature="AMtx7miqfWkU7r3z1ROgVTR8r2HvqF63n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D0FB1F49-CF53-4773-B60A-40C15DDCC7BA}">
  <a:tblStyle styleId="{D0FB1F49-CF53-4773-B60A-40C15DDCC7BA}" styleName="Table_0">
    <a:wholeTbl>
      <a:tcTxStyle b="off" i="off">
        <a:font>
          <a:latin typeface="Calibri"/>
          <a:ea typeface="Calibri"/>
          <a:cs typeface="Calibri"/>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8ECF4"/>
          </a:solidFill>
        </a:fill>
      </a:tcStyle>
    </a:wholeTbl>
    <a:band1H>
      <a:tcTxStyle b="off" i="off"/>
      <a:tcStyle>
        <a:fill>
          <a:solidFill>
            <a:srgbClr val="CFD7E7"/>
          </a:solidFill>
        </a:fill>
      </a:tcStyle>
    </a:band1H>
    <a:band2H>
      <a:tcTxStyle b="off" i="off"/>
    </a:band2H>
    <a:band1V>
      <a:tcTxStyle b="off" i="off"/>
      <a:tcStyle>
        <a:fill>
          <a:solidFill>
            <a:srgbClr val="CFD7E7"/>
          </a:solidFill>
        </a:fill>
      </a:tcStyle>
    </a:band1V>
    <a:band2V>
      <a:tcTxStyle b="off" i="off"/>
    </a:band2V>
    <a:lastCol>
      <a:tcTxStyle b="on" i="off">
        <a:font>
          <a:latin typeface="Calibri"/>
          <a:ea typeface="Calibri"/>
          <a:cs typeface="Calibri"/>
        </a:font>
        <a:schemeClr val="lt1"/>
      </a:tcTxStyle>
      <a:tcStyle>
        <a:fill>
          <a:solidFill>
            <a:schemeClr val="accent1"/>
          </a:solidFill>
        </a:fill>
      </a:tcStyle>
    </a:lastCol>
    <a:firstCol>
      <a:tcTxStyle b="on" i="off">
        <a:font>
          <a:latin typeface="Calibri"/>
          <a:ea typeface="Calibri"/>
          <a:cs typeface="Calibri"/>
        </a:font>
        <a:schemeClr val="lt1"/>
      </a:tcTxStyle>
      <a:tcStyle>
        <a:fill>
          <a:solidFill>
            <a:schemeClr val="accent1"/>
          </a:solidFill>
        </a:fill>
      </a:tcStyle>
    </a:firstCol>
    <a:lastRow>
      <a:tcTxStyle b="on" i="off">
        <a:font>
          <a:latin typeface="Calibri"/>
          <a:ea typeface="Calibri"/>
          <a:cs typeface="Calibri"/>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b="off" i="off"/>
    </a:seCell>
    <a:swCell>
      <a:tcTxStyle b="off" i="off"/>
    </a:swCell>
    <a:firstRow>
      <a:tcTxStyle b="on" i="off">
        <a:font>
          <a:latin typeface="Calibri"/>
          <a:ea typeface="Calibri"/>
          <a:cs typeface="Calibri"/>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2"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0" Type="http://customschemas.google.com/relationships/presentationmetadata" Target="metadata"/><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9" name="Google Shape;89;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5" name="Google Shape;95;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1" name="Google Shape;101;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7" name="Google Shape;107;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13" name="Google Shape;113;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19" name="Google Shape;119;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25" name="Google Shape;125;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31" name="Google Shape;131;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38" name="Google Shape;138;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45" name="Google Shape;145;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53" name="Google Shape;153;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59" name="Google Shape;159;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68" name="Google Shape;168;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p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74" name="Google Shape;174;p1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p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80" name="Google Shape;180;p1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p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86" name="Google Shape;186;p1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p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92" name="Google Shape;192;p1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p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98" name="Google Shape;198;p2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p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04" name="Google Shape;204;p2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p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10" name="Google Shape;210;p2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p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16" name="Google Shape;216;p2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p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22" name="Google Shape;222;p2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p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28" name="Google Shape;228;p2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p2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34" name="Google Shape;234;p2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p2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40" name="Google Shape;240;p2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p2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46" name="Google Shape;246;p2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p2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52" name="Google Shape;252;p2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p3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58" name="Google Shape;258;p3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p3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65" name="Google Shape;265;p3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p3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72" name="Google Shape;272;p3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 name="Shape 276"/>
        <p:cNvGrpSpPr/>
        <p:nvPr/>
      </p:nvGrpSpPr>
      <p:grpSpPr>
        <a:xfrm>
          <a:off x="0" y="0"/>
          <a:ext cx="0" cy="0"/>
          <a:chOff x="0" y="0"/>
          <a:chExt cx="0" cy="0"/>
        </a:xfrm>
      </p:grpSpPr>
      <p:sp>
        <p:nvSpPr>
          <p:cNvPr id="277" name="Google Shape;277;p3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78" name="Google Shape;278;p3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p3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84" name="Google Shape;284;p3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 name="Shape 288"/>
        <p:cNvGrpSpPr/>
        <p:nvPr/>
      </p:nvGrpSpPr>
      <p:grpSpPr>
        <a:xfrm>
          <a:off x="0" y="0"/>
          <a:ext cx="0" cy="0"/>
          <a:chOff x="0" y="0"/>
          <a:chExt cx="0" cy="0"/>
        </a:xfrm>
      </p:grpSpPr>
      <p:sp>
        <p:nvSpPr>
          <p:cNvPr id="289" name="Google Shape;289;p4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90" name="Google Shape;290;p4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p4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96" name="Google Shape;296;p4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 name="Shape 300"/>
        <p:cNvGrpSpPr/>
        <p:nvPr/>
      </p:nvGrpSpPr>
      <p:grpSpPr>
        <a:xfrm>
          <a:off x="0" y="0"/>
          <a:ext cx="0" cy="0"/>
          <a:chOff x="0" y="0"/>
          <a:chExt cx="0" cy="0"/>
        </a:xfrm>
      </p:grpSpPr>
      <p:sp>
        <p:nvSpPr>
          <p:cNvPr id="301" name="Google Shape;301;p4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02" name="Google Shape;302;p4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6" name="Shape 306"/>
        <p:cNvGrpSpPr/>
        <p:nvPr/>
      </p:nvGrpSpPr>
      <p:grpSpPr>
        <a:xfrm>
          <a:off x="0" y="0"/>
          <a:ext cx="0" cy="0"/>
          <a:chOff x="0" y="0"/>
          <a:chExt cx="0" cy="0"/>
        </a:xfrm>
      </p:grpSpPr>
      <p:sp>
        <p:nvSpPr>
          <p:cNvPr id="307" name="Google Shape;307;p4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08" name="Google Shape;308;p4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2" name="Shape 312"/>
        <p:cNvGrpSpPr/>
        <p:nvPr/>
      </p:nvGrpSpPr>
      <p:grpSpPr>
        <a:xfrm>
          <a:off x="0" y="0"/>
          <a:ext cx="0" cy="0"/>
          <a:chOff x="0" y="0"/>
          <a:chExt cx="0" cy="0"/>
        </a:xfrm>
      </p:grpSpPr>
      <p:sp>
        <p:nvSpPr>
          <p:cNvPr id="313" name="Google Shape;313;p4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14" name="Google Shape;314;p4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8" name="Shape 318"/>
        <p:cNvGrpSpPr/>
        <p:nvPr/>
      </p:nvGrpSpPr>
      <p:grpSpPr>
        <a:xfrm>
          <a:off x="0" y="0"/>
          <a:ext cx="0" cy="0"/>
          <a:chOff x="0" y="0"/>
          <a:chExt cx="0" cy="0"/>
        </a:xfrm>
      </p:grpSpPr>
      <p:sp>
        <p:nvSpPr>
          <p:cNvPr id="319" name="Google Shape;319;p4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20" name="Google Shape;320;p4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 name="Shape 324"/>
        <p:cNvGrpSpPr/>
        <p:nvPr/>
      </p:nvGrpSpPr>
      <p:grpSpPr>
        <a:xfrm>
          <a:off x="0" y="0"/>
          <a:ext cx="0" cy="0"/>
          <a:chOff x="0" y="0"/>
          <a:chExt cx="0" cy="0"/>
        </a:xfrm>
      </p:grpSpPr>
      <p:sp>
        <p:nvSpPr>
          <p:cNvPr id="325" name="Google Shape;325;p4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26" name="Google Shape;326;p4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0" name="Shape 330"/>
        <p:cNvGrpSpPr/>
        <p:nvPr/>
      </p:nvGrpSpPr>
      <p:grpSpPr>
        <a:xfrm>
          <a:off x="0" y="0"/>
          <a:ext cx="0" cy="0"/>
          <a:chOff x="0" y="0"/>
          <a:chExt cx="0" cy="0"/>
        </a:xfrm>
      </p:grpSpPr>
      <p:sp>
        <p:nvSpPr>
          <p:cNvPr id="331" name="Google Shape;331;p4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32" name="Google Shape;332;p4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6" name="Shape 336"/>
        <p:cNvGrpSpPr/>
        <p:nvPr/>
      </p:nvGrpSpPr>
      <p:grpSpPr>
        <a:xfrm>
          <a:off x="0" y="0"/>
          <a:ext cx="0" cy="0"/>
          <a:chOff x="0" y="0"/>
          <a:chExt cx="0" cy="0"/>
        </a:xfrm>
      </p:grpSpPr>
      <p:sp>
        <p:nvSpPr>
          <p:cNvPr id="337" name="Google Shape;337;p4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38" name="Google Shape;338;p4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2" name="Shape 342"/>
        <p:cNvGrpSpPr/>
        <p:nvPr/>
      </p:nvGrpSpPr>
      <p:grpSpPr>
        <a:xfrm>
          <a:off x="0" y="0"/>
          <a:ext cx="0" cy="0"/>
          <a:chOff x="0" y="0"/>
          <a:chExt cx="0" cy="0"/>
        </a:xfrm>
      </p:grpSpPr>
      <p:sp>
        <p:nvSpPr>
          <p:cNvPr id="343" name="Google Shape;343;p4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44" name="Google Shape;344;p4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8" name="Shape 348"/>
        <p:cNvGrpSpPr/>
        <p:nvPr/>
      </p:nvGrpSpPr>
      <p:grpSpPr>
        <a:xfrm>
          <a:off x="0" y="0"/>
          <a:ext cx="0" cy="0"/>
          <a:chOff x="0" y="0"/>
          <a:chExt cx="0" cy="0"/>
        </a:xfrm>
      </p:grpSpPr>
      <p:sp>
        <p:nvSpPr>
          <p:cNvPr id="349" name="Google Shape;349;p5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50" name="Google Shape;350;p5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1" name="Shape 11"/>
        <p:cNvGrpSpPr/>
        <p:nvPr/>
      </p:nvGrpSpPr>
      <p:grpSpPr>
        <a:xfrm>
          <a:off x="0" y="0"/>
          <a:ext cx="0" cy="0"/>
          <a:chOff x="0" y="0"/>
          <a:chExt cx="0" cy="0"/>
        </a:xfrm>
      </p:grpSpPr>
      <p:sp>
        <p:nvSpPr>
          <p:cNvPr id="12" name="Google Shape;12;p53"/>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 name="Google Shape;13;p53"/>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
        <p:nvSpPr>
          <p:cNvPr id="14" name="Google Shape;14;p5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 name="Google Shape;15;p5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 name="Google Shape;16;p5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7" name="Shape 17"/>
        <p:cNvGrpSpPr/>
        <p:nvPr/>
      </p:nvGrpSpPr>
      <p:grpSpPr>
        <a:xfrm>
          <a:off x="0" y="0"/>
          <a:ext cx="0" cy="0"/>
          <a:chOff x="0" y="0"/>
          <a:chExt cx="0" cy="0"/>
        </a:xfrm>
      </p:grpSpPr>
      <p:sp>
        <p:nvSpPr>
          <p:cNvPr id="18" name="Google Shape;18;p5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5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0" name="Google Shape;20;p5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 name="Google Shape;21;p5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2" name="Google Shape;22;p5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23" name="Shape 23"/>
        <p:cNvGrpSpPr/>
        <p:nvPr/>
      </p:nvGrpSpPr>
      <p:grpSpPr>
        <a:xfrm>
          <a:off x="0" y="0"/>
          <a:ext cx="0" cy="0"/>
          <a:chOff x="0" y="0"/>
          <a:chExt cx="0" cy="0"/>
        </a:xfrm>
      </p:grpSpPr>
      <p:sp>
        <p:nvSpPr>
          <p:cNvPr id="24" name="Google Shape;24;p5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55"/>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26" name="Google Shape;26;p55"/>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27" name="Google Shape;27;p5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8" name="Google Shape;28;p5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5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30" name="Shape 30"/>
        <p:cNvGrpSpPr/>
        <p:nvPr/>
      </p:nvGrpSpPr>
      <p:grpSpPr>
        <a:xfrm>
          <a:off x="0" y="0"/>
          <a:ext cx="0" cy="0"/>
          <a:chOff x="0" y="0"/>
          <a:chExt cx="0" cy="0"/>
        </a:xfrm>
      </p:grpSpPr>
      <p:sp>
        <p:nvSpPr>
          <p:cNvPr id="31" name="Google Shape;31;p5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5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3" name="Google Shape;33;p5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Text, and Content" type="txAndObj">
  <p:cSld name="TEXT_AND_OBJECT">
    <p:spTree>
      <p:nvGrpSpPr>
        <p:cNvPr id="34" name="Shape 34"/>
        <p:cNvGrpSpPr/>
        <p:nvPr/>
      </p:nvGrpSpPr>
      <p:grpSpPr>
        <a:xfrm>
          <a:off x="0" y="0"/>
          <a:ext cx="0" cy="0"/>
          <a:chOff x="0" y="0"/>
          <a:chExt cx="0" cy="0"/>
        </a:xfrm>
      </p:grpSpPr>
      <p:sp>
        <p:nvSpPr>
          <p:cNvPr id="35" name="Google Shape;35;p57"/>
          <p:cNvSpPr txBox="1"/>
          <p:nvPr>
            <p:ph type="title"/>
          </p:nvPr>
        </p:nvSpPr>
        <p:spPr>
          <a:xfrm>
            <a:off x="685800" y="609600"/>
            <a:ext cx="77724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6" name="Google Shape;36;p57"/>
          <p:cNvSpPr txBox="1"/>
          <p:nvPr>
            <p:ph idx="1" type="body"/>
          </p:nvPr>
        </p:nvSpPr>
        <p:spPr>
          <a:xfrm>
            <a:off x="685800" y="1981200"/>
            <a:ext cx="3810000" cy="41148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37" name="Google Shape;37;p57"/>
          <p:cNvSpPr txBox="1"/>
          <p:nvPr>
            <p:ph idx="2" type="body"/>
          </p:nvPr>
        </p:nvSpPr>
        <p:spPr>
          <a:xfrm>
            <a:off x="4648200" y="1981200"/>
            <a:ext cx="3810000" cy="41148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38" name="Google Shape;38;p57"/>
          <p:cNvSpPr txBox="1"/>
          <p:nvPr>
            <p:ph idx="10" type="dt"/>
          </p:nvPr>
        </p:nvSpPr>
        <p:spPr>
          <a:xfrm>
            <a:off x="685800" y="6248400"/>
            <a:ext cx="1905000" cy="4572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57"/>
          <p:cNvSpPr txBox="1"/>
          <p:nvPr>
            <p:ph idx="11" type="ftr"/>
          </p:nvPr>
        </p:nvSpPr>
        <p:spPr>
          <a:xfrm>
            <a:off x="3124200" y="6248400"/>
            <a:ext cx="2895600" cy="4572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0" name="Google Shape;40;p57"/>
          <p:cNvSpPr txBox="1"/>
          <p:nvPr>
            <p:ph idx="12" type="sldNum"/>
          </p:nvPr>
        </p:nvSpPr>
        <p:spPr>
          <a:xfrm>
            <a:off x="6553200" y="6248400"/>
            <a:ext cx="1905000" cy="4572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41" name="Shape 41"/>
        <p:cNvGrpSpPr/>
        <p:nvPr/>
      </p:nvGrpSpPr>
      <p:grpSpPr>
        <a:xfrm>
          <a:off x="0" y="0"/>
          <a:ext cx="0" cy="0"/>
          <a:chOff x="0" y="0"/>
          <a:chExt cx="0" cy="0"/>
        </a:xfrm>
      </p:grpSpPr>
      <p:sp>
        <p:nvSpPr>
          <p:cNvPr id="42" name="Google Shape;42;p58"/>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4000"/>
              <a:buFont typeface="Calibri"/>
              <a:buNone/>
              <a:defRPr b="1"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p58"/>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00"/>
              </a:spcBef>
              <a:spcAft>
                <a:spcPts val="0"/>
              </a:spcAft>
              <a:buClr>
                <a:srgbClr val="888888"/>
              </a:buClr>
              <a:buSzPts val="2000"/>
              <a:buNone/>
              <a:defRPr sz="2000">
                <a:solidFill>
                  <a:srgbClr val="888888"/>
                </a:solidFill>
              </a:defRPr>
            </a:lvl1pPr>
            <a:lvl2pPr indent="-228600" lvl="1" marL="914400" algn="l">
              <a:lnSpc>
                <a:spcPct val="100000"/>
              </a:lnSpc>
              <a:spcBef>
                <a:spcPts val="360"/>
              </a:spcBef>
              <a:spcAft>
                <a:spcPts val="0"/>
              </a:spcAft>
              <a:buClr>
                <a:srgbClr val="888888"/>
              </a:buClr>
              <a:buSzPts val="1800"/>
              <a:buNone/>
              <a:defRPr sz="1800">
                <a:solidFill>
                  <a:srgbClr val="888888"/>
                </a:solidFill>
              </a:defRPr>
            </a:lvl2pPr>
            <a:lvl3pPr indent="-228600" lvl="2" marL="1371600" algn="l">
              <a:lnSpc>
                <a:spcPct val="100000"/>
              </a:lnSpc>
              <a:spcBef>
                <a:spcPts val="320"/>
              </a:spcBef>
              <a:spcAft>
                <a:spcPts val="0"/>
              </a:spcAft>
              <a:buClr>
                <a:srgbClr val="888888"/>
              </a:buClr>
              <a:buSzPts val="1600"/>
              <a:buNone/>
              <a:defRPr sz="1600">
                <a:solidFill>
                  <a:srgbClr val="888888"/>
                </a:solidFill>
              </a:defRPr>
            </a:lvl3pPr>
            <a:lvl4pPr indent="-228600" lvl="3" marL="1828800" algn="l">
              <a:lnSpc>
                <a:spcPct val="100000"/>
              </a:lnSpc>
              <a:spcBef>
                <a:spcPts val="280"/>
              </a:spcBef>
              <a:spcAft>
                <a:spcPts val="0"/>
              </a:spcAft>
              <a:buClr>
                <a:srgbClr val="888888"/>
              </a:buClr>
              <a:buSzPts val="1400"/>
              <a:buNone/>
              <a:defRPr sz="1400">
                <a:solidFill>
                  <a:srgbClr val="888888"/>
                </a:solidFill>
              </a:defRPr>
            </a:lvl4pPr>
            <a:lvl5pPr indent="-228600" lvl="4" marL="2286000" algn="l">
              <a:lnSpc>
                <a:spcPct val="100000"/>
              </a:lnSpc>
              <a:spcBef>
                <a:spcPts val="280"/>
              </a:spcBef>
              <a:spcAft>
                <a:spcPts val="0"/>
              </a:spcAft>
              <a:buClr>
                <a:srgbClr val="888888"/>
              </a:buClr>
              <a:buSzPts val="1400"/>
              <a:buNone/>
              <a:defRPr sz="1400">
                <a:solidFill>
                  <a:srgbClr val="888888"/>
                </a:solidFill>
              </a:defRPr>
            </a:lvl5pPr>
            <a:lvl6pPr indent="-228600" lvl="5" marL="2743200" algn="l">
              <a:lnSpc>
                <a:spcPct val="100000"/>
              </a:lnSpc>
              <a:spcBef>
                <a:spcPts val="280"/>
              </a:spcBef>
              <a:spcAft>
                <a:spcPts val="0"/>
              </a:spcAft>
              <a:buClr>
                <a:srgbClr val="888888"/>
              </a:buClr>
              <a:buSzPts val="1400"/>
              <a:buNone/>
              <a:defRPr sz="1400">
                <a:solidFill>
                  <a:srgbClr val="888888"/>
                </a:solidFill>
              </a:defRPr>
            </a:lvl6pPr>
            <a:lvl7pPr indent="-228600" lvl="6" marL="3200400" algn="l">
              <a:lnSpc>
                <a:spcPct val="100000"/>
              </a:lnSpc>
              <a:spcBef>
                <a:spcPts val="280"/>
              </a:spcBef>
              <a:spcAft>
                <a:spcPts val="0"/>
              </a:spcAft>
              <a:buClr>
                <a:srgbClr val="888888"/>
              </a:buClr>
              <a:buSzPts val="1400"/>
              <a:buNone/>
              <a:defRPr sz="1400">
                <a:solidFill>
                  <a:srgbClr val="888888"/>
                </a:solidFill>
              </a:defRPr>
            </a:lvl7pPr>
            <a:lvl8pPr indent="-228600" lvl="7" marL="3657600" algn="l">
              <a:lnSpc>
                <a:spcPct val="100000"/>
              </a:lnSpc>
              <a:spcBef>
                <a:spcPts val="280"/>
              </a:spcBef>
              <a:spcAft>
                <a:spcPts val="0"/>
              </a:spcAft>
              <a:buClr>
                <a:srgbClr val="888888"/>
              </a:buClr>
              <a:buSzPts val="1400"/>
              <a:buNone/>
              <a:defRPr sz="1400">
                <a:solidFill>
                  <a:srgbClr val="888888"/>
                </a:solidFill>
              </a:defRPr>
            </a:lvl8pPr>
            <a:lvl9pPr indent="-228600" lvl="8" marL="4114800" algn="l">
              <a:lnSpc>
                <a:spcPct val="100000"/>
              </a:lnSpc>
              <a:spcBef>
                <a:spcPts val="280"/>
              </a:spcBef>
              <a:spcAft>
                <a:spcPts val="0"/>
              </a:spcAft>
              <a:buClr>
                <a:srgbClr val="888888"/>
              </a:buClr>
              <a:buSzPts val="1400"/>
              <a:buNone/>
              <a:defRPr sz="1400">
                <a:solidFill>
                  <a:srgbClr val="888888"/>
                </a:solidFill>
              </a:defRPr>
            </a:lvl9pPr>
          </a:lstStyle>
          <a:p/>
        </p:txBody>
      </p:sp>
      <p:sp>
        <p:nvSpPr>
          <p:cNvPr id="44" name="Google Shape;44;p5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5" name="Google Shape;45;p5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6" name="Google Shape;46;p5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7" name="Shape 47"/>
        <p:cNvGrpSpPr/>
        <p:nvPr/>
      </p:nvGrpSpPr>
      <p:grpSpPr>
        <a:xfrm>
          <a:off x="0" y="0"/>
          <a:ext cx="0" cy="0"/>
          <a:chOff x="0" y="0"/>
          <a:chExt cx="0" cy="0"/>
        </a:xfrm>
      </p:grpSpPr>
      <p:sp>
        <p:nvSpPr>
          <p:cNvPr id="48" name="Google Shape;48;p5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4400"/>
              <a:buFont typeface="Calibri"/>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9" name="Google Shape;49;p59"/>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50" name="Google Shape;50;p59"/>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51" name="Google Shape;51;p59"/>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52" name="Google Shape;52;p59"/>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53" name="Google Shape;53;p5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4" name="Google Shape;54;p5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5" name="Google Shape;55;p5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6" name="Shape 56"/>
        <p:cNvGrpSpPr/>
        <p:nvPr/>
      </p:nvGrpSpPr>
      <p:grpSpPr>
        <a:xfrm>
          <a:off x="0" y="0"/>
          <a:ext cx="0" cy="0"/>
          <a:chOff x="0" y="0"/>
          <a:chExt cx="0" cy="0"/>
        </a:xfrm>
      </p:grpSpPr>
      <p:sp>
        <p:nvSpPr>
          <p:cNvPr id="57" name="Google Shape;57;p6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8" name="Google Shape;58;p6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9" name="Google Shape;59;p6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6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61" name="Shape 61"/>
        <p:cNvGrpSpPr/>
        <p:nvPr/>
      </p:nvGrpSpPr>
      <p:grpSpPr>
        <a:xfrm>
          <a:off x="0" y="0"/>
          <a:ext cx="0" cy="0"/>
          <a:chOff x="0" y="0"/>
          <a:chExt cx="0" cy="0"/>
        </a:xfrm>
      </p:grpSpPr>
      <p:sp>
        <p:nvSpPr>
          <p:cNvPr id="62" name="Google Shape;62;p61"/>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61"/>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lnSpc>
                <a:spcPct val="100000"/>
              </a:lnSpc>
              <a:spcBef>
                <a:spcPts val="640"/>
              </a:spcBef>
              <a:spcAft>
                <a:spcPts val="0"/>
              </a:spcAft>
              <a:buClr>
                <a:schemeClr val="dk1"/>
              </a:buClr>
              <a:buSzPts val="3200"/>
              <a:buChar char="•"/>
              <a:defRPr sz="3200"/>
            </a:lvl1pPr>
            <a:lvl2pPr indent="-406400" lvl="1" marL="914400" algn="l">
              <a:lnSpc>
                <a:spcPct val="100000"/>
              </a:lnSpc>
              <a:spcBef>
                <a:spcPts val="560"/>
              </a:spcBef>
              <a:spcAft>
                <a:spcPts val="0"/>
              </a:spcAft>
              <a:buClr>
                <a:schemeClr val="dk1"/>
              </a:buClr>
              <a:buSzPts val="2800"/>
              <a:buChar char="–"/>
              <a:defRPr sz="2800"/>
            </a:lvl2pPr>
            <a:lvl3pPr indent="-381000" lvl="2" marL="1371600" algn="l">
              <a:lnSpc>
                <a:spcPct val="100000"/>
              </a:lnSpc>
              <a:spcBef>
                <a:spcPts val="480"/>
              </a:spcBef>
              <a:spcAft>
                <a:spcPts val="0"/>
              </a:spcAft>
              <a:buClr>
                <a:schemeClr val="dk1"/>
              </a:buClr>
              <a:buSzPts val="2400"/>
              <a:buChar char="•"/>
              <a:defRPr sz="2400"/>
            </a:lvl3pPr>
            <a:lvl4pPr indent="-355600" lvl="3" marL="1828800" algn="l">
              <a:lnSpc>
                <a:spcPct val="100000"/>
              </a:lnSpc>
              <a:spcBef>
                <a:spcPts val="400"/>
              </a:spcBef>
              <a:spcAft>
                <a:spcPts val="0"/>
              </a:spcAft>
              <a:buClr>
                <a:schemeClr val="dk1"/>
              </a:buClr>
              <a:buSzPts val="2000"/>
              <a:buChar char="–"/>
              <a:defRPr sz="2000"/>
            </a:lvl4pPr>
            <a:lvl5pPr indent="-355600" lvl="4" marL="2286000" algn="l">
              <a:lnSpc>
                <a:spcPct val="100000"/>
              </a:lnSpc>
              <a:spcBef>
                <a:spcPts val="400"/>
              </a:spcBef>
              <a:spcAft>
                <a:spcPts val="0"/>
              </a:spcAft>
              <a:buClr>
                <a:schemeClr val="dk1"/>
              </a:buClr>
              <a:buSzPts val="2000"/>
              <a:buChar char="»"/>
              <a:defRPr sz="2000"/>
            </a:lvl5pPr>
            <a:lvl6pPr indent="-355600" lvl="5" marL="2743200" algn="l">
              <a:lnSpc>
                <a:spcPct val="100000"/>
              </a:lnSpc>
              <a:spcBef>
                <a:spcPts val="400"/>
              </a:spcBef>
              <a:spcAft>
                <a:spcPts val="0"/>
              </a:spcAft>
              <a:buClr>
                <a:schemeClr val="dk1"/>
              </a:buClr>
              <a:buSzPts val="2000"/>
              <a:buChar char="•"/>
              <a:defRPr sz="2000"/>
            </a:lvl6pPr>
            <a:lvl7pPr indent="-355600" lvl="6" marL="3200400" algn="l">
              <a:lnSpc>
                <a:spcPct val="100000"/>
              </a:lnSpc>
              <a:spcBef>
                <a:spcPts val="400"/>
              </a:spcBef>
              <a:spcAft>
                <a:spcPts val="0"/>
              </a:spcAft>
              <a:buClr>
                <a:schemeClr val="dk1"/>
              </a:buClr>
              <a:buSzPts val="2000"/>
              <a:buChar char="•"/>
              <a:defRPr sz="2000"/>
            </a:lvl7pPr>
            <a:lvl8pPr indent="-355600" lvl="7" marL="3657600" algn="l">
              <a:lnSpc>
                <a:spcPct val="100000"/>
              </a:lnSpc>
              <a:spcBef>
                <a:spcPts val="400"/>
              </a:spcBef>
              <a:spcAft>
                <a:spcPts val="0"/>
              </a:spcAft>
              <a:buClr>
                <a:schemeClr val="dk1"/>
              </a:buClr>
              <a:buSzPts val="2000"/>
              <a:buChar char="•"/>
              <a:defRPr sz="2000"/>
            </a:lvl8pPr>
            <a:lvl9pPr indent="-355600" lvl="8" marL="4114800" algn="l">
              <a:lnSpc>
                <a:spcPct val="100000"/>
              </a:lnSpc>
              <a:spcBef>
                <a:spcPts val="400"/>
              </a:spcBef>
              <a:spcAft>
                <a:spcPts val="0"/>
              </a:spcAft>
              <a:buClr>
                <a:schemeClr val="dk1"/>
              </a:buClr>
              <a:buSzPts val="2000"/>
              <a:buChar char="•"/>
              <a:defRPr sz="2000"/>
            </a:lvl9pPr>
          </a:lstStyle>
          <a:p/>
        </p:txBody>
      </p:sp>
      <p:sp>
        <p:nvSpPr>
          <p:cNvPr id="64" name="Google Shape;64;p61"/>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5" name="Google Shape;65;p6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6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6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8" name="Shape 68"/>
        <p:cNvGrpSpPr/>
        <p:nvPr/>
      </p:nvGrpSpPr>
      <p:grpSpPr>
        <a:xfrm>
          <a:off x="0" y="0"/>
          <a:ext cx="0" cy="0"/>
          <a:chOff x="0" y="0"/>
          <a:chExt cx="0" cy="0"/>
        </a:xfrm>
      </p:grpSpPr>
      <p:sp>
        <p:nvSpPr>
          <p:cNvPr id="69" name="Google Shape;69;p62"/>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62"/>
          <p:cNvSpPr/>
          <p:nvPr>
            <p:ph idx="2" type="pic"/>
          </p:nvPr>
        </p:nvSpPr>
        <p:spPr>
          <a:xfrm>
            <a:off x="1792288" y="612775"/>
            <a:ext cx="5486400" cy="4114800"/>
          </a:xfrm>
          <a:prstGeom prst="rect">
            <a:avLst/>
          </a:prstGeom>
          <a:noFill/>
          <a:ln>
            <a:noFill/>
          </a:ln>
        </p:spPr>
      </p:sp>
      <p:sp>
        <p:nvSpPr>
          <p:cNvPr id="71" name="Google Shape;71;p62"/>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72" name="Google Shape;72;p6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6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6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5" name="Shape 75"/>
        <p:cNvGrpSpPr/>
        <p:nvPr/>
      </p:nvGrpSpPr>
      <p:grpSpPr>
        <a:xfrm>
          <a:off x="0" y="0"/>
          <a:ext cx="0" cy="0"/>
          <a:chOff x="0" y="0"/>
          <a:chExt cx="0" cy="0"/>
        </a:xfrm>
      </p:grpSpPr>
      <p:sp>
        <p:nvSpPr>
          <p:cNvPr id="76" name="Google Shape;76;p6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63"/>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8" name="Google Shape;78;p6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9" name="Google Shape;79;p6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 name="Google Shape;80;p6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81" name="Shape 81"/>
        <p:cNvGrpSpPr/>
        <p:nvPr/>
      </p:nvGrpSpPr>
      <p:grpSpPr>
        <a:xfrm>
          <a:off x="0" y="0"/>
          <a:ext cx="0" cy="0"/>
          <a:chOff x="0" y="0"/>
          <a:chExt cx="0" cy="0"/>
        </a:xfrm>
      </p:grpSpPr>
      <p:sp>
        <p:nvSpPr>
          <p:cNvPr id="82" name="Google Shape;82;p64"/>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64"/>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84" name="Google Shape;84;p6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5" name="Google Shape;85;p6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6" name="Google Shape;86;p6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2.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5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lnSpc>
                <a:spcPct val="10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p52"/>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5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9" name="Google Shape;9;p5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0" name="Google Shape;10;p5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hyperlink" Target="http://www.fpnotebook.com/REN116.htm" TargetMode="External"/><Relationship Id="rId4" Type="http://schemas.openxmlformats.org/officeDocument/2006/relationships/hyperlink" Target="http://www.fpnotebook.com/REN118.htm" TargetMode="External"/><Relationship Id="rId5" Type="http://schemas.openxmlformats.org/officeDocument/2006/relationships/hyperlink" Target="http://www.fpnotebook.com/REN117.htm"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 Id="rId3" Type="http://schemas.openxmlformats.org/officeDocument/2006/relationships/image" Target="../media/image1.png"/><Relationship Id="rId4" Type="http://schemas.openxmlformats.org/officeDocument/2006/relationships/image" Target="../media/image3.png"/><Relationship Id="rId5" Type="http://schemas.openxmlformats.org/officeDocument/2006/relationships/image" Target="../media/image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 Id="rId3" Type="http://schemas.openxmlformats.org/officeDocument/2006/relationships/image" Target="../media/image2.png"/><Relationship Id="rId4" Type="http://schemas.openxmlformats.org/officeDocument/2006/relationships/image" Target="../media/image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hyperlink" Target="http://www.fpnotebook.com/REN116.htm" TargetMode="External"/><Relationship Id="rId4" Type="http://schemas.openxmlformats.org/officeDocument/2006/relationships/hyperlink" Target="http://www.fpnotebook.com/REN118.htm" TargetMode="External"/><Relationship Id="rId5" Type="http://schemas.openxmlformats.org/officeDocument/2006/relationships/hyperlink" Target="http://www.fpnotebook.com/REN118.htm" TargetMode="External"/><Relationship Id="rId6" Type="http://schemas.openxmlformats.org/officeDocument/2006/relationships/hyperlink" Target="http://www.fpnotebook.com/REN117.htm"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 Id="rId3" Type="http://schemas.openxmlformats.org/officeDocument/2006/relationships/image" Target="../media/image7.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sp>
        <p:nvSpPr>
          <p:cNvPr id="91" name="Google Shape;91;p2"/>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fontScale="90000"/>
          </a:bodyPr>
          <a:lstStyle/>
          <a:p>
            <a:pPr indent="0" lvl="0" marL="0" rtl="0" algn="ctr">
              <a:lnSpc>
                <a:spcPct val="100000"/>
              </a:lnSpc>
              <a:spcBef>
                <a:spcPts val="0"/>
              </a:spcBef>
              <a:spcAft>
                <a:spcPts val="0"/>
              </a:spcAft>
              <a:buClr>
                <a:schemeClr val="dk1"/>
              </a:buClr>
              <a:buSzPct val="100000"/>
              <a:buFont typeface="Calibri"/>
              <a:buNone/>
            </a:pPr>
            <a:r>
              <a:rPr b="1" lang="en-US"/>
              <a:t>CASE BASE LEARNING </a:t>
            </a:r>
            <a:br>
              <a:rPr b="1" lang="en-US"/>
            </a:br>
            <a:r>
              <a:rPr b="1" lang="en-US" u="sng"/>
              <a:t>CBL  -1</a:t>
            </a:r>
            <a:br>
              <a:rPr lang="en-US"/>
            </a:br>
            <a:endParaRPr/>
          </a:p>
        </p:txBody>
      </p:sp>
      <p:sp>
        <p:nvSpPr>
          <p:cNvPr id="92" name="Google Shape;92;p2"/>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p>
            <a:pPr indent="0" lvl="0" marL="0" rtl="0" algn="ctr">
              <a:lnSpc>
                <a:spcPct val="100000"/>
              </a:lnSpc>
              <a:spcBef>
                <a:spcPts val="0"/>
              </a:spcBef>
              <a:spcAft>
                <a:spcPts val="0"/>
              </a:spcAft>
              <a:buClr>
                <a:srgbClr val="888888"/>
              </a:buClr>
              <a:buSzPts val="3200"/>
              <a:buNone/>
            </a:pPr>
            <a:r>
              <a:rPr lang="en-US"/>
              <a:t>FOUNDATION MODULE</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sp>
        <p:nvSpPr>
          <p:cNvPr id="97" name="Google Shape;97;p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n-US"/>
              <a:t>TOPIC</a:t>
            </a:r>
            <a:endParaRPr/>
          </a:p>
        </p:txBody>
      </p:sp>
      <p:sp>
        <p:nvSpPr>
          <p:cNvPr id="98" name="Google Shape;98;p3"/>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lnSpc>
                <a:spcPct val="100000"/>
              </a:lnSpc>
              <a:spcBef>
                <a:spcPts val="0"/>
              </a:spcBef>
              <a:spcAft>
                <a:spcPts val="0"/>
              </a:spcAft>
              <a:buClr>
                <a:schemeClr val="dk1"/>
              </a:buClr>
              <a:buSzPts val="3200"/>
              <a:buChar char="•"/>
            </a:pPr>
            <a:r>
              <a:rPr b="1" lang="en-US"/>
              <a:t>SHIFTING OF FLUID AND ELECTROLYTE ACROSS CELL MEMBRANE</a:t>
            </a:r>
            <a:endParaRPr/>
          </a:p>
          <a:p>
            <a:pPr indent="-139700" lvl="0" marL="342900" rtl="0" algn="l">
              <a:lnSpc>
                <a:spcPct val="100000"/>
              </a:lnSpc>
              <a:spcBef>
                <a:spcPts val="640"/>
              </a:spcBef>
              <a:spcAft>
                <a:spcPts val="0"/>
              </a:spcAft>
              <a:buClr>
                <a:schemeClr val="dk1"/>
              </a:buClr>
              <a:buSzPts val="3200"/>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n-US"/>
              <a:t>LEARNING OBJECTIVES</a:t>
            </a:r>
            <a:endParaRPr/>
          </a:p>
        </p:txBody>
      </p:sp>
      <p:sp>
        <p:nvSpPr>
          <p:cNvPr id="104" name="Google Shape;104;p4"/>
          <p:cNvSpPr txBox="1"/>
          <p:nvPr>
            <p:ph idx="1" type="body"/>
          </p:nvPr>
        </p:nvSpPr>
        <p:spPr>
          <a:xfrm>
            <a:off x="457200" y="1295400"/>
            <a:ext cx="8229600" cy="4830763"/>
          </a:xfrm>
          <a:prstGeom prst="rect">
            <a:avLst/>
          </a:prstGeom>
          <a:noFill/>
          <a:ln>
            <a:noFill/>
          </a:ln>
        </p:spPr>
        <p:txBody>
          <a:bodyPr anchorCtr="0" anchor="t" bIns="45700" lIns="91425" spcFirstLastPara="1" rIns="91425" wrap="square" tIns="45700">
            <a:normAutofit fontScale="85000" lnSpcReduction="10000"/>
          </a:bodyPr>
          <a:lstStyle/>
          <a:p>
            <a:pPr indent="0" lvl="0" marL="0" rtl="0" algn="l">
              <a:lnSpc>
                <a:spcPct val="100000"/>
              </a:lnSpc>
              <a:spcBef>
                <a:spcPts val="0"/>
              </a:spcBef>
              <a:spcAft>
                <a:spcPts val="0"/>
              </a:spcAft>
              <a:buClr>
                <a:schemeClr val="dk1"/>
              </a:buClr>
              <a:buSzPct val="100000"/>
              <a:buNone/>
            </a:pPr>
            <a:r>
              <a:t/>
            </a:r>
            <a:endParaRPr/>
          </a:p>
          <a:p>
            <a:pPr indent="-342900" lvl="0" marL="342900" rtl="0" algn="l">
              <a:lnSpc>
                <a:spcPct val="100000"/>
              </a:lnSpc>
              <a:spcBef>
                <a:spcPts val="544"/>
              </a:spcBef>
              <a:spcAft>
                <a:spcPts val="0"/>
              </a:spcAft>
              <a:buClr>
                <a:schemeClr val="dk1"/>
              </a:buClr>
              <a:buSzPct val="100000"/>
              <a:buChar char="•"/>
            </a:pPr>
            <a:r>
              <a:rPr lang="en-US"/>
              <a:t>Define Osmosis and how hypernatremia disturb the osmolarity and cellular function  </a:t>
            </a:r>
            <a:endParaRPr/>
          </a:p>
          <a:p>
            <a:pPr indent="-342900" lvl="0" marL="342900" rtl="0" algn="l">
              <a:lnSpc>
                <a:spcPct val="100000"/>
              </a:lnSpc>
              <a:spcBef>
                <a:spcPts val="544"/>
              </a:spcBef>
              <a:spcAft>
                <a:spcPts val="0"/>
              </a:spcAft>
              <a:buClr>
                <a:schemeClr val="dk1"/>
              </a:buClr>
              <a:buSzPct val="100000"/>
              <a:buChar char="•"/>
            </a:pPr>
            <a:r>
              <a:rPr lang="en-US"/>
              <a:t>Enumerate the Factors affecting the movement of  water and electrolytes across cell membrane  (Between extracellular and intracellular compartment )</a:t>
            </a:r>
            <a:endParaRPr/>
          </a:p>
          <a:p>
            <a:pPr indent="-342900" lvl="0" marL="342900" rtl="0" algn="l">
              <a:lnSpc>
                <a:spcPct val="100000"/>
              </a:lnSpc>
              <a:spcBef>
                <a:spcPts val="544"/>
              </a:spcBef>
              <a:spcAft>
                <a:spcPts val="0"/>
              </a:spcAft>
              <a:buClr>
                <a:schemeClr val="dk1"/>
              </a:buClr>
              <a:buSzPct val="100000"/>
              <a:buChar char="•"/>
            </a:pPr>
            <a:r>
              <a:rPr lang="en-US"/>
              <a:t>Enumerate the causes of </a:t>
            </a:r>
            <a:r>
              <a:rPr lang="en-US" u="sng">
                <a:solidFill>
                  <a:schemeClr val="hlink"/>
                </a:solidFill>
                <a:hlinkClick r:id="rId3"/>
              </a:rPr>
              <a:t>Hypervolemic Hypernatremia</a:t>
            </a:r>
            <a:r>
              <a:rPr lang="en-US"/>
              <a:t>, </a:t>
            </a:r>
            <a:r>
              <a:rPr lang="en-US" u="sng">
                <a:solidFill>
                  <a:schemeClr val="hlink"/>
                </a:solidFill>
                <a:hlinkClick r:id="rId4"/>
              </a:rPr>
              <a:t>Isovolemic Hypernatremia</a:t>
            </a:r>
            <a:r>
              <a:rPr lang="en-US"/>
              <a:t>  and  </a:t>
            </a:r>
            <a:r>
              <a:rPr lang="en-US" u="sng">
                <a:solidFill>
                  <a:schemeClr val="hlink"/>
                </a:solidFill>
                <a:hlinkClick r:id="rId5"/>
              </a:rPr>
              <a:t>Hypovolemic Hypernatremia</a:t>
            </a:r>
            <a:r>
              <a:rPr i="1" lang="en-US"/>
              <a:t> </a:t>
            </a:r>
            <a:endParaRPr/>
          </a:p>
          <a:p>
            <a:pPr indent="-342900" lvl="0" marL="342900" rtl="0" algn="l">
              <a:lnSpc>
                <a:spcPct val="100000"/>
              </a:lnSpc>
              <a:spcBef>
                <a:spcPts val="544"/>
              </a:spcBef>
              <a:spcAft>
                <a:spcPts val="0"/>
              </a:spcAft>
              <a:buClr>
                <a:schemeClr val="dk1"/>
              </a:buClr>
              <a:buSzPct val="100000"/>
              <a:buChar char="•"/>
            </a:pPr>
            <a:r>
              <a:rPr lang="en-US"/>
              <a:t>How homeostasis is achieved if water and electrolytes are disturbed</a:t>
            </a:r>
            <a:endParaRPr/>
          </a:p>
          <a:p>
            <a:pPr indent="-170180" lvl="0" marL="342900" rtl="0" algn="l">
              <a:lnSpc>
                <a:spcPct val="100000"/>
              </a:lnSpc>
              <a:spcBef>
                <a:spcPts val="544"/>
              </a:spcBef>
              <a:spcAft>
                <a:spcPts val="0"/>
              </a:spcAft>
              <a:buClr>
                <a:schemeClr val="dk1"/>
              </a:buClr>
              <a:buSzPct val="100000"/>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p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fontScale="90000"/>
          </a:bodyPr>
          <a:lstStyle/>
          <a:p>
            <a:pPr indent="0" lvl="0" marL="0" rtl="0" algn="ctr">
              <a:lnSpc>
                <a:spcPct val="100000"/>
              </a:lnSpc>
              <a:spcBef>
                <a:spcPts val="0"/>
              </a:spcBef>
              <a:spcAft>
                <a:spcPts val="0"/>
              </a:spcAft>
              <a:buClr>
                <a:srgbClr val="000000"/>
              </a:buClr>
              <a:buSzPct val="100000"/>
              <a:buFont typeface="Calibri"/>
              <a:buNone/>
            </a:pPr>
            <a:r>
              <a:rPr b="1" lang="en-US">
                <a:solidFill>
                  <a:srgbClr val="000000"/>
                </a:solidFill>
              </a:rPr>
              <a:t>TYPES OF I/V FLUIDS:</a:t>
            </a:r>
            <a:br>
              <a:rPr b="1" i="0" lang="en-US" u="none" strike="noStrike">
                <a:solidFill>
                  <a:srgbClr val="000000"/>
                </a:solidFill>
              </a:rPr>
            </a:br>
            <a:endParaRPr/>
          </a:p>
        </p:txBody>
      </p:sp>
      <p:sp>
        <p:nvSpPr>
          <p:cNvPr id="110" name="Google Shape;110;p5"/>
          <p:cNvSpPr txBox="1"/>
          <p:nvPr>
            <p:ph idx="1" type="body"/>
          </p:nvPr>
        </p:nvSpPr>
        <p:spPr>
          <a:xfrm>
            <a:off x="457200" y="914400"/>
            <a:ext cx="8229600" cy="5211763"/>
          </a:xfrm>
          <a:prstGeom prst="rect">
            <a:avLst/>
          </a:prstGeom>
          <a:noFill/>
          <a:ln>
            <a:noFill/>
          </a:ln>
        </p:spPr>
        <p:txBody>
          <a:bodyPr anchorCtr="0" anchor="t" bIns="45700" lIns="91425" spcFirstLastPara="1" rIns="91425" wrap="square" tIns="45700">
            <a:normAutofit fontScale="77500" lnSpcReduction="20000"/>
          </a:bodyPr>
          <a:lstStyle/>
          <a:p>
            <a:pPr indent="-342900" lvl="0" marL="342900" rtl="0" algn="l">
              <a:lnSpc>
                <a:spcPct val="100000"/>
              </a:lnSpc>
              <a:spcBef>
                <a:spcPts val="0"/>
              </a:spcBef>
              <a:spcAft>
                <a:spcPts val="0"/>
              </a:spcAft>
              <a:buClr>
                <a:srgbClr val="000000"/>
              </a:buClr>
              <a:buSzPct val="100000"/>
              <a:buChar char="•"/>
            </a:pPr>
            <a:r>
              <a:rPr b="1" i="0" lang="en-US" sz="4600" u="none" strike="noStrike">
                <a:solidFill>
                  <a:srgbClr val="000000"/>
                </a:solidFill>
              </a:rPr>
              <a:t>Isotonic Solutions (≈ 275–295 mOsm/L)</a:t>
            </a:r>
            <a:endParaRPr/>
          </a:p>
          <a:p>
            <a:pPr indent="-342931" lvl="0" marL="342900" rtl="0" algn="l">
              <a:lnSpc>
                <a:spcPct val="100000"/>
              </a:lnSpc>
              <a:spcBef>
                <a:spcPts val="449"/>
              </a:spcBef>
              <a:spcAft>
                <a:spcPts val="0"/>
              </a:spcAft>
              <a:buClr>
                <a:srgbClr val="000000"/>
              </a:buClr>
              <a:buSzPct val="100000"/>
              <a:buFont typeface="Arial"/>
              <a:buChar char="•"/>
            </a:pPr>
            <a:r>
              <a:rPr b="1" i="0" lang="en-US" sz="2900" u="none" strike="noStrike">
                <a:solidFill>
                  <a:srgbClr val="000000"/>
                </a:solidFill>
              </a:rPr>
              <a:t>Function:</a:t>
            </a:r>
            <a:r>
              <a:rPr b="0" i="0" lang="en-US" sz="2900" u="none" strike="noStrike">
                <a:solidFill>
                  <a:srgbClr val="000000"/>
                </a:solidFill>
              </a:rPr>
              <a:t> Remain in the extracellular compartment (ECF), used for volume expansion.</a:t>
            </a:r>
            <a:endParaRPr/>
          </a:p>
          <a:p>
            <a:pPr indent="-342931" lvl="0" marL="342900" rtl="0" algn="l">
              <a:lnSpc>
                <a:spcPct val="100000"/>
              </a:lnSpc>
              <a:spcBef>
                <a:spcPts val="449"/>
              </a:spcBef>
              <a:spcAft>
                <a:spcPts val="0"/>
              </a:spcAft>
              <a:buClr>
                <a:srgbClr val="000000"/>
              </a:buClr>
              <a:buSzPct val="100000"/>
              <a:buFont typeface="Arial"/>
              <a:buChar char="•"/>
            </a:pPr>
            <a:r>
              <a:rPr b="1" i="0" lang="en-US" sz="2900" u="none" strike="noStrike">
                <a:solidFill>
                  <a:srgbClr val="000000"/>
                </a:solidFill>
              </a:rPr>
              <a:t>Examples:</a:t>
            </a:r>
            <a:endParaRPr b="0" i="0" sz="2900" u="none" strike="noStrike">
              <a:solidFill>
                <a:srgbClr val="000000"/>
              </a:solidFill>
            </a:endParaRPr>
          </a:p>
          <a:p>
            <a:pPr indent="-285812" lvl="1" marL="742950" rtl="0" algn="l">
              <a:lnSpc>
                <a:spcPct val="100000"/>
              </a:lnSpc>
              <a:spcBef>
                <a:spcPts val="449"/>
              </a:spcBef>
              <a:spcAft>
                <a:spcPts val="0"/>
              </a:spcAft>
              <a:buClr>
                <a:srgbClr val="000000"/>
              </a:buClr>
              <a:buSzPct val="100000"/>
              <a:buFont typeface="Arial"/>
              <a:buChar char="•"/>
            </a:pPr>
            <a:r>
              <a:rPr b="1" i="0" lang="en-US" sz="2900" u="none" strike="noStrike">
                <a:solidFill>
                  <a:srgbClr val="000000"/>
                </a:solidFill>
              </a:rPr>
              <a:t>0.9% Sodium Chloride (Normal Saline, NS)</a:t>
            </a:r>
            <a:endParaRPr b="0" i="0" sz="2900" u="none" strike="noStrike">
              <a:solidFill>
                <a:srgbClr val="000000"/>
              </a:solidFill>
            </a:endParaRPr>
          </a:p>
          <a:p>
            <a:pPr indent="-228662" lvl="2" marL="1143000" rtl="0" algn="l">
              <a:lnSpc>
                <a:spcPct val="100000"/>
              </a:lnSpc>
              <a:spcBef>
                <a:spcPts val="449"/>
              </a:spcBef>
              <a:spcAft>
                <a:spcPts val="0"/>
              </a:spcAft>
              <a:buClr>
                <a:srgbClr val="000000"/>
              </a:buClr>
              <a:buSzPct val="100000"/>
              <a:buFont typeface="Arial"/>
              <a:buChar char="•"/>
            </a:pPr>
            <a:r>
              <a:rPr b="0" i="0" lang="en-US" sz="2900" u="none" strike="noStrike">
                <a:solidFill>
                  <a:srgbClr val="000000"/>
                </a:solidFill>
              </a:rPr>
              <a:t>Contains: </a:t>
            </a:r>
            <a:r>
              <a:rPr b="1" i="0" lang="en-US" sz="2900" u="none" strike="noStrike">
                <a:solidFill>
                  <a:srgbClr val="000000"/>
                </a:solidFill>
              </a:rPr>
              <a:t>Na⁺ (154 mEq/L) and Cl⁻ (154 mEq/L)</a:t>
            </a:r>
            <a:endParaRPr b="0" i="0" sz="2900" u="none" strike="noStrike">
              <a:solidFill>
                <a:srgbClr val="000000"/>
              </a:solidFill>
            </a:endParaRPr>
          </a:p>
          <a:p>
            <a:pPr indent="-228662" lvl="2" marL="1143000" rtl="0" algn="l">
              <a:lnSpc>
                <a:spcPct val="100000"/>
              </a:lnSpc>
              <a:spcBef>
                <a:spcPts val="449"/>
              </a:spcBef>
              <a:spcAft>
                <a:spcPts val="0"/>
              </a:spcAft>
              <a:buClr>
                <a:srgbClr val="000000"/>
              </a:buClr>
              <a:buSzPct val="100000"/>
              <a:buFont typeface="Arial"/>
              <a:buChar char="•"/>
            </a:pPr>
            <a:r>
              <a:rPr b="1" i="0" lang="en-US" sz="2900" u="none" strike="noStrike">
                <a:solidFill>
                  <a:srgbClr val="000000"/>
                </a:solidFill>
              </a:rPr>
              <a:t>Uses:</a:t>
            </a:r>
            <a:r>
              <a:rPr b="0" i="0" lang="en-US" sz="2900" u="none" strike="noStrike">
                <a:solidFill>
                  <a:srgbClr val="000000"/>
                </a:solidFill>
              </a:rPr>
              <a:t> Hypovolemia, dehydration, shock, mild hyponatremia, metabolic alkalosis</a:t>
            </a:r>
            <a:endParaRPr/>
          </a:p>
          <a:p>
            <a:pPr indent="-285812" lvl="1" marL="742950" rtl="0" algn="l">
              <a:lnSpc>
                <a:spcPct val="100000"/>
              </a:lnSpc>
              <a:spcBef>
                <a:spcPts val="449"/>
              </a:spcBef>
              <a:spcAft>
                <a:spcPts val="0"/>
              </a:spcAft>
              <a:buClr>
                <a:srgbClr val="000000"/>
              </a:buClr>
              <a:buSzPct val="100000"/>
              <a:buFont typeface="Arial"/>
              <a:buChar char="•"/>
            </a:pPr>
            <a:r>
              <a:rPr b="1" i="0" lang="en-US" sz="2900" u="none" strike="noStrike">
                <a:solidFill>
                  <a:srgbClr val="000000"/>
                </a:solidFill>
              </a:rPr>
              <a:t>Lactated Ringer’s (RL / Ringer’s Lactate)</a:t>
            </a:r>
            <a:endParaRPr b="0" i="0" sz="2900" u="none" strike="noStrike">
              <a:solidFill>
                <a:srgbClr val="000000"/>
              </a:solidFill>
            </a:endParaRPr>
          </a:p>
          <a:p>
            <a:pPr indent="-228662" lvl="2" marL="1143000" rtl="0" algn="l">
              <a:lnSpc>
                <a:spcPct val="100000"/>
              </a:lnSpc>
              <a:spcBef>
                <a:spcPts val="449"/>
              </a:spcBef>
              <a:spcAft>
                <a:spcPts val="0"/>
              </a:spcAft>
              <a:buClr>
                <a:srgbClr val="000000"/>
              </a:buClr>
              <a:buSzPct val="100000"/>
              <a:buFont typeface="Arial"/>
              <a:buChar char="•"/>
            </a:pPr>
            <a:r>
              <a:rPr b="0" i="0" lang="en-US" sz="2900" u="none" strike="noStrike">
                <a:solidFill>
                  <a:srgbClr val="000000"/>
                </a:solidFill>
              </a:rPr>
              <a:t>Contains: </a:t>
            </a:r>
            <a:r>
              <a:rPr b="1" i="0" lang="en-US" sz="2900" u="none" strike="noStrike">
                <a:solidFill>
                  <a:srgbClr val="000000"/>
                </a:solidFill>
              </a:rPr>
              <a:t>Na⁺, K⁺, Ca²⁺, Cl⁻, and Lactate</a:t>
            </a:r>
            <a:endParaRPr b="0" i="0" sz="2900" u="none" strike="noStrike">
              <a:solidFill>
                <a:srgbClr val="000000"/>
              </a:solidFill>
            </a:endParaRPr>
          </a:p>
          <a:p>
            <a:pPr indent="-228662" lvl="2" marL="1143000" rtl="0" algn="l">
              <a:lnSpc>
                <a:spcPct val="100000"/>
              </a:lnSpc>
              <a:spcBef>
                <a:spcPts val="449"/>
              </a:spcBef>
              <a:spcAft>
                <a:spcPts val="0"/>
              </a:spcAft>
              <a:buClr>
                <a:srgbClr val="000000"/>
              </a:buClr>
              <a:buSzPct val="100000"/>
              <a:buFont typeface="Arial"/>
              <a:buChar char="•"/>
            </a:pPr>
            <a:r>
              <a:rPr b="1" i="0" lang="en-US" sz="2900" u="none" strike="noStrike">
                <a:solidFill>
                  <a:srgbClr val="000000"/>
                </a:solidFill>
              </a:rPr>
              <a:t>Uses:</a:t>
            </a:r>
            <a:r>
              <a:rPr b="0" i="0" lang="en-US" sz="2900" u="none" strike="noStrike">
                <a:solidFill>
                  <a:srgbClr val="000000"/>
                </a:solidFill>
              </a:rPr>
              <a:t> Burns, trauma, surgery, acidosis correction (except in liver disease)</a:t>
            </a:r>
            <a:endParaRPr/>
          </a:p>
          <a:p>
            <a:pPr indent="-285812" lvl="1" marL="742950" rtl="0" algn="l">
              <a:lnSpc>
                <a:spcPct val="100000"/>
              </a:lnSpc>
              <a:spcBef>
                <a:spcPts val="449"/>
              </a:spcBef>
              <a:spcAft>
                <a:spcPts val="0"/>
              </a:spcAft>
              <a:buClr>
                <a:srgbClr val="000000"/>
              </a:buClr>
              <a:buSzPct val="100000"/>
              <a:buFont typeface="Arial"/>
              <a:buChar char="•"/>
            </a:pPr>
            <a:r>
              <a:rPr b="1" i="0" lang="en-US" sz="2900" u="none" strike="noStrike">
                <a:solidFill>
                  <a:srgbClr val="000000"/>
                </a:solidFill>
              </a:rPr>
              <a:t>5% Dextrose in Water (D5W) - Initially Isotonic</a:t>
            </a:r>
            <a:endParaRPr b="0" i="0" sz="2900" u="none" strike="noStrike">
              <a:solidFill>
                <a:srgbClr val="000000"/>
              </a:solidFill>
            </a:endParaRPr>
          </a:p>
          <a:p>
            <a:pPr indent="-228662" lvl="2" marL="1143000" rtl="0" algn="l">
              <a:lnSpc>
                <a:spcPct val="100000"/>
              </a:lnSpc>
              <a:spcBef>
                <a:spcPts val="449"/>
              </a:spcBef>
              <a:spcAft>
                <a:spcPts val="0"/>
              </a:spcAft>
              <a:buClr>
                <a:srgbClr val="000000"/>
              </a:buClr>
              <a:buSzPct val="100000"/>
              <a:buFont typeface="Arial"/>
              <a:buChar char="•"/>
            </a:pPr>
            <a:r>
              <a:rPr b="1" i="0" lang="en-US" sz="2900" u="none" strike="noStrike">
                <a:solidFill>
                  <a:srgbClr val="000000"/>
                </a:solidFill>
              </a:rPr>
              <a:t>Becomes hypotonic</a:t>
            </a:r>
            <a:r>
              <a:rPr b="0" i="0" lang="en-US" sz="2900" u="none" strike="noStrike">
                <a:solidFill>
                  <a:srgbClr val="000000"/>
                </a:solidFill>
              </a:rPr>
              <a:t> after metabolism of dextrose</a:t>
            </a:r>
            <a:endParaRPr/>
          </a:p>
          <a:p>
            <a:pPr indent="-228662" lvl="2" marL="1143000" rtl="0" algn="l">
              <a:lnSpc>
                <a:spcPct val="100000"/>
              </a:lnSpc>
              <a:spcBef>
                <a:spcPts val="449"/>
              </a:spcBef>
              <a:spcAft>
                <a:spcPts val="0"/>
              </a:spcAft>
              <a:buClr>
                <a:srgbClr val="000000"/>
              </a:buClr>
              <a:buSzPct val="100000"/>
              <a:buFont typeface="Arial"/>
              <a:buChar char="•"/>
            </a:pPr>
            <a:r>
              <a:rPr b="1" i="0" lang="en-US" sz="2900" u="none" strike="noStrike">
                <a:solidFill>
                  <a:srgbClr val="000000"/>
                </a:solidFill>
              </a:rPr>
              <a:t>Uses:</a:t>
            </a:r>
            <a:r>
              <a:rPr b="0" i="0" lang="en-US" sz="2900" u="none" strike="noStrike">
                <a:solidFill>
                  <a:srgbClr val="000000"/>
                </a:solidFill>
              </a:rPr>
              <a:t> Dehydration, fluid loss, but </a:t>
            </a:r>
            <a:r>
              <a:rPr b="1" i="0" lang="en-US" sz="2900" u="none" strike="noStrike">
                <a:solidFill>
                  <a:srgbClr val="000000"/>
                </a:solidFill>
              </a:rPr>
              <a:t>not</a:t>
            </a:r>
            <a:r>
              <a:rPr b="0" i="0" lang="en-US" sz="2900" u="none" strike="noStrike">
                <a:solidFill>
                  <a:srgbClr val="000000"/>
                </a:solidFill>
              </a:rPr>
              <a:t> for resuscitation</a:t>
            </a:r>
            <a:endParaRPr/>
          </a:p>
          <a:p>
            <a:pPr indent="-185420" lvl="0" marL="342900" rtl="0" algn="l">
              <a:lnSpc>
                <a:spcPct val="100000"/>
              </a:lnSpc>
              <a:spcBef>
                <a:spcPts val="496"/>
              </a:spcBef>
              <a:spcAft>
                <a:spcPts val="0"/>
              </a:spcAft>
              <a:buClr>
                <a:schemeClr val="dk1"/>
              </a:buClr>
              <a:buSzPct val="100000"/>
              <a:buNone/>
            </a:pPr>
            <a:r>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p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fontScale="90000"/>
          </a:bodyPr>
          <a:lstStyle/>
          <a:p>
            <a:pPr indent="0" lvl="0" marL="0" rtl="0" algn="ctr">
              <a:lnSpc>
                <a:spcPct val="100000"/>
              </a:lnSpc>
              <a:spcBef>
                <a:spcPts val="0"/>
              </a:spcBef>
              <a:spcAft>
                <a:spcPts val="0"/>
              </a:spcAft>
              <a:buClr>
                <a:srgbClr val="000000"/>
              </a:buClr>
              <a:buSzPct val="100000"/>
              <a:buFont typeface="Calibri"/>
              <a:buNone/>
            </a:pPr>
            <a:r>
              <a:rPr b="1" i="0" lang="en-US" u="none" strike="noStrike">
                <a:solidFill>
                  <a:srgbClr val="000000"/>
                </a:solidFill>
              </a:rPr>
              <a:t>Hypotonic Solutions (&lt; 275 mOsm/L)</a:t>
            </a:r>
            <a:br>
              <a:rPr b="1" i="0" lang="en-US" u="none" strike="noStrike">
                <a:solidFill>
                  <a:srgbClr val="000000"/>
                </a:solidFill>
              </a:rPr>
            </a:br>
            <a:endParaRPr/>
          </a:p>
        </p:txBody>
      </p:sp>
      <p:sp>
        <p:nvSpPr>
          <p:cNvPr id="116" name="Google Shape;116;p6"/>
          <p:cNvSpPr txBox="1"/>
          <p:nvPr>
            <p:ph idx="1" type="body"/>
          </p:nvPr>
        </p:nvSpPr>
        <p:spPr>
          <a:xfrm>
            <a:off x="304800" y="1066800"/>
            <a:ext cx="8382000" cy="5059363"/>
          </a:xfrm>
          <a:prstGeom prst="rect">
            <a:avLst/>
          </a:prstGeom>
          <a:noFill/>
          <a:ln>
            <a:noFill/>
          </a:ln>
        </p:spPr>
        <p:txBody>
          <a:bodyPr anchorCtr="0" anchor="t" bIns="45700" lIns="91425" spcFirstLastPara="1" rIns="91425" wrap="square" tIns="45700">
            <a:normAutofit fontScale="92500" lnSpcReduction="10000"/>
          </a:bodyPr>
          <a:lstStyle/>
          <a:p>
            <a:pPr indent="0" lvl="0" marL="0" rtl="0" algn="l">
              <a:lnSpc>
                <a:spcPct val="100000"/>
              </a:lnSpc>
              <a:spcBef>
                <a:spcPts val="0"/>
              </a:spcBef>
              <a:spcAft>
                <a:spcPts val="0"/>
              </a:spcAft>
              <a:buClr>
                <a:schemeClr val="dk1"/>
              </a:buClr>
              <a:buSzPct val="100000"/>
              <a:buNone/>
            </a:pPr>
            <a:r>
              <a:t/>
            </a:r>
            <a:endParaRPr b="1" i="0" u="none" strike="noStrike">
              <a:solidFill>
                <a:srgbClr val="000000"/>
              </a:solidFill>
            </a:endParaRPr>
          </a:p>
          <a:p>
            <a:pPr indent="-342900" lvl="0" marL="342900" rtl="0" algn="l">
              <a:lnSpc>
                <a:spcPct val="100000"/>
              </a:lnSpc>
              <a:spcBef>
                <a:spcPts val="592"/>
              </a:spcBef>
              <a:spcAft>
                <a:spcPts val="0"/>
              </a:spcAft>
              <a:buClr>
                <a:srgbClr val="000000"/>
              </a:buClr>
              <a:buSzPct val="100000"/>
              <a:buFont typeface="Arial"/>
              <a:buChar char="•"/>
            </a:pPr>
            <a:r>
              <a:rPr b="1" i="0" lang="en-US" u="none" strike="noStrike">
                <a:solidFill>
                  <a:srgbClr val="000000"/>
                </a:solidFill>
              </a:rPr>
              <a:t>Function:</a:t>
            </a:r>
            <a:r>
              <a:rPr b="0" i="0" lang="en-US" u="none" strike="noStrike">
                <a:solidFill>
                  <a:srgbClr val="000000"/>
                </a:solidFill>
              </a:rPr>
              <a:t> Shift fluid </a:t>
            </a:r>
            <a:r>
              <a:rPr b="1" i="0" lang="en-US" u="none" strike="noStrike">
                <a:solidFill>
                  <a:srgbClr val="000000"/>
                </a:solidFill>
              </a:rPr>
              <a:t>from ECF to ICF</a:t>
            </a:r>
            <a:r>
              <a:rPr b="0" i="0" lang="en-US" u="none" strike="noStrike">
                <a:solidFill>
                  <a:srgbClr val="000000"/>
                </a:solidFill>
              </a:rPr>
              <a:t> (hydrate cells).</a:t>
            </a:r>
            <a:endParaRPr/>
          </a:p>
          <a:p>
            <a:pPr indent="-342900" lvl="0" marL="342900" rtl="0" algn="l">
              <a:lnSpc>
                <a:spcPct val="100000"/>
              </a:lnSpc>
              <a:spcBef>
                <a:spcPts val="592"/>
              </a:spcBef>
              <a:spcAft>
                <a:spcPts val="0"/>
              </a:spcAft>
              <a:buClr>
                <a:srgbClr val="000000"/>
              </a:buClr>
              <a:buSzPct val="100000"/>
              <a:buFont typeface="Arial"/>
              <a:buChar char="•"/>
            </a:pPr>
            <a:r>
              <a:rPr b="1" i="0" lang="en-US" u="none" strike="noStrike">
                <a:solidFill>
                  <a:srgbClr val="000000"/>
                </a:solidFill>
              </a:rPr>
              <a:t>Examples:</a:t>
            </a:r>
            <a:endParaRPr b="0" i="0" u="none" strike="noStrike">
              <a:solidFill>
                <a:srgbClr val="000000"/>
              </a:solidFill>
            </a:endParaRPr>
          </a:p>
          <a:p>
            <a:pPr indent="-285750" lvl="1" marL="742950" rtl="0" algn="l">
              <a:lnSpc>
                <a:spcPct val="100000"/>
              </a:lnSpc>
              <a:spcBef>
                <a:spcPts val="518"/>
              </a:spcBef>
              <a:spcAft>
                <a:spcPts val="0"/>
              </a:spcAft>
              <a:buClr>
                <a:srgbClr val="000000"/>
              </a:buClr>
              <a:buSzPct val="100000"/>
              <a:buFont typeface="Arial"/>
              <a:buChar char="•"/>
            </a:pPr>
            <a:r>
              <a:rPr b="1" i="0" lang="en-US" u="none" strike="noStrike">
                <a:solidFill>
                  <a:srgbClr val="000000"/>
                </a:solidFill>
              </a:rPr>
              <a:t>0.45% Sodium Chloride (Half Normal Saline, ½ NS)</a:t>
            </a:r>
            <a:endParaRPr b="0" i="0" u="none" strike="noStrike">
              <a:solidFill>
                <a:srgbClr val="000000"/>
              </a:solidFill>
            </a:endParaRPr>
          </a:p>
          <a:p>
            <a:pPr indent="-228600" lvl="2" marL="1143000" rtl="0" algn="l">
              <a:lnSpc>
                <a:spcPct val="100000"/>
              </a:lnSpc>
              <a:spcBef>
                <a:spcPts val="444"/>
              </a:spcBef>
              <a:spcAft>
                <a:spcPts val="0"/>
              </a:spcAft>
              <a:buClr>
                <a:srgbClr val="000000"/>
              </a:buClr>
              <a:buSzPct val="100000"/>
              <a:buFont typeface="Arial"/>
              <a:buChar char="•"/>
            </a:pPr>
            <a:r>
              <a:rPr b="1" i="0" lang="en-US" u="none" strike="noStrike">
                <a:solidFill>
                  <a:srgbClr val="000000"/>
                </a:solidFill>
              </a:rPr>
              <a:t>Uses:</a:t>
            </a:r>
            <a:r>
              <a:rPr b="0" i="0" lang="en-US" u="none" strike="noStrike">
                <a:solidFill>
                  <a:srgbClr val="000000"/>
                </a:solidFill>
              </a:rPr>
              <a:t> Cellular dehydration (e.g., hypernatremia, diabetic ketoacidosis - DKA)</a:t>
            </a:r>
            <a:endParaRPr/>
          </a:p>
          <a:p>
            <a:pPr indent="-285750" lvl="1" marL="742950" rtl="0" algn="l">
              <a:lnSpc>
                <a:spcPct val="100000"/>
              </a:lnSpc>
              <a:spcBef>
                <a:spcPts val="518"/>
              </a:spcBef>
              <a:spcAft>
                <a:spcPts val="0"/>
              </a:spcAft>
              <a:buClr>
                <a:srgbClr val="000000"/>
              </a:buClr>
              <a:buSzPct val="100000"/>
              <a:buFont typeface="Arial"/>
              <a:buChar char="•"/>
            </a:pPr>
            <a:r>
              <a:rPr b="1" i="0" lang="en-US" u="none" strike="noStrike">
                <a:solidFill>
                  <a:srgbClr val="000000"/>
                </a:solidFill>
              </a:rPr>
              <a:t>0.33% or 0.225% Sodium Chloride (1/3 or 1/4 NS)</a:t>
            </a:r>
            <a:endParaRPr b="0" i="0" u="none" strike="noStrike">
              <a:solidFill>
                <a:srgbClr val="000000"/>
              </a:solidFill>
            </a:endParaRPr>
          </a:p>
          <a:p>
            <a:pPr indent="-228600" lvl="2" marL="1143000" rtl="0" algn="l">
              <a:lnSpc>
                <a:spcPct val="100000"/>
              </a:lnSpc>
              <a:spcBef>
                <a:spcPts val="444"/>
              </a:spcBef>
              <a:spcAft>
                <a:spcPts val="0"/>
              </a:spcAft>
              <a:buClr>
                <a:srgbClr val="000000"/>
              </a:buClr>
              <a:buSzPct val="100000"/>
              <a:buFont typeface="Arial"/>
              <a:buChar char="•"/>
            </a:pPr>
            <a:r>
              <a:rPr b="1" i="0" lang="en-US" u="none" strike="noStrike">
                <a:solidFill>
                  <a:srgbClr val="000000"/>
                </a:solidFill>
              </a:rPr>
              <a:t>Uses:</a:t>
            </a:r>
            <a:r>
              <a:rPr b="0" i="0" lang="en-US" u="none" strike="noStrike">
                <a:solidFill>
                  <a:srgbClr val="000000"/>
                </a:solidFill>
              </a:rPr>
              <a:t> Severe hypernatremia, pediatric maintenance fluids</a:t>
            </a:r>
            <a:endParaRPr/>
          </a:p>
          <a:p>
            <a:pPr indent="-285750" lvl="1" marL="742950" rtl="0" algn="l">
              <a:lnSpc>
                <a:spcPct val="100000"/>
              </a:lnSpc>
              <a:spcBef>
                <a:spcPts val="518"/>
              </a:spcBef>
              <a:spcAft>
                <a:spcPts val="0"/>
              </a:spcAft>
              <a:buClr>
                <a:srgbClr val="000000"/>
              </a:buClr>
              <a:buSzPct val="100000"/>
              <a:buFont typeface="Arial"/>
              <a:buChar char="•"/>
            </a:pPr>
            <a:r>
              <a:rPr b="1" i="0" lang="en-US" u="none" strike="noStrike">
                <a:solidFill>
                  <a:srgbClr val="000000"/>
                </a:solidFill>
              </a:rPr>
              <a:t>D5W (after metabolism of glucose, it acts as a hypotonic solution)</a:t>
            </a:r>
            <a:endParaRPr b="0" i="0" u="none" strike="noStrike">
              <a:solidFill>
                <a:srgbClr val="000000"/>
              </a:solidFill>
            </a:endParaRPr>
          </a:p>
          <a:p>
            <a:pPr indent="-154940" lvl="0" marL="342900" rtl="0" algn="l">
              <a:lnSpc>
                <a:spcPct val="100000"/>
              </a:lnSpc>
              <a:spcBef>
                <a:spcPts val="592"/>
              </a:spcBef>
              <a:spcAft>
                <a:spcPts val="0"/>
              </a:spcAft>
              <a:buClr>
                <a:schemeClr val="dk1"/>
              </a:buClr>
              <a:buSzPct val="100000"/>
              <a:buNone/>
            </a:pPr>
            <a:r>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p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fontScale="90000"/>
          </a:bodyPr>
          <a:lstStyle/>
          <a:p>
            <a:pPr indent="0" lvl="0" marL="0" rtl="0" algn="ctr">
              <a:lnSpc>
                <a:spcPct val="100000"/>
              </a:lnSpc>
              <a:spcBef>
                <a:spcPts val="0"/>
              </a:spcBef>
              <a:spcAft>
                <a:spcPts val="0"/>
              </a:spcAft>
              <a:buClr>
                <a:srgbClr val="000000"/>
              </a:buClr>
              <a:buSzPct val="100000"/>
              <a:buFont typeface="Calibri"/>
              <a:buNone/>
            </a:pPr>
            <a:r>
              <a:rPr b="1" i="0" lang="en-US" u="none" strike="noStrike">
                <a:solidFill>
                  <a:srgbClr val="000000"/>
                </a:solidFill>
              </a:rPr>
              <a:t>Hypertonic Solutions (&gt; 295 mOsm/L)</a:t>
            </a:r>
            <a:br>
              <a:rPr b="1" i="0" lang="en-US" u="none" strike="noStrike">
                <a:solidFill>
                  <a:srgbClr val="000000"/>
                </a:solidFill>
              </a:rPr>
            </a:br>
            <a:endParaRPr/>
          </a:p>
        </p:txBody>
      </p:sp>
      <p:sp>
        <p:nvSpPr>
          <p:cNvPr id="122" name="Google Shape;122;p7"/>
          <p:cNvSpPr txBox="1"/>
          <p:nvPr>
            <p:ph idx="1" type="body"/>
          </p:nvPr>
        </p:nvSpPr>
        <p:spPr>
          <a:xfrm>
            <a:off x="304800" y="990600"/>
            <a:ext cx="8382000" cy="5135563"/>
          </a:xfrm>
          <a:prstGeom prst="rect">
            <a:avLst/>
          </a:prstGeom>
          <a:noFill/>
          <a:ln>
            <a:noFill/>
          </a:ln>
        </p:spPr>
        <p:txBody>
          <a:bodyPr anchorCtr="0" anchor="t" bIns="45700" lIns="91425" spcFirstLastPara="1" rIns="91425" wrap="square" tIns="45700">
            <a:normAutofit/>
          </a:bodyPr>
          <a:lstStyle/>
          <a:p>
            <a:pPr indent="-342900" lvl="0" marL="342900" rtl="0" algn="l">
              <a:lnSpc>
                <a:spcPct val="100000"/>
              </a:lnSpc>
              <a:spcBef>
                <a:spcPts val="0"/>
              </a:spcBef>
              <a:spcAft>
                <a:spcPts val="0"/>
              </a:spcAft>
              <a:buClr>
                <a:srgbClr val="000000"/>
              </a:buClr>
              <a:buSzPts val="3200"/>
              <a:buChar char="•"/>
            </a:pPr>
            <a:r>
              <a:rPr b="1" i="0" lang="en-US" u="none" strike="noStrike">
                <a:solidFill>
                  <a:srgbClr val="000000"/>
                </a:solidFill>
              </a:rPr>
              <a:t>Function:</a:t>
            </a:r>
            <a:r>
              <a:rPr b="0" i="0" lang="en-US" u="none" strike="noStrike">
                <a:solidFill>
                  <a:srgbClr val="000000"/>
                </a:solidFill>
              </a:rPr>
              <a:t> Shift fluid </a:t>
            </a:r>
            <a:r>
              <a:rPr b="1" i="0" lang="en-US" u="none" strike="noStrike">
                <a:solidFill>
                  <a:srgbClr val="000000"/>
                </a:solidFill>
              </a:rPr>
              <a:t>from ICF to ECF</a:t>
            </a:r>
            <a:r>
              <a:rPr b="0" i="0" lang="en-US" u="none" strike="noStrike">
                <a:solidFill>
                  <a:srgbClr val="000000"/>
                </a:solidFill>
              </a:rPr>
              <a:t> (draws water out of cells).</a:t>
            </a:r>
            <a:endParaRPr/>
          </a:p>
          <a:p>
            <a:pPr indent="-342900" lvl="0" marL="342900" rtl="0" algn="l">
              <a:lnSpc>
                <a:spcPct val="100000"/>
              </a:lnSpc>
              <a:spcBef>
                <a:spcPts val="640"/>
              </a:spcBef>
              <a:spcAft>
                <a:spcPts val="0"/>
              </a:spcAft>
              <a:buClr>
                <a:srgbClr val="000000"/>
              </a:buClr>
              <a:buSzPts val="3200"/>
              <a:buFont typeface="Arial"/>
              <a:buChar char="•"/>
            </a:pPr>
            <a:r>
              <a:rPr b="1" i="0" lang="en-US" u="none" strike="noStrike">
                <a:solidFill>
                  <a:srgbClr val="000000"/>
                </a:solidFill>
              </a:rPr>
              <a:t>Examples:</a:t>
            </a:r>
            <a:endParaRPr b="0" i="0" u="none" strike="noStrike">
              <a:solidFill>
                <a:srgbClr val="000000"/>
              </a:solidFill>
            </a:endParaRPr>
          </a:p>
          <a:p>
            <a:pPr indent="-285750" lvl="1" marL="742950" rtl="0" algn="l">
              <a:lnSpc>
                <a:spcPct val="100000"/>
              </a:lnSpc>
              <a:spcBef>
                <a:spcPts val="560"/>
              </a:spcBef>
              <a:spcAft>
                <a:spcPts val="0"/>
              </a:spcAft>
              <a:buClr>
                <a:srgbClr val="000000"/>
              </a:buClr>
              <a:buSzPts val="2800"/>
              <a:buFont typeface="Arial"/>
              <a:buChar char="•"/>
            </a:pPr>
            <a:r>
              <a:rPr b="1" i="0" lang="en-US" u="none" strike="noStrike">
                <a:solidFill>
                  <a:srgbClr val="000000"/>
                </a:solidFill>
              </a:rPr>
              <a:t>3% or 5% Sodium Chloride (Hypertonic Saline)</a:t>
            </a:r>
            <a:endParaRPr b="0" i="0" u="none" strike="noStrike">
              <a:solidFill>
                <a:srgbClr val="000000"/>
              </a:solidFill>
            </a:endParaRPr>
          </a:p>
          <a:p>
            <a:pPr indent="-228600" lvl="2" marL="1143000" rtl="0" algn="l">
              <a:lnSpc>
                <a:spcPct val="100000"/>
              </a:lnSpc>
              <a:spcBef>
                <a:spcPts val="480"/>
              </a:spcBef>
              <a:spcAft>
                <a:spcPts val="0"/>
              </a:spcAft>
              <a:buClr>
                <a:srgbClr val="000000"/>
              </a:buClr>
              <a:buSzPts val="2400"/>
              <a:buFont typeface="Arial"/>
              <a:buChar char="•"/>
            </a:pPr>
            <a:r>
              <a:rPr b="1" i="0" lang="en-US" u="none" strike="noStrike">
                <a:solidFill>
                  <a:srgbClr val="000000"/>
                </a:solidFill>
              </a:rPr>
              <a:t>Uses:</a:t>
            </a:r>
            <a:r>
              <a:rPr b="0" i="0" lang="en-US" u="none" strike="noStrike">
                <a:solidFill>
                  <a:srgbClr val="000000"/>
                </a:solidFill>
              </a:rPr>
              <a:t> Severe hyponatremia, cerebral edema (monitor closely to avoid fluid overload)</a:t>
            </a:r>
            <a:endParaRPr/>
          </a:p>
          <a:p>
            <a:pPr indent="-285750" lvl="1" marL="742950" rtl="0" algn="l">
              <a:lnSpc>
                <a:spcPct val="100000"/>
              </a:lnSpc>
              <a:spcBef>
                <a:spcPts val="560"/>
              </a:spcBef>
              <a:spcAft>
                <a:spcPts val="0"/>
              </a:spcAft>
              <a:buClr>
                <a:srgbClr val="000000"/>
              </a:buClr>
              <a:buSzPts val="2800"/>
              <a:buFont typeface="Arial"/>
              <a:buChar char="•"/>
            </a:pPr>
            <a:r>
              <a:rPr b="1" i="0" lang="en-US" u="none" strike="noStrike">
                <a:solidFill>
                  <a:srgbClr val="000000"/>
                </a:solidFill>
              </a:rPr>
              <a:t>Dextrose with Saline (D5NS, D5 ½ NS, D5LR)</a:t>
            </a:r>
            <a:endParaRPr b="0" i="0" u="none" strike="noStrike">
              <a:solidFill>
                <a:srgbClr val="000000"/>
              </a:solidFill>
            </a:endParaRPr>
          </a:p>
          <a:p>
            <a:pPr indent="-228600" lvl="2" marL="1143000" rtl="0" algn="l">
              <a:lnSpc>
                <a:spcPct val="100000"/>
              </a:lnSpc>
              <a:spcBef>
                <a:spcPts val="480"/>
              </a:spcBef>
              <a:spcAft>
                <a:spcPts val="0"/>
              </a:spcAft>
              <a:buClr>
                <a:srgbClr val="000000"/>
              </a:buClr>
              <a:buSzPts val="2400"/>
              <a:buFont typeface="Arial"/>
              <a:buChar char="•"/>
            </a:pPr>
            <a:r>
              <a:rPr b="1" i="0" lang="en-US" u="none" strike="noStrike">
                <a:solidFill>
                  <a:srgbClr val="000000"/>
                </a:solidFill>
              </a:rPr>
              <a:t>Uses:</a:t>
            </a:r>
            <a:r>
              <a:rPr b="0" i="0" lang="en-US" u="none" strike="noStrike">
                <a:solidFill>
                  <a:srgbClr val="000000"/>
                </a:solidFill>
              </a:rPr>
              <a:t> Hypoglycemia, post-op maintenance fluids</a:t>
            </a:r>
            <a:endParaRPr/>
          </a:p>
          <a:p>
            <a:pPr indent="-285750" lvl="1" marL="742950" rtl="0" algn="l">
              <a:lnSpc>
                <a:spcPct val="100000"/>
              </a:lnSpc>
              <a:spcBef>
                <a:spcPts val="560"/>
              </a:spcBef>
              <a:spcAft>
                <a:spcPts val="0"/>
              </a:spcAft>
              <a:buClr>
                <a:srgbClr val="000000"/>
              </a:buClr>
              <a:buSzPts val="2800"/>
              <a:buFont typeface="Arial"/>
              <a:buChar char="•"/>
            </a:pPr>
            <a:r>
              <a:rPr b="1" i="0" lang="en-US" u="none" strike="noStrike">
                <a:solidFill>
                  <a:srgbClr val="000000"/>
                </a:solidFill>
              </a:rPr>
              <a:t>10% or 50% Dextrose (D10W, D50W)</a:t>
            </a:r>
            <a:endParaRPr b="0" i="0" u="none" strike="noStrike">
              <a:solidFill>
                <a:srgbClr val="000000"/>
              </a:solidFill>
            </a:endParaRPr>
          </a:p>
          <a:p>
            <a:pPr indent="-228600" lvl="2" marL="1143000" rtl="0" algn="l">
              <a:lnSpc>
                <a:spcPct val="100000"/>
              </a:lnSpc>
              <a:spcBef>
                <a:spcPts val="480"/>
              </a:spcBef>
              <a:spcAft>
                <a:spcPts val="0"/>
              </a:spcAft>
              <a:buClr>
                <a:srgbClr val="000000"/>
              </a:buClr>
              <a:buSzPts val="2400"/>
              <a:buFont typeface="Arial"/>
              <a:buChar char="•"/>
            </a:pPr>
            <a:r>
              <a:rPr b="1" i="0" lang="en-US" u="none" strike="noStrike">
                <a:solidFill>
                  <a:srgbClr val="000000"/>
                </a:solidFill>
              </a:rPr>
              <a:t>Uses:</a:t>
            </a:r>
            <a:r>
              <a:rPr b="0" i="0" lang="en-US" u="none" strike="noStrike">
                <a:solidFill>
                  <a:srgbClr val="000000"/>
                </a:solidFill>
              </a:rPr>
              <a:t> Severe hypoglycemia</a:t>
            </a:r>
            <a:endParaRPr/>
          </a:p>
          <a:p>
            <a:pPr indent="-139700" lvl="0" marL="342900" rtl="0" algn="l">
              <a:lnSpc>
                <a:spcPct val="100000"/>
              </a:lnSpc>
              <a:spcBef>
                <a:spcPts val="640"/>
              </a:spcBef>
              <a:spcAft>
                <a:spcPts val="0"/>
              </a:spcAft>
              <a:buClr>
                <a:schemeClr val="dk1"/>
              </a:buClr>
              <a:buSzPts val="3200"/>
              <a:buNone/>
            </a:pPr>
            <a:r>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sp>
        <p:nvSpPr>
          <p:cNvPr id="127" name="Google Shape;127;p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fontScale="90000"/>
          </a:bodyPr>
          <a:lstStyle/>
          <a:p>
            <a:pPr indent="0" lvl="0" marL="0" rtl="0" algn="ctr">
              <a:lnSpc>
                <a:spcPct val="100000"/>
              </a:lnSpc>
              <a:spcBef>
                <a:spcPts val="0"/>
              </a:spcBef>
              <a:spcAft>
                <a:spcPts val="0"/>
              </a:spcAft>
              <a:buClr>
                <a:srgbClr val="000000"/>
              </a:buClr>
              <a:buSzPct val="100000"/>
              <a:buFont typeface="Calibri"/>
              <a:buNone/>
            </a:pPr>
            <a:r>
              <a:rPr b="1" i="0" lang="en-US" u="none" strike="noStrike">
                <a:solidFill>
                  <a:srgbClr val="000000"/>
                </a:solidFill>
              </a:rPr>
              <a:t>Special Solutions:</a:t>
            </a:r>
            <a:br>
              <a:rPr b="1" i="0" lang="en-US" u="none" strike="noStrike">
                <a:solidFill>
                  <a:srgbClr val="000000"/>
                </a:solidFill>
              </a:rPr>
            </a:br>
            <a:endParaRPr/>
          </a:p>
        </p:txBody>
      </p:sp>
      <p:sp>
        <p:nvSpPr>
          <p:cNvPr id="128" name="Google Shape;128;p8"/>
          <p:cNvSpPr txBox="1"/>
          <p:nvPr>
            <p:ph idx="1" type="body"/>
          </p:nvPr>
        </p:nvSpPr>
        <p:spPr>
          <a:xfrm>
            <a:off x="457200" y="1219200"/>
            <a:ext cx="8229600" cy="4906963"/>
          </a:xfrm>
          <a:prstGeom prst="rect">
            <a:avLst/>
          </a:prstGeom>
          <a:noFill/>
          <a:ln>
            <a:noFill/>
          </a:ln>
        </p:spPr>
        <p:txBody>
          <a:bodyPr anchorCtr="0" anchor="t" bIns="45700" lIns="91425" spcFirstLastPara="1" rIns="91425" wrap="square" tIns="45700">
            <a:normAutofit fontScale="92500" lnSpcReduction="10000"/>
          </a:bodyPr>
          <a:lstStyle/>
          <a:p>
            <a:pPr indent="-342900" lvl="0" marL="342900" rtl="0" algn="l">
              <a:lnSpc>
                <a:spcPct val="100000"/>
              </a:lnSpc>
              <a:spcBef>
                <a:spcPts val="0"/>
              </a:spcBef>
              <a:spcAft>
                <a:spcPts val="0"/>
              </a:spcAft>
              <a:buClr>
                <a:srgbClr val="000000"/>
              </a:buClr>
              <a:buSzPct val="100000"/>
              <a:buChar char="•"/>
            </a:pPr>
            <a:r>
              <a:rPr b="1" i="0" lang="en-US" u="none" strike="noStrike">
                <a:solidFill>
                  <a:srgbClr val="000000"/>
                </a:solidFill>
              </a:rPr>
              <a:t>Colloids:</a:t>
            </a:r>
            <a:r>
              <a:rPr b="0" i="0" lang="en-US" u="none" strike="noStrike">
                <a:solidFill>
                  <a:srgbClr val="000000"/>
                </a:solidFill>
              </a:rPr>
              <a:t> (Expand plasma volume by drawing water into circulation)</a:t>
            </a:r>
            <a:endParaRPr/>
          </a:p>
          <a:p>
            <a:pPr indent="-285750" lvl="1" marL="742950" rtl="0" algn="l">
              <a:lnSpc>
                <a:spcPct val="100000"/>
              </a:lnSpc>
              <a:spcBef>
                <a:spcPts val="518"/>
              </a:spcBef>
              <a:spcAft>
                <a:spcPts val="0"/>
              </a:spcAft>
              <a:buClr>
                <a:srgbClr val="000000"/>
              </a:buClr>
              <a:buSzPct val="100000"/>
              <a:buFont typeface="Arial"/>
              <a:buChar char="•"/>
            </a:pPr>
            <a:r>
              <a:rPr b="1" i="0" lang="en-US" u="none" strike="noStrike">
                <a:solidFill>
                  <a:srgbClr val="000000"/>
                </a:solidFill>
              </a:rPr>
              <a:t>Examples:</a:t>
            </a:r>
            <a:r>
              <a:rPr b="0" i="0" lang="en-US" u="none" strike="noStrike">
                <a:solidFill>
                  <a:srgbClr val="000000"/>
                </a:solidFill>
              </a:rPr>
              <a:t> Albumin, Dextran, Hydroxyethyl starch (HES)</a:t>
            </a:r>
            <a:endParaRPr/>
          </a:p>
          <a:p>
            <a:pPr indent="-285750" lvl="1" marL="742950" rtl="0" algn="l">
              <a:lnSpc>
                <a:spcPct val="100000"/>
              </a:lnSpc>
              <a:spcBef>
                <a:spcPts val="518"/>
              </a:spcBef>
              <a:spcAft>
                <a:spcPts val="0"/>
              </a:spcAft>
              <a:buClr>
                <a:srgbClr val="000000"/>
              </a:buClr>
              <a:buSzPct val="100000"/>
              <a:buFont typeface="Arial"/>
              <a:buChar char="•"/>
            </a:pPr>
            <a:r>
              <a:rPr b="1" i="0" lang="en-US" u="none" strike="noStrike">
                <a:solidFill>
                  <a:srgbClr val="000000"/>
                </a:solidFill>
              </a:rPr>
              <a:t>Uses:</a:t>
            </a:r>
            <a:r>
              <a:rPr b="0" i="0" lang="en-US" u="none" strike="noStrike">
                <a:solidFill>
                  <a:srgbClr val="000000"/>
                </a:solidFill>
              </a:rPr>
              <a:t> Hypovolemic shock, burns, severe hypoalbuminemia</a:t>
            </a:r>
            <a:endParaRPr/>
          </a:p>
          <a:p>
            <a:pPr indent="-342900" lvl="0" marL="342900" rtl="0" algn="l">
              <a:lnSpc>
                <a:spcPct val="100000"/>
              </a:lnSpc>
              <a:spcBef>
                <a:spcPts val="592"/>
              </a:spcBef>
              <a:spcAft>
                <a:spcPts val="0"/>
              </a:spcAft>
              <a:buClr>
                <a:srgbClr val="000000"/>
              </a:buClr>
              <a:buSzPct val="100000"/>
              <a:buFont typeface="Arial"/>
              <a:buChar char="•"/>
            </a:pPr>
            <a:r>
              <a:rPr b="1" i="0" lang="en-US" u="none" strike="noStrike">
                <a:solidFill>
                  <a:srgbClr val="000000"/>
                </a:solidFill>
              </a:rPr>
              <a:t>Blood Products:</a:t>
            </a:r>
            <a:endParaRPr b="0" i="0" u="none" strike="noStrike">
              <a:solidFill>
                <a:srgbClr val="000000"/>
              </a:solidFill>
            </a:endParaRPr>
          </a:p>
          <a:p>
            <a:pPr indent="-285750" lvl="1" marL="742950" rtl="0" algn="l">
              <a:lnSpc>
                <a:spcPct val="100000"/>
              </a:lnSpc>
              <a:spcBef>
                <a:spcPts val="518"/>
              </a:spcBef>
              <a:spcAft>
                <a:spcPts val="0"/>
              </a:spcAft>
              <a:buClr>
                <a:srgbClr val="000000"/>
              </a:buClr>
              <a:buSzPct val="100000"/>
              <a:buFont typeface="Arial"/>
              <a:buChar char="•"/>
            </a:pPr>
            <a:r>
              <a:rPr b="1" i="0" lang="en-US" u="none" strike="noStrike">
                <a:solidFill>
                  <a:srgbClr val="000000"/>
                </a:solidFill>
              </a:rPr>
              <a:t>Examples:</a:t>
            </a:r>
            <a:r>
              <a:rPr b="0" i="0" lang="en-US" u="none" strike="noStrike">
                <a:solidFill>
                  <a:srgbClr val="000000"/>
                </a:solidFill>
              </a:rPr>
              <a:t> Whole blood, Packed RBCs, Plasma, Platelets</a:t>
            </a:r>
            <a:endParaRPr/>
          </a:p>
          <a:p>
            <a:pPr indent="-285750" lvl="1" marL="742950" rtl="0" algn="l">
              <a:lnSpc>
                <a:spcPct val="100000"/>
              </a:lnSpc>
              <a:spcBef>
                <a:spcPts val="518"/>
              </a:spcBef>
              <a:spcAft>
                <a:spcPts val="0"/>
              </a:spcAft>
              <a:buClr>
                <a:srgbClr val="000000"/>
              </a:buClr>
              <a:buSzPct val="100000"/>
              <a:buFont typeface="Arial"/>
              <a:buChar char="•"/>
            </a:pPr>
            <a:r>
              <a:rPr b="1" i="0" lang="en-US" u="none" strike="noStrike">
                <a:solidFill>
                  <a:srgbClr val="000000"/>
                </a:solidFill>
              </a:rPr>
              <a:t>Uses:</a:t>
            </a:r>
            <a:r>
              <a:rPr b="0" i="0" lang="en-US" u="none" strike="noStrike">
                <a:solidFill>
                  <a:srgbClr val="000000"/>
                </a:solidFill>
              </a:rPr>
              <a:t> Severe anemia, hemorrhage, coagulation disorders</a:t>
            </a:r>
            <a:endParaRPr/>
          </a:p>
          <a:p>
            <a:pPr indent="-154940" lvl="0" marL="342900" rtl="0" algn="l">
              <a:lnSpc>
                <a:spcPct val="100000"/>
              </a:lnSpc>
              <a:spcBef>
                <a:spcPts val="592"/>
              </a:spcBef>
              <a:spcAft>
                <a:spcPts val="0"/>
              </a:spcAft>
              <a:buClr>
                <a:schemeClr val="dk1"/>
              </a:buClr>
              <a:buSzPct val="100000"/>
              <a:buNone/>
            </a:pPr>
            <a:r>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n-US"/>
              <a:t>CASE NO :1</a:t>
            </a:r>
            <a:endParaRPr/>
          </a:p>
        </p:txBody>
      </p:sp>
      <p:sp>
        <p:nvSpPr>
          <p:cNvPr id="134" name="Google Shape;134;p9"/>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p>
            <a:pPr indent="-342900" lvl="0" marL="342900" rtl="0" algn="l">
              <a:lnSpc>
                <a:spcPct val="100000"/>
              </a:lnSpc>
              <a:spcBef>
                <a:spcPts val="0"/>
              </a:spcBef>
              <a:spcAft>
                <a:spcPts val="0"/>
              </a:spcAft>
              <a:buClr>
                <a:schemeClr val="dk1"/>
              </a:buClr>
              <a:buSzPts val="2800"/>
              <a:buChar char="•"/>
            </a:pPr>
            <a:r>
              <a:rPr b="1" lang="en-US"/>
              <a:t>Chief Complaint: 5</a:t>
            </a:r>
            <a:r>
              <a:rPr lang="en-US"/>
              <a:t>8-year-old man with upper abdominal pain and breathing problems.</a:t>
            </a:r>
            <a:endParaRPr/>
          </a:p>
        </p:txBody>
      </p:sp>
      <p:pic>
        <p:nvPicPr>
          <p:cNvPr id="135" name="Google Shape;135;p9"/>
          <p:cNvPicPr preferRelativeResize="0"/>
          <p:nvPr>
            <p:ph idx="2" type="body"/>
          </p:nvPr>
        </p:nvPicPr>
        <p:blipFill rotWithShape="1">
          <a:blip r:embed="rId3">
            <a:alphaModFix/>
          </a:blip>
          <a:srcRect b="0" l="0" r="0" t="0"/>
          <a:stretch/>
        </p:blipFill>
        <p:spPr>
          <a:xfrm>
            <a:off x="4648200" y="1664335"/>
            <a:ext cx="4038600" cy="435165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1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n-US"/>
              <a:t>HISTORY</a:t>
            </a:r>
            <a:endParaRPr/>
          </a:p>
        </p:txBody>
      </p:sp>
      <p:sp>
        <p:nvSpPr>
          <p:cNvPr id="141" name="Google Shape;141;p10"/>
          <p:cNvSpPr txBox="1"/>
          <p:nvPr>
            <p:ph idx="1" type="body"/>
          </p:nvPr>
        </p:nvSpPr>
        <p:spPr>
          <a:xfrm>
            <a:off x="259080" y="1139825"/>
            <a:ext cx="4236720" cy="5659755"/>
          </a:xfrm>
          <a:prstGeom prst="rect">
            <a:avLst/>
          </a:prstGeom>
          <a:noFill/>
          <a:ln>
            <a:noFill/>
          </a:ln>
        </p:spPr>
        <p:txBody>
          <a:bodyPr anchorCtr="0" anchor="t" bIns="45700" lIns="91425" spcFirstLastPara="1" rIns="91425" wrap="square" tIns="45700">
            <a:normAutofit fontScale="72500" lnSpcReduction="20000"/>
          </a:bodyPr>
          <a:lstStyle/>
          <a:p>
            <a:pPr indent="0" lvl="0" marL="0" rtl="0" algn="just">
              <a:lnSpc>
                <a:spcPct val="100000"/>
              </a:lnSpc>
              <a:spcBef>
                <a:spcPts val="0"/>
              </a:spcBef>
              <a:spcAft>
                <a:spcPts val="0"/>
              </a:spcAft>
              <a:buClr>
                <a:schemeClr val="dk1"/>
              </a:buClr>
              <a:buSzPct val="100000"/>
              <a:buNone/>
            </a:pPr>
            <a:r>
              <a:rPr lang="en-US"/>
              <a:t>A 58-year-old Mohammad Javed resident of Saddar, Karachi k/c of heart disease was admitted in hospital for severe abdominal pain and vomiting He was not allowed to have food or drink by mouth (N.P.O or nil per oral). He received fluid through an intravenous (IV) line. Misreading the physician's orders, the doctor on duty hooked up a fresh bag of IV fluid that was "3%-normal" saline rather than the prescribed "half-normal" saline this mistake was not noticed until the following morning when he complained that he has feeling difficulty in breathing. At that time, he had marked swelling (pitting edema) around the sacral region and had inspiratory rales ("wet-sounding crackles") at the bases of the lungs on each side. as well. </a:t>
            </a:r>
            <a:endParaRPr/>
          </a:p>
          <a:p>
            <a:pPr indent="-213995" lvl="0" marL="342900" rtl="0" algn="l">
              <a:lnSpc>
                <a:spcPct val="100000"/>
              </a:lnSpc>
              <a:spcBef>
                <a:spcPts val="406"/>
              </a:spcBef>
              <a:spcAft>
                <a:spcPts val="0"/>
              </a:spcAft>
              <a:buClr>
                <a:schemeClr val="dk1"/>
              </a:buClr>
              <a:buSzPct val="100000"/>
              <a:buNone/>
            </a:pPr>
            <a:r>
              <a:t/>
            </a:r>
            <a:endParaRPr/>
          </a:p>
          <a:p>
            <a:pPr indent="-213995" lvl="0" marL="342900" rtl="0" algn="l">
              <a:lnSpc>
                <a:spcPct val="100000"/>
              </a:lnSpc>
              <a:spcBef>
                <a:spcPts val="406"/>
              </a:spcBef>
              <a:spcAft>
                <a:spcPts val="0"/>
              </a:spcAft>
              <a:buClr>
                <a:schemeClr val="dk1"/>
              </a:buClr>
              <a:buSzPct val="100000"/>
              <a:buNone/>
            </a:pPr>
            <a:r>
              <a:t/>
            </a:r>
            <a:endParaRPr/>
          </a:p>
        </p:txBody>
      </p:sp>
      <p:pic>
        <p:nvPicPr>
          <p:cNvPr id="142" name="Google Shape;142;p10"/>
          <p:cNvPicPr preferRelativeResize="0"/>
          <p:nvPr>
            <p:ph idx="2" type="body"/>
          </p:nvPr>
        </p:nvPicPr>
        <p:blipFill rotWithShape="1">
          <a:blip r:embed="rId3">
            <a:alphaModFix/>
          </a:blip>
          <a:srcRect b="0" l="0" r="0" t="0"/>
          <a:stretch/>
        </p:blipFill>
        <p:spPr>
          <a:xfrm>
            <a:off x="4648200" y="1418590"/>
            <a:ext cx="4038600" cy="358013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pic>
        <p:nvPicPr>
          <p:cNvPr id="147" name="Google Shape;147;p11"/>
          <p:cNvPicPr preferRelativeResize="0"/>
          <p:nvPr/>
        </p:nvPicPr>
        <p:blipFill rotWithShape="1">
          <a:blip r:embed="rId3">
            <a:alphaModFix/>
          </a:blip>
          <a:srcRect b="0" l="0" r="0" t="0"/>
          <a:stretch/>
        </p:blipFill>
        <p:spPr>
          <a:xfrm>
            <a:off x="3048000" y="1219200"/>
            <a:ext cx="3333750" cy="5170805"/>
          </a:xfrm>
          <a:prstGeom prst="rect">
            <a:avLst/>
          </a:prstGeom>
          <a:noFill/>
          <a:ln>
            <a:noFill/>
          </a:ln>
        </p:spPr>
      </p:pic>
      <p:pic>
        <p:nvPicPr>
          <p:cNvPr id="148" name="Google Shape;148;p11"/>
          <p:cNvPicPr preferRelativeResize="0"/>
          <p:nvPr/>
        </p:nvPicPr>
        <p:blipFill rotWithShape="1">
          <a:blip r:embed="rId4">
            <a:alphaModFix/>
          </a:blip>
          <a:srcRect b="0" l="0" r="0" t="0"/>
          <a:stretch/>
        </p:blipFill>
        <p:spPr>
          <a:xfrm>
            <a:off x="152400" y="1676400"/>
            <a:ext cx="3931920" cy="4405630"/>
          </a:xfrm>
          <a:prstGeom prst="rect">
            <a:avLst/>
          </a:prstGeom>
          <a:noFill/>
          <a:ln>
            <a:noFill/>
          </a:ln>
        </p:spPr>
      </p:pic>
      <p:pic>
        <p:nvPicPr>
          <p:cNvPr id="149" name="Google Shape;149;p11"/>
          <p:cNvPicPr preferRelativeResize="0"/>
          <p:nvPr/>
        </p:nvPicPr>
        <p:blipFill rotWithShape="1">
          <a:blip r:embed="rId5">
            <a:alphaModFix/>
          </a:blip>
          <a:srcRect b="0" l="0" r="0" t="0"/>
          <a:stretch/>
        </p:blipFill>
        <p:spPr>
          <a:xfrm>
            <a:off x="5715000" y="1807845"/>
            <a:ext cx="3498215" cy="4274185"/>
          </a:xfrm>
          <a:prstGeom prst="rect">
            <a:avLst/>
          </a:prstGeom>
          <a:noFill/>
          <a:ln>
            <a:noFill/>
          </a:ln>
        </p:spPr>
      </p:pic>
      <p:sp>
        <p:nvSpPr>
          <p:cNvPr id="150" name="Google Shape;150;p11"/>
          <p:cNvSpPr txBox="1"/>
          <p:nvPr/>
        </p:nvSpPr>
        <p:spPr>
          <a:xfrm>
            <a:off x="695325" y="562610"/>
            <a:ext cx="7153275" cy="39878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Arial"/>
              <a:buNone/>
            </a:pPr>
            <a:r>
              <a:rPr b="1" i="0" lang="en-US" sz="2000" u="none" cap="none" strike="noStrike">
                <a:solidFill>
                  <a:schemeClr val="dk1"/>
                </a:solidFill>
                <a:latin typeface="Calibri"/>
                <a:ea typeface="Calibri"/>
                <a:cs typeface="Calibri"/>
                <a:sym typeface="Calibri"/>
              </a:rPr>
              <a:t>Different strength of normal saline infusion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p12"/>
          <p:cNvSpPr txBox="1"/>
          <p:nvPr>
            <p:ph idx="1" type="body"/>
          </p:nvPr>
        </p:nvSpPr>
        <p:spPr>
          <a:xfrm>
            <a:off x="457200" y="381000"/>
            <a:ext cx="8229600" cy="5745163"/>
          </a:xfrm>
          <a:prstGeom prst="rect">
            <a:avLst/>
          </a:prstGeom>
          <a:noFill/>
          <a:ln>
            <a:noFill/>
          </a:ln>
        </p:spPr>
        <p:txBody>
          <a:bodyPr anchorCtr="0" anchor="t" bIns="45700" lIns="91425" spcFirstLastPara="1" rIns="91425" wrap="square" tIns="45700">
            <a:normAutofit/>
          </a:bodyPr>
          <a:lstStyle/>
          <a:p>
            <a:pPr indent="-342900" lvl="0" marL="342900" rtl="0" algn="l">
              <a:lnSpc>
                <a:spcPct val="100000"/>
              </a:lnSpc>
              <a:spcBef>
                <a:spcPts val="0"/>
              </a:spcBef>
              <a:spcAft>
                <a:spcPts val="0"/>
              </a:spcAft>
              <a:buClr>
                <a:schemeClr val="dk1"/>
              </a:buClr>
              <a:buSzPts val="3200"/>
              <a:buChar char="•"/>
            </a:pPr>
            <a:r>
              <a:rPr lang="en-US"/>
              <a:t>Blood was drawn &amp; the Serum Electrolytes report reveals the following</a:t>
            </a:r>
            <a:endParaRPr/>
          </a:p>
          <a:p>
            <a:pPr indent="-139700" lvl="0" marL="342900" rtl="0" algn="l">
              <a:lnSpc>
                <a:spcPct val="100000"/>
              </a:lnSpc>
              <a:spcBef>
                <a:spcPts val="640"/>
              </a:spcBef>
              <a:spcAft>
                <a:spcPts val="0"/>
              </a:spcAft>
              <a:buClr>
                <a:schemeClr val="dk1"/>
              </a:buClr>
              <a:buSzPts val="3200"/>
              <a:buNone/>
            </a:pPr>
            <a:r>
              <a:t/>
            </a:r>
            <a:endParaRPr/>
          </a:p>
        </p:txBody>
      </p:sp>
      <p:graphicFrame>
        <p:nvGraphicFramePr>
          <p:cNvPr id="156" name="Google Shape;156;p12"/>
          <p:cNvGraphicFramePr/>
          <p:nvPr/>
        </p:nvGraphicFramePr>
        <p:xfrm>
          <a:off x="762000" y="1600200"/>
          <a:ext cx="3000000" cy="3000000"/>
        </p:xfrm>
        <a:graphic>
          <a:graphicData uri="http://schemas.openxmlformats.org/drawingml/2006/table">
            <a:tbl>
              <a:tblPr>
                <a:noFill/>
                <a:tableStyleId>{D0FB1F49-CF53-4773-B60A-40C15DDCC7BA}</a:tableStyleId>
              </a:tblPr>
              <a:tblGrid>
                <a:gridCol w="1003050"/>
                <a:gridCol w="6693150"/>
              </a:tblGrid>
              <a:tr h="1162050">
                <a:tc>
                  <a:txBody>
                    <a:bodyPr/>
                    <a:lstStyle/>
                    <a:p>
                      <a:pPr indent="0" lvl="0" marL="0" marR="0" rtl="0" algn="just">
                        <a:lnSpc>
                          <a:spcPct val="114000"/>
                        </a:lnSpc>
                        <a:spcBef>
                          <a:spcPts val="0"/>
                        </a:spcBef>
                        <a:spcAft>
                          <a:spcPts val="0"/>
                        </a:spcAft>
                        <a:buClr>
                          <a:srgbClr val="000000"/>
                        </a:buClr>
                        <a:buSzPts val="2400"/>
                        <a:buFont typeface="Arial"/>
                        <a:buNone/>
                      </a:pPr>
                      <a:r>
                        <a:rPr lang="en-US" sz="2400" u="none" cap="none" strike="noStrike"/>
                        <a:t>Na</a:t>
                      </a:r>
                      <a:r>
                        <a:rPr baseline="30000" lang="en-US" sz="2400" u="none" cap="none" strike="noStrike"/>
                        <a:t>+</a:t>
                      </a:r>
                      <a:endParaRPr sz="2400" u="none" cap="none" strike="noStrike">
                        <a:latin typeface="Calibri"/>
                        <a:ea typeface="Calibri"/>
                        <a:cs typeface="Calibri"/>
                        <a:sym typeface="Calibri"/>
                      </a:endParaRPr>
                    </a:p>
                  </a:txBody>
                  <a:tcPr marT="45725" marB="45725" marR="91450" marL="91450" anchor="ctr"/>
                </a:tc>
                <a:tc>
                  <a:txBody>
                    <a:bodyPr/>
                    <a:lstStyle/>
                    <a:p>
                      <a:pPr indent="0" lvl="0" marL="0" marR="0" rtl="0" algn="just">
                        <a:lnSpc>
                          <a:spcPct val="114000"/>
                        </a:lnSpc>
                        <a:spcBef>
                          <a:spcPts val="0"/>
                        </a:spcBef>
                        <a:spcAft>
                          <a:spcPts val="0"/>
                        </a:spcAft>
                        <a:buClr>
                          <a:srgbClr val="000000"/>
                        </a:buClr>
                        <a:buSzPts val="2400"/>
                        <a:buFont typeface="Arial"/>
                        <a:buNone/>
                      </a:pPr>
                      <a:r>
                        <a:rPr lang="en-US" sz="2400" u="none" cap="none" strike="noStrike"/>
                        <a:t>157 mEq / liter (Normal = 136-145 mEq / liter)</a:t>
                      </a:r>
                      <a:endParaRPr sz="2400" u="none" cap="none" strike="noStrike">
                        <a:latin typeface="Calibri"/>
                        <a:ea typeface="Calibri"/>
                        <a:cs typeface="Calibri"/>
                        <a:sym typeface="Calibri"/>
                      </a:endParaRPr>
                    </a:p>
                  </a:txBody>
                  <a:tcPr marT="45725" marB="45725" marR="91450" marL="91450" anchor="ctr"/>
                </a:tc>
              </a:tr>
              <a:tr h="1162050">
                <a:tc>
                  <a:txBody>
                    <a:bodyPr/>
                    <a:lstStyle/>
                    <a:p>
                      <a:pPr indent="0" lvl="0" marL="0" marR="0" rtl="0" algn="just">
                        <a:lnSpc>
                          <a:spcPct val="114000"/>
                        </a:lnSpc>
                        <a:spcBef>
                          <a:spcPts val="0"/>
                        </a:spcBef>
                        <a:spcAft>
                          <a:spcPts val="0"/>
                        </a:spcAft>
                        <a:buClr>
                          <a:srgbClr val="000000"/>
                        </a:buClr>
                        <a:buSzPts val="2400"/>
                        <a:buFont typeface="Arial"/>
                        <a:buNone/>
                      </a:pPr>
                      <a:r>
                        <a:rPr lang="en-US" sz="2400" u="none" cap="none" strike="noStrike"/>
                        <a:t>K</a:t>
                      </a:r>
                      <a:r>
                        <a:rPr baseline="30000" lang="en-US" sz="2400" u="none" cap="none" strike="noStrike"/>
                        <a:t>+</a:t>
                      </a:r>
                      <a:r>
                        <a:rPr lang="en-US" sz="2400" u="none" cap="none" strike="noStrike"/>
                        <a:t>       </a:t>
                      </a:r>
                      <a:endParaRPr sz="2400" u="none" cap="none" strike="noStrike">
                        <a:latin typeface="Calibri"/>
                        <a:ea typeface="Calibri"/>
                        <a:cs typeface="Calibri"/>
                        <a:sym typeface="Calibri"/>
                      </a:endParaRPr>
                    </a:p>
                  </a:txBody>
                  <a:tcPr marT="45725" marB="45725" marR="91450" marL="91450" anchor="ctr"/>
                </a:tc>
                <a:tc>
                  <a:txBody>
                    <a:bodyPr/>
                    <a:lstStyle/>
                    <a:p>
                      <a:pPr indent="0" lvl="0" marL="0" marR="0" rtl="0" algn="just">
                        <a:lnSpc>
                          <a:spcPct val="114000"/>
                        </a:lnSpc>
                        <a:spcBef>
                          <a:spcPts val="0"/>
                        </a:spcBef>
                        <a:spcAft>
                          <a:spcPts val="0"/>
                        </a:spcAft>
                        <a:buClr>
                          <a:srgbClr val="000000"/>
                        </a:buClr>
                        <a:buSzPts val="2400"/>
                        <a:buFont typeface="Arial"/>
                        <a:buNone/>
                      </a:pPr>
                      <a:r>
                        <a:rPr lang="en-US" sz="2400" u="none" cap="none" strike="noStrike"/>
                        <a:t>4.7 mEq / liter (Normal = 3.5-5.0 mEq / liter)</a:t>
                      </a:r>
                      <a:endParaRPr sz="2400" u="none" cap="none" strike="noStrike">
                        <a:latin typeface="Calibri"/>
                        <a:ea typeface="Calibri"/>
                        <a:cs typeface="Calibri"/>
                        <a:sym typeface="Calibri"/>
                      </a:endParaRPr>
                    </a:p>
                  </a:txBody>
                  <a:tcPr marT="45725" marB="45725" marR="91450" marL="91450" anchor="ctr"/>
                </a:tc>
              </a:tr>
              <a:tr h="1162050">
                <a:tc>
                  <a:txBody>
                    <a:bodyPr/>
                    <a:lstStyle/>
                    <a:p>
                      <a:pPr indent="0" lvl="0" marL="0" marR="0" rtl="0" algn="just">
                        <a:lnSpc>
                          <a:spcPct val="114000"/>
                        </a:lnSpc>
                        <a:spcBef>
                          <a:spcPts val="0"/>
                        </a:spcBef>
                        <a:spcAft>
                          <a:spcPts val="0"/>
                        </a:spcAft>
                        <a:buClr>
                          <a:srgbClr val="000000"/>
                        </a:buClr>
                        <a:buSzPts val="2400"/>
                        <a:buFont typeface="Arial"/>
                        <a:buNone/>
                      </a:pPr>
                      <a:r>
                        <a:rPr lang="en-US" sz="2400" u="none" cap="none" strike="noStrike"/>
                        <a:t>C1</a:t>
                      </a:r>
                      <a:r>
                        <a:rPr baseline="30000" lang="en-US" sz="2400" u="none" cap="none" strike="noStrike"/>
                        <a:t>-</a:t>
                      </a:r>
                      <a:endParaRPr sz="2400" u="none" cap="none" strike="noStrike">
                        <a:latin typeface="Calibri"/>
                        <a:ea typeface="Calibri"/>
                        <a:cs typeface="Calibri"/>
                        <a:sym typeface="Calibri"/>
                      </a:endParaRPr>
                    </a:p>
                  </a:txBody>
                  <a:tcPr marT="45725" marB="45725" marR="91450" marL="91450" anchor="ctr"/>
                </a:tc>
                <a:tc>
                  <a:txBody>
                    <a:bodyPr/>
                    <a:lstStyle/>
                    <a:p>
                      <a:pPr indent="0" lvl="0" marL="0" marR="0" rtl="0" algn="just">
                        <a:lnSpc>
                          <a:spcPct val="114000"/>
                        </a:lnSpc>
                        <a:spcBef>
                          <a:spcPts val="0"/>
                        </a:spcBef>
                        <a:spcAft>
                          <a:spcPts val="0"/>
                        </a:spcAft>
                        <a:buClr>
                          <a:srgbClr val="000000"/>
                        </a:buClr>
                        <a:buSzPts val="2400"/>
                        <a:buFont typeface="Arial"/>
                        <a:buNone/>
                      </a:pPr>
                      <a:r>
                        <a:rPr lang="en-US" sz="2400" u="none" cap="none" strike="noStrike"/>
                        <a:t>101 mEq / liter (Normal = 96-106 mEq / liter)</a:t>
                      </a:r>
                      <a:endParaRPr sz="2400" u="none" cap="none" strike="noStrike">
                        <a:latin typeface="Calibri"/>
                        <a:ea typeface="Calibri"/>
                        <a:cs typeface="Calibri"/>
                        <a:sym typeface="Calibri"/>
                      </a:endParaRPr>
                    </a:p>
                  </a:txBody>
                  <a:tcPr marT="45725" marB="45725" marR="91450" marL="91450" anchor="ctr"/>
                </a:tc>
              </a:tr>
              <a:tr h="1162050">
                <a:tc>
                  <a:txBody>
                    <a:bodyPr/>
                    <a:lstStyle/>
                    <a:p>
                      <a:pPr indent="0" lvl="0" marL="0" marR="0" rtl="0" algn="just">
                        <a:lnSpc>
                          <a:spcPct val="114000"/>
                        </a:lnSpc>
                        <a:spcBef>
                          <a:spcPts val="0"/>
                        </a:spcBef>
                        <a:spcAft>
                          <a:spcPts val="0"/>
                        </a:spcAft>
                        <a:buClr>
                          <a:srgbClr val="000000"/>
                        </a:buClr>
                        <a:buSzPts val="1200"/>
                        <a:buFont typeface="Arial"/>
                        <a:buNone/>
                      </a:pPr>
                      <a:r>
                        <a:rPr lang="en-US" sz="1200" u="none" cap="none" strike="noStrike"/>
                        <a:t> </a:t>
                      </a:r>
                      <a:endParaRPr sz="1100" u="none" cap="none" strike="noStrike">
                        <a:latin typeface="Calibri"/>
                        <a:ea typeface="Calibri"/>
                        <a:cs typeface="Calibri"/>
                        <a:sym typeface="Calibri"/>
                      </a:endParaRPr>
                    </a:p>
                  </a:txBody>
                  <a:tcPr marT="45725" marB="45725" marR="91450" marL="91450" anchor="ctr"/>
                </a:tc>
                <a:tc>
                  <a:txBody>
                    <a:bodyPr/>
                    <a:lstStyle/>
                    <a:p>
                      <a:pPr indent="0" lvl="0" marL="0" marR="0" rtl="0" algn="just">
                        <a:lnSpc>
                          <a:spcPct val="114000"/>
                        </a:lnSpc>
                        <a:spcBef>
                          <a:spcPts val="0"/>
                        </a:spcBef>
                        <a:spcAft>
                          <a:spcPts val="0"/>
                        </a:spcAft>
                        <a:buClr>
                          <a:srgbClr val="000000"/>
                        </a:buClr>
                        <a:buSzPts val="1200"/>
                        <a:buFont typeface="Arial"/>
                        <a:buNone/>
                      </a:pPr>
                      <a:r>
                        <a:t/>
                      </a:r>
                      <a:endParaRPr sz="1200" u="none" cap="none" strike="noStrike">
                        <a:latin typeface="Times New Roman"/>
                        <a:ea typeface="Times New Roman"/>
                        <a:cs typeface="Times New Roman"/>
                        <a:sym typeface="Times New Roman"/>
                      </a:endParaRPr>
                    </a:p>
                  </a:txBody>
                  <a:tcPr marT="45725" marB="45725" marR="91450" marL="91450" anchor="ctr"/>
                </a:tc>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p13"/>
          <p:cNvSpPr txBox="1"/>
          <p:nvPr>
            <p:ph idx="4294967295" type="body"/>
          </p:nvPr>
        </p:nvSpPr>
        <p:spPr>
          <a:xfrm>
            <a:off x="549275" y="533400"/>
            <a:ext cx="7931785" cy="1606550"/>
          </a:xfrm>
          <a:prstGeom prst="rect">
            <a:avLst/>
          </a:prstGeom>
          <a:noFill/>
          <a:ln>
            <a:noFill/>
          </a:ln>
        </p:spPr>
        <p:txBody>
          <a:bodyPr anchorCtr="0" anchor="t" bIns="45700" lIns="91425" spcFirstLastPara="1" rIns="91425" wrap="square" tIns="45700">
            <a:normAutofit/>
          </a:bodyPr>
          <a:lstStyle/>
          <a:p>
            <a:pPr indent="-342900" lvl="0" marL="342900" rtl="0" algn="l">
              <a:lnSpc>
                <a:spcPct val="100000"/>
              </a:lnSpc>
              <a:spcBef>
                <a:spcPts val="0"/>
              </a:spcBef>
              <a:spcAft>
                <a:spcPts val="0"/>
              </a:spcAft>
              <a:buClr>
                <a:schemeClr val="dk1"/>
              </a:buClr>
              <a:buSzPts val="3200"/>
              <a:buChar char="•"/>
            </a:pPr>
            <a:r>
              <a:rPr lang="en-US"/>
              <a:t>A chest x-ray revealed  interstitial edema (fluid in the interstitial spaces) in the lungs.</a:t>
            </a:r>
            <a:endParaRPr/>
          </a:p>
          <a:p>
            <a:pPr indent="-139700" lvl="0" marL="342900" rtl="0" algn="l">
              <a:lnSpc>
                <a:spcPct val="100000"/>
              </a:lnSpc>
              <a:spcBef>
                <a:spcPts val="640"/>
              </a:spcBef>
              <a:spcAft>
                <a:spcPts val="0"/>
              </a:spcAft>
              <a:buClr>
                <a:schemeClr val="dk1"/>
              </a:buClr>
              <a:buSzPts val="3200"/>
              <a:buNone/>
            </a:pPr>
            <a:r>
              <a:t/>
            </a:r>
            <a:endParaRPr/>
          </a:p>
        </p:txBody>
      </p:sp>
      <p:pic>
        <p:nvPicPr>
          <p:cNvPr id="162" name="Google Shape;162;p13"/>
          <p:cNvPicPr preferRelativeResize="0"/>
          <p:nvPr>
            <p:ph idx="4294967295" type="body"/>
          </p:nvPr>
        </p:nvPicPr>
        <p:blipFill rotWithShape="1">
          <a:blip r:embed="rId3">
            <a:alphaModFix/>
          </a:blip>
          <a:srcRect b="0" l="0" r="0" t="0"/>
          <a:stretch/>
        </p:blipFill>
        <p:spPr>
          <a:xfrm>
            <a:off x="4724400" y="2438400"/>
            <a:ext cx="4038600" cy="3285490"/>
          </a:xfrm>
          <a:prstGeom prst="rect">
            <a:avLst/>
          </a:prstGeom>
          <a:noFill/>
          <a:ln>
            <a:noFill/>
          </a:ln>
        </p:spPr>
      </p:pic>
      <p:pic>
        <p:nvPicPr>
          <p:cNvPr id="163" name="Google Shape;163;p13"/>
          <p:cNvPicPr preferRelativeResize="0"/>
          <p:nvPr/>
        </p:nvPicPr>
        <p:blipFill rotWithShape="1">
          <a:blip r:embed="rId4">
            <a:alphaModFix/>
          </a:blip>
          <a:srcRect b="0" l="0" r="0" t="0"/>
          <a:stretch/>
        </p:blipFill>
        <p:spPr>
          <a:xfrm>
            <a:off x="475615" y="2438400"/>
            <a:ext cx="4009390" cy="3308985"/>
          </a:xfrm>
          <a:prstGeom prst="rect">
            <a:avLst/>
          </a:prstGeom>
          <a:noFill/>
          <a:ln>
            <a:noFill/>
          </a:ln>
        </p:spPr>
      </p:pic>
      <p:sp>
        <p:nvSpPr>
          <p:cNvPr id="164" name="Google Shape;164;p13"/>
          <p:cNvSpPr txBox="1"/>
          <p:nvPr/>
        </p:nvSpPr>
        <p:spPr>
          <a:xfrm>
            <a:off x="1311275" y="5938520"/>
            <a:ext cx="2346325" cy="368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Normal chest X ray</a:t>
            </a:r>
            <a:endParaRPr b="0" i="0" sz="1400" u="none" cap="none" strike="noStrike">
              <a:solidFill>
                <a:srgbClr val="000000"/>
              </a:solidFill>
              <a:latin typeface="Arial"/>
              <a:ea typeface="Arial"/>
              <a:cs typeface="Arial"/>
              <a:sym typeface="Arial"/>
            </a:endParaRPr>
          </a:p>
        </p:txBody>
      </p:sp>
      <p:sp>
        <p:nvSpPr>
          <p:cNvPr id="165" name="Google Shape;165;p13"/>
          <p:cNvSpPr txBox="1"/>
          <p:nvPr/>
        </p:nvSpPr>
        <p:spPr>
          <a:xfrm>
            <a:off x="5169535" y="6033770"/>
            <a:ext cx="2679065" cy="368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Interstitial edema</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p1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t/>
            </a:r>
            <a:endParaRPr/>
          </a:p>
        </p:txBody>
      </p:sp>
      <p:sp>
        <p:nvSpPr>
          <p:cNvPr id="171" name="Google Shape;171;p15"/>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lnSpc>
                <a:spcPct val="100000"/>
              </a:lnSpc>
              <a:spcBef>
                <a:spcPts val="0"/>
              </a:spcBef>
              <a:spcAft>
                <a:spcPts val="0"/>
              </a:spcAft>
              <a:buClr>
                <a:schemeClr val="dk1"/>
              </a:buClr>
              <a:buSzPts val="3200"/>
              <a:buChar char="•"/>
            </a:pPr>
            <a:r>
              <a:rPr b="1" i="1" lang="en-US"/>
              <a:t>1. What is Hypernatremia ,  is it a case of  </a:t>
            </a:r>
            <a:r>
              <a:rPr b="1" i="1" lang="en-US" u="sng">
                <a:solidFill>
                  <a:schemeClr val="hlink"/>
                </a:solidFill>
                <a:hlinkClick r:id="rId3"/>
              </a:rPr>
              <a:t>Hypervolemic Hypernatremia</a:t>
            </a:r>
            <a:r>
              <a:rPr b="1" i="1" lang="en-US"/>
              <a:t> ,</a:t>
            </a:r>
            <a:r>
              <a:rPr b="1" i="1" lang="en-US" u="sng">
                <a:solidFill>
                  <a:schemeClr val="hlink"/>
                </a:solidFill>
                <a:hlinkClick r:id="rId4"/>
              </a:rPr>
              <a:t>Isovolemic</a:t>
            </a:r>
            <a:r>
              <a:rPr b="1" lang="en-US"/>
              <a:t> </a:t>
            </a:r>
            <a:r>
              <a:rPr b="1" i="1" lang="en-US" u="sng">
                <a:solidFill>
                  <a:schemeClr val="hlink"/>
                </a:solidFill>
                <a:hlinkClick r:id="rId5"/>
              </a:rPr>
              <a:t>Hypernatremia</a:t>
            </a:r>
            <a:r>
              <a:rPr b="1" i="1" lang="en-US"/>
              <a:t>  or </a:t>
            </a:r>
            <a:r>
              <a:rPr b="1" i="1" lang="en-US" u="sng">
                <a:solidFill>
                  <a:schemeClr val="hlink"/>
                </a:solidFill>
                <a:hlinkClick r:id="rId6"/>
              </a:rPr>
              <a:t>Hypovolemic Hypernatremia</a:t>
            </a:r>
            <a:endParaRPr/>
          </a:p>
          <a:p>
            <a:pPr indent="0" lvl="0" marL="0" rtl="0" algn="l">
              <a:lnSpc>
                <a:spcPct val="100000"/>
              </a:lnSpc>
              <a:spcBef>
                <a:spcPts val="640"/>
              </a:spcBef>
              <a:spcAft>
                <a:spcPts val="0"/>
              </a:spcAft>
              <a:buClr>
                <a:schemeClr val="dk1"/>
              </a:buClr>
              <a:buSzPts val="3200"/>
              <a:buNone/>
            </a:pPr>
            <a:r>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1">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1">
                                            <p:txEl>
                                              <p:pRg end="1" st="1"/>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1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t/>
            </a:r>
            <a:endParaRPr/>
          </a:p>
        </p:txBody>
      </p:sp>
      <p:sp>
        <p:nvSpPr>
          <p:cNvPr id="177" name="Google Shape;177;p16"/>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139700" lvl="0" marL="342900" rtl="0" algn="l">
              <a:lnSpc>
                <a:spcPct val="100000"/>
              </a:lnSpc>
              <a:spcBef>
                <a:spcPts val="0"/>
              </a:spcBef>
              <a:spcAft>
                <a:spcPts val="0"/>
              </a:spcAft>
              <a:buClr>
                <a:schemeClr val="dk1"/>
              </a:buClr>
              <a:buSzPts val="3200"/>
              <a:buNone/>
            </a:pPr>
            <a:r>
              <a:t/>
            </a:r>
            <a:endParaRPr/>
          </a:p>
          <a:p>
            <a:pPr indent="-139700" lvl="0" marL="342900" rtl="0" algn="l">
              <a:lnSpc>
                <a:spcPct val="100000"/>
              </a:lnSpc>
              <a:spcBef>
                <a:spcPts val="640"/>
              </a:spcBef>
              <a:spcAft>
                <a:spcPts val="0"/>
              </a:spcAft>
              <a:buClr>
                <a:schemeClr val="dk1"/>
              </a:buClr>
              <a:buSzPts val="3200"/>
              <a:buNone/>
            </a:pPr>
            <a:r>
              <a:t/>
            </a:r>
            <a:endParaRPr/>
          </a:p>
          <a:p>
            <a:pPr indent="-342900" lvl="0" marL="342900" rtl="0" algn="l">
              <a:lnSpc>
                <a:spcPct val="100000"/>
              </a:lnSpc>
              <a:spcBef>
                <a:spcPts val="640"/>
              </a:spcBef>
              <a:spcAft>
                <a:spcPts val="0"/>
              </a:spcAft>
              <a:buClr>
                <a:schemeClr val="dk1"/>
              </a:buClr>
              <a:buSzPts val="3200"/>
              <a:buChar char="•"/>
            </a:pPr>
            <a:r>
              <a:rPr lang="en-US"/>
              <a:t>This is case of hypervolemic hypernatremia</a:t>
            </a:r>
            <a:endParaRPr/>
          </a:p>
          <a:p>
            <a:pPr indent="-139700" lvl="0" marL="342900" rtl="0" algn="l">
              <a:lnSpc>
                <a:spcPct val="100000"/>
              </a:lnSpc>
              <a:spcBef>
                <a:spcPts val="640"/>
              </a:spcBef>
              <a:spcAft>
                <a:spcPts val="0"/>
              </a:spcAft>
              <a:buClr>
                <a:schemeClr val="dk1"/>
              </a:buClr>
              <a:buSzPts val="3200"/>
              <a:buNone/>
            </a:pPr>
            <a:r>
              <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1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t/>
            </a:r>
            <a:endParaRPr/>
          </a:p>
        </p:txBody>
      </p:sp>
      <p:sp>
        <p:nvSpPr>
          <p:cNvPr id="183" name="Google Shape;183;p17"/>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lnSpc>
                <a:spcPct val="100000"/>
              </a:lnSpc>
              <a:spcBef>
                <a:spcPts val="0"/>
              </a:spcBef>
              <a:spcAft>
                <a:spcPts val="0"/>
              </a:spcAft>
              <a:buClr>
                <a:schemeClr val="dk1"/>
              </a:buClr>
              <a:buSzPts val="3200"/>
              <a:buChar char="•"/>
            </a:pPr>
            <a:r>
              <a:rPr b="1" i="1" lang="en-US"/>
              <a:t>2. Will the nurse's mistake increase or decrease the "saltiness" of the interstitial fluid?</a:t>
            </a:r>
            <a:endParaRPr/>
          </a:p>
          <a:p>
            <a:pPr indent="0" lvl="0" marL="0" rtl="0" algn="l">
              <a:lnSpc>
                <a:spcPct val="100000"/>
              </a:lnSpc>
              <a:spcBef>
                <a:spcPts val="640"/>
              </a:spcBef>
              <a:spcAft>
                <a:spcPts val="0"/>
              </a:spcAft>
              <a:buClr>
                <a:schemeClr val="dk1"/>
              </a:buClr>
              <a:buSzPts val="3200"/>
              <a:buNone/>
            </a:pPr>
            <a:r>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3">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3">
                                            <p:txEl>
                                              <p:pRg end="1" st="1"/>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1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t/>
            </a:r>
            <a:endParaRPr/>
          </a:p>
        </p:txBody>
      </p:sp>
      <p:sp>
        <p:nvSpPr>
          <p:cNvPr id="189" name="Google Shape;189;p18"/>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lnSpc>
                <a:spcPct val="100000"/>
              </a:lnSpc>
              <a:spcBef>
                <a:spcPts val="0"/>
              </a:spcBef>
              <a:spcAft>
                <a:spcPts val="0"/>
              </a:spcAft>
              <a:buClr>
                <a:schemeClr val="dk1"/>
              </a:buClr>
              <a:buSzPts val="3200"/>
              <a:buChar char="•"/>
            </a:pPr>
            <a:r>
              <a:rPr lang="en-US"/>
              <a:t>The intravenous fluid given to this patient was too concentrated with sodium and chloride. Because these ions diffuse freely between the plasma and the interstitial fluid, increase in plasma sodium and chloride concentrations will cause increase in interstitial fluid sodium and chloride concentrations.</a:t>
            </a:r>
            <a:endParaRPr/>
          </a:p>
          <a:p>
            <a:pPr indent="-139700" lvl="0" marL="342900" rtl="0" algn="l">
              <a:lnSpc>
                <a:spcPct val="100000"/>
              </a:lnSpc>
              <a:spcBef>
                <a:spcPts val="640"/>
              </a:spcBef>
              <a:spcAft>
                <a:spcPts val="0"/>
              </a:spcAft>
              <a:buClr>
                <a:schemeClr val="dk1"/>
              </a:buClr>
              <a:buSzPts val="3200"/>
              <a:buNone/>
            </a:pPr>
            <a:r>
              <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p1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t/>
            </a:r>
            <a:endParaRPr/>
          </a:p>
        </p:txBody>
      </p:sp>
      <p:sp>
        <p:nvSpPr>
          <p:cNvPr id="195" name="Google Shape;195;p19"/>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lnSpc>
                <a:spcPct val="100000"/>
              </a:lnSpc>
              <a:spcBef>
                <a:spcPts val="0"/>
              </a:spcBef>
              <a:spcAft>
                <a:spcPts val="0"/>
              </a:spcAft>
              <a:buClr>
                <a:schemeClr val="dk1"/>
              </a:buClr>
              <a:buSzPts val="3200"/>
              <a:buChar char="•"/>
            </a:pPr>
            <a:r>
              <a:rPr b="1" i="1" lang="en-US"/>
              <a:t>3. Given your knowledge of osmosis, will this cause the cells in the body to increase or decrease in size? Explain your answer</a:t>
            </a:r>
            <a:endParaRPr/>
          </a:p>
          <a:p>
            <a:pPr indent="0" lvl="0" marL="0" rtl="0" algn="l">
              <a:lnSpc>
                <a:spcPct val="100000"/>
              </a:lnSpc>
              <a:spcBef>
                <a:spcPts val="640"/>
              </a:spcBef>
              <a:spcAft>
                <a:spcPts val="0"/>
              </a:spcAft>
              <a:buClr>
                <a:schemeClr val="dk1"/>
              </a:buClr>
              <a:buSzPts val="3200"/>
              <a:buNone/>
            </a:pPr>
            <a:r>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5">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5">
                                            <p:txEl>
                                              <p:pRg end="1" st="1"/>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sp>
        <p:nvSpPr>
          <p:cNvPr id="200" name="Google Shape;200;p2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t/>
            </a:r>
            <a:endParaRPr/>
          </a:p>
        </p:txBody>
      </p:sp>
      <p:sp>
        <p:nvSpPr>
          <p:cNvPr id="201" name="Google Shape;201;p20"/>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lnSpc>
                <a:spcPct val="100000"/>
              </a:lnSpc>
              <a:spcBef>
                <a:spcPts val="0"/>
              </a:spcBef>
              <a:spcAft>
                <a:spcPts val="0"/>
              </a:spcAft>
              <a:buClr>
                <a:schemeClr val="dk1"/>
              </a:buClr>
              <a:buSzPts val="3200"/>
              <a:buChar char="•"/>
            </a:pPr>
            <a:r>
              <a:rPr lang="en-US"/>
              <a:t>Interstitial fluid that is hypertonic to intracellular fluid will cause water to shift by osmosis from the cells to the interstitial fluid. Hence, the cells will osmotically shrink. This can be particularly detrimental to the intracellular architecture, causing deformation of the vital organelles required for cell function.</a:t>
            </a:r>
            <a:endParaRPr/>
          </a:p>
          <a:p>
            <a:pPr indent="-139700" lvl="0" marL="342900" rtl="0" algn="l">
              <a:lnSpc>
                <a:spcPct val="100000"/>
              </a:lnSpc>
              <a:spcBef>
                <a:spcPts val="640"/>
              </a:spcBef>
              <a:spcAft>
                <a:spcPts val="0"/>
              </a:spcAft>
              <a:buClr>
                <a:schemeClr val="dk1"/>
              </a:buClr>
              <a:buSzPts val="3200"/>
              <a:buNone/>
            </a:pPr>
            <a:r>
              <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sp>
        <p:nvSpPr>
          <p:cNvPr id="206" name="Google Shape;206;p2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t/>
            </a:r>
            <a:endParaRPr/>
          </a:p>
        </p:txBody>
      </p:sp>
      <p:sp>
        <p:nvSpPr>
          <p:cNvPr id="207" name="Google Shape;207;p2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lnSpc>
                <a:spcPct val="100000"/>
              </a:lnSpc>
              <a:spcBef>
                <a:spcPts val="0"/>
              </a:spcBef>
              <a:spcAft>
                <a:spcPts val="0"/>
              </a:spcAft>
              <a:buClr>
                <a:schemeClr val="dk1"/>
              </a:buClr>
              <a:buSzPts val="3200"/>
              <a:buChar char="•"/>
            </a:pPr>
            <a:r>
              <a:rPr b="1" i="1" lang="en-US"/>
              <a:t>4. Why does this patient have pitting edema?</a:t>
            </a:r>
            <a:endParaRPr/>
          </a:p>
          <a:p>
            <a:pPr indent="0" lvl="0" marL="0" rtl="0" algn="l">
              <a:lnSpc>
                <a:spcPct val="100000"/>
              </a:lnSpc>
              <a:spcBef>
                <a:spcPts val="640"/>
              </a:spcBef>
              <a:spcAft>
                <a:spcPts val="0"/>
              </a:spcAft>
              <a:buClr>
                <a:schemeClr val="dk1"/>
              </a:buClr>
              <a:buSzPts val="3200"/>
              <a:buNone/>
            </a:pPr>
            <a:r>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7">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7">
                                            <p:txEl>
                                              <p:pRg end="1" st="1"/>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sp>
        <p:nvSpPr>
          <p:cNvPr id="212" name="Google Shape;212;p2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t/>
            </a:r>
            <a:endParaRPr/>
          </a:p>
        </p:txBody>
      </p:sp>
      <p:sp>
        <p:nvSpPr>
          <p:cNvPr id="213" name="Google Shape;213;p22"/>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lnSpc>
                <a:spcPct val="100000"/>
              </a:lnSpc>
              <a:spcBef>
                <a:spcPts val="0"/>
              </a:spcBef>
              <a:spcAft>
                <a:spcPts val="0"/>
              </a:spcAft>
              <a:buClr>
                <a:schemeClr val="dk1"/>
              </a:buClr>
              <a:buSzPts val="3200"/>
              <a:buChar char="•"/>
            </a:pPr>
            <a:r>
              <a:rPr lang="en-US"/>
              <a:t>Introducing hypertonic saline into this patient made the plasma and interstitial fluid sodium concentrations rise. As the plasma sodium level rises, more water than normal is passively shift  from the plasma into the interstitial spaces. Thus, the patient develops edema (i.e.swelling) in tissues</a:t>
            </a:r>
            <a:endParaRPr/>
          </a:p>
          <a:p>
            <a:pPr indent="-139700" lvl="0" marL="342900" rtl="0" algn="l">
              <a:lnSpc>
                <a:spcPct val="100000"/>
              </a:lnSpc>
              <a:spcBef>
                <a:spcPts val="640"/>
              </a:spcBef>
              <a:spcAft>
                <a:spcPts val="0"/>
              </a:spcAft>
              <a:buClr>
                <a:schemeClr val="dk1"/>
              </a:buClr>
              <a:buSzPts val="3200"/>
              <a:buNone/>
            </a:pPr>
            <a:r>
              <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2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t/>
            </a:r>
            <a:endParaRPr/>
          </a:p>
        </p:txBody>
      </p:sp>
      <p:sp>
        <p:nvSpPr>
          <p:cNvPr id="219" name="Google Shape;219;p23"/>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lnSpc>
                <a:spcPct val="100000"/>
              </a:lnSpc>
              <a:spcBef>
                <a:spcPts val="0"/>
              </a:spcBef>
              <a:spcAft>
                <a:spcPts val="0"/>
              </a:spcAft>
              <a:buClr>
                <a:schemeClr val="dk1"/>
              </a:buClr>
              <a:buSzPts val="3200"/>
              <a:buChar char="•"/>
            </a:pPr>
            <a:r>
              <a:rPr b="1" i="1" lang="en-US"/>
              <a:t>5. How would this increase in salt load affect the patient's blood-aldosterone level? And how homeostasis is achieved with respect to water and electrolytes balance</a:t>
            </a:r>
            <a:r>
              <a:rPr i="1" lang="en-US"/>
              <a:t>?</a:t>
            </a:r>
            <a:endParaRPr/>
          </a:p>
          <a:p>
            <a:pPr indent="-139700" lvl="0" marL="342900" rtl="0" algn="l">
              <a:lnSpc>
                <a:spcPct val="100000"/>
              </a:lnSpc>
              <a:spcBef>
                <a:spcPts val="640"/>
              </a:spcBef>
              <a:spcAft>
                <a:spcPts val="0"/>
              </a:spcAft>
              <a:buClr>
                <a:schemeClr val="dk1"/>
              </a:buClr>
              <a:buSzPts val="3200"/>
              <a:buNone/>
            </a:pPr>
            <a:r>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9">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9">
                                            <p:txEl>
                                              <p:pRg end="1" st="1"/>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 name="Shape 223"/>
        <p:cNvGrpSpPr/>
        <p:nvPr/>
      </p:nvGrpSpPr>
      <p:grpSpPr>
        <a:xfrm>
          <a:off x="0" y="0"/>
          <a:ext cx="0" cy="0"/>
          <a:chOff x="0" y="0"/>
          <a:chExt cx="0" cy="0"/>
        </a:xfrm>
      </p:grpSpPr>
      <p:sp>
        <p:nvSpPr>
          <p:cNvPr id="224" name="Google Shape;224;p2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t/>
            </a:r>
            <a:endParaRPr/>
          </a:p>
        </p:txBody>
      </p:sp>
      <p:sp>
        <p:nvSpPr>
          <p:cNvPr id="225" name="Google Shape;225;p2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fontScale="85000" lnSpcReduction="10000"/>
          </a:bodyPr>
          <a:lstStyle/>
          <a:p>
            <a:pPr indent="-342900" lvl="0" marL="342900" rtl="0" algn="l">
              <a:lnSpc>
                <a:spcPct val="100000"/>
              </a:lnSpc>
              <a:spcBef>
                <a:spcPts val="0"/>
              </a:spcBef>
              <a:spcAft>
                <a:spcPts val="0"/>
              </a:spcAft>
              <a:buClr>
                <a:schemeClr val="dk1"/>
              </a:buClr>
              <a:buSzPct val="100000"/>
              <a:buChar char="•"/>
            </a:pPr>
            <a:r>
              <a:rPr lang="en-US"/>
              <a:t>There are several physiological factors that stimulate the release of aldosterone from the adrenal cortex, the most important of which are (1) elevated blood-K</a:t>
            </a:r>
            <a:r>
              <a:rPr baseline="30000" lang="en-US"/>
              <a:t>+</a:t>
            </a:r>
            <a:r>
              <a:rPr lang="en-US"/>
              <a:t> level, (2) decreased blood-Na</a:t>
            </a:r>
            <a:r>
              <a:rPr baseline="30000" lang="en-US"/>
              <a:t>+</a:t>
            </a:r>
            <a:r>
              <a:rPr lang="en-US"/>
              <a:t> level, (3) decreased blood pressure by  increasing  the tubular reabsorption of Na</a:t>
            </a:r>
            <a:r>
              <a:rPr baseline="30000" lang="en-US"/>
              <a:t>+</a:t>
            </a:r>
            <a:r>
              <a:rPr lang="en-US"/>
              <a:t> ions from the distal renal tubules</a:t>
            </a:r>
            <a:endParaRPr/>
          </a:p>
          <a:p>
            <a:pPr indent="-342900" lvl="0" marL="342900" rtl="0" algn="l">
              <a:lnSpc>
                <a:spcPct val="100000"/>
              </a:lnSpc>
              <a:spcBef>
                <a:spcPts val="544"/>
              </a:spcBef>
              <a:spcAft>
                <a:spcPts val="0"/>
              </a:spcAft>
              <a:buClr>
                <a:schemeClr val="dk1"/>
              </a:buClr>
              <a:buSzPct val="100000"/>
              <a:buChar char="•"/>
            </a:pPr>
            <a:r>
              <a:rPr lang="en-US"/>
              <a:t>The opposite of each of these conditions decreases the release of aldosterone. In our patient's case, the elevated blood-Na</a:t>
            </a:r>
            <a:r>
              <a:rPr baseline="30000" lang="en-US"/>
              <a:t>+</a:t>
            </a:r>
            <a:r>
              <a:rPr lang="en-US"/>
              <a:t> level will inhibit release of aldosterone and thus enhance the excretion of the excess Na</a:t>
            </a:r>
            <a:r>
              <a:rPr baseline="30000" lang="en-US"/>
              <a:t>+</a:t>
            </a:r>
            <a:r>
              <a:rPr lang="en-US"/>
              <a:t> ions into the urine.</a:t>
            </a:r>
            <a:endParaRPr/>
          </a:p>
          <a:p>
            <a:pPr indent="-170180" lvl="0" marL="342900" rtl="0" algn="l">
              <a:lnSpc>
                <a:spcPct val="100000"/>
              </a:lnSpc>
              <a:spcBef>
                <a:spcPts val="544"/>
              </a:spcBef>
              <a:spcAft>
                <a:spcPts val="0"/>
              </a:spcAft>
              <a:buClr>
                <a:schemeClr val="dk1"/>
              </a:buClr>
              <a:buSzPct val="100000"/>
              <a:buNone/>
            </a:pPr>
            <a:r>
              <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sp>
        <p:nvSpPr>
          <p:cNvPr id="230" name="Google Shape;230;p2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t/>
            </a:r>
            <a:endParaRPr/>
          </a:p>
        </p:txBody>
      </p:sp>
      <p:sp>
        <p:nvSpPr>
          <p:cNvPr id="231" name="Google Shape;231;p25"/>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lnSpc>
                <a:spcPct val="100000"/>
              </a:lnSpc>
              <a:spcBef>
                <a:spcPts val="0"/>
              </a:spcBef>
              <a:spcAft>
                <a:spcPts val="0"/>
              </a:spcAft>
              <a:buClr>
                <a:schemeClr val="dk1"/>
              </a:buClr>
              <a:buSzPts val="3200"/>
              <a:buChar char="•"/>
            </a:pPr>
            <a:r>
              <a:rPr b="1" i="1" lang="en-US"/>
              <a:t>6. Can you think of any other normal mechanisms that the body has to control salt and water balance? How might they react in this situation</a:t>
            </a:r>
            <a:r>
              <a:rPr i="1" lang="en-US"/>
              <a:t>?</a:t>
            </a:r>
            <a:endParaRPr/>
          </a:p>
          <a:p>
            <a:pPr indent="0" lvl="0" marL="0" rtl="0" algn="l">
              <a:lnSpc>
                <a:spcPct val="100000"/>
              </a:lnSpc>
              <a:spcBef>
                <a:spcPts val="640"/>
              </a:spcBef>
              <a:spcAft>
                <a:spcPts val="0"/>
              </a:spcAft>
              <a:buClr>
                <a:schemeClr val="dk1"/>
              </a:buClr>
              <a:buSzPts val="3200"/>
              <a:buNone/>
            </a:pPr>
            <a:r>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1">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1">
                                            <p:txEl>
                                              <p:pRg end="1" st="1"/>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 name="Shape 235"/>
        <p:cNvGrpSpPr/>
        <p:nvPr/>
      </p:nvGrpSpPr>
      <p:grpSpPr>
        <a:xfrm>
          <a:off x="0" y="0"/>
          <a:ext cx="0" cy="0"/>
          <a:chOff x="0" y="0"/>
          <a:chExt cx="0" cy="0"/>
        </a:xfrm>
      </p:grpSpPr>
      <p:sp>
        <p:nvSpPr>
          <p:cNvPr id="236" name="Google Shape;236;p2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t/>
            </a:r>
            <a:endParaRPr/>
          </a:p>
        </p:txBody>
      </p:sp>
      <p:sp>
        <p:nvSpPr>
          <p:cNvPr id="237" name="Google Shape;237;p26"/>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lnSpc>
                <a:spcPct val="100000"/>
              </a:lnSpc>
              <a:spcBef>
                <a:spcPts val="0"/>
              </a:spcBef>
              <a:spcAft>
                <a:spcPts val="0"/>
              </a:spcAft>
              <a:buClr>
                <a:schemeClr val="dk1"/>
              </a:buClr>
              <a:buSzPts val="3200"/>
              <a:buChar char="•"/>
            </a:pPr>
            <a:r>
              <a:rPr lang="en-US"/>
              <a:t>The hypothalamus  responds to an increased extracellular fluid osmolarity by releasing anti-diuretic hormone (ADH), also known as vasopressin. This hormone, in turn, increases the permeability of the nephrons' collecting duct walls to water. </a:t>
            </a:r>
            <a:endParaRPr/>
          </a:p>
          <a:p>
            <a:pPr indent="-139700" lvl="0" marL="342900" rtl="0" algn="l">
              <a:lnSpc>
                <a:spcPct val="100000"/>
              </a:lnSpc>
              <a:spcBef>
                <a:spcPts val="640"/>
              </a:spcBef>
              <a:spcAft>
                <a:spcPts val="0"/>
              </a:spcAft>
              <a:buClr>
                <a:schemeClr val="dk1"/>
              </a:buClr>
              <a:buSzPts val="3200"/>
              <a:buNone/>
            </a:pPr>
            <a:r>
              <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sp>
        <p:nvSpPr>
          <p:cNvPr id="242" name="Google Shape;242;p2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t/>
            </a:r>
            <a:endParaRPr/>
          </a:p>
        </p:txBody>
      </p:sp>
      <p:sp>
        <p:nvSpPr>
          <p:cNvPr id="243" name="Google Shape;243;p27"/>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lnSpc>
                <a:spcPct val="100000"/>
              </a:lnSpc>
              <a:spcBef>
                <a:spcPts val="0"/>
              </a:spcBef>
              <a:spcAft>
                <a:spcPts val="0"/>
              </a:spcAft>
              <a:buClr>
                <a:schemeClr val="dk1"/>
              </a:buClr>
              <a:buSzPts val="3200"/>
              <a:buChar char="•"/>
            </a:pPr>
            <a:r>
              <a:rPr b="1" i="1" lang="en-US"/>
              <a:t>7. What symptoms might result from hypernatremia ("high blood-sodium" level)?</a:t>
            </a:r>
            <a:endParaRPr/>
          </a:p>
          <a:p>
            <a:pPr indent="0" lvl="0" marL="0" rtl="0" algn="l">
              <a:lnSpc>
                <a:spcPct val="100000"/>
              </a:lnSpc>
              <a:spcBef>
                <a:spcPts val="640"/>
              </a:spcBef>
              <a:spcAft>
                <a:spcPts val="0"/>
              </a:spcAft>
              <a:buClr>
                <a:schemeClr val="dk1"/>
              </a:buClr>
              <a:buSzPts val="3200"/>
              <a:buNone/>
            </a:pPr>
            <a:r>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3">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3">
                                            <p:txEl>
                                              <p:pRg end="1" st="1"/>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sp>
        <p:nvSpPr>
          <p:cNvPr id="248" name="Google Shape;248;p2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t/>
            </a:r>
            <a:endParaRPr/>
          </a:p>
        </p:txBody>
      </p:sp>
      <p:sp>
        <p:nvSpPr>
          <p:cNvPr id="249" name="Google Shape;249;p28"/>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lnSpc>
                <a:spcPct val="100000"/>
              </a:lnSpc>
              <a:spcBef>
                <a:spcPts val="0"/>
              </a:spcBef>
              <a:spcAft>
                <a:spcPts val="0"/>
              </a:spcAft>
              <a:buClr>
                <a:schemeClr val="dk1"/>
              </a:buClr>
              <a:buSzPts val="3200"/>
              <a:buChar char="•"/>
            </a:pPr>
            <a:r>
              <a:rPr lang="en-US"/>
              <a:t>Osmotic shrinkage of cells during hypernatremia can cause shrinking of the brain and concomitant central nervous system. Symptoms such as lethargy, confusion, coma, convulsions, and respiratory paralysis. Muscular tremor, rigidity, and hyperreflexia may also occur.</a:t>
            </a:r>
            <a:endParaRPr/>
          </a:p>
          <a:p>
            <a:pPr indent="-139700" lvl="0" marL="342900" rtl="0" algn="l">
              <a:lnSpc>
                <a:spcPct val="100000"/>
              </a:lnSpc>
              <a:spcBef>
                <a:spcPts val="640"/>
              </a:spcBef>
              <a:spcAft>
                <a:spcPts val="0"/>
              </a:spcAft>
              <a:buClr>
                <a:schemeClr val="dk1"/>
              </a:buClr>
              <a:buSzPts val="3200"/>
              <a:buNone/>
            </a:pPr>
            <a:r>
              <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3" name="Shape 253"/>
        <p:cNvGrpSpPr/>
        <p:nvPr/>
      </p:nvGrpSpPr>
      <p:grpSpPr>
        <a:xfrm>
          <a:off x="0" y="0"/>
          <a:ext cx="0" cy="0"/>
          <a:chOff x="0" y="0"/>
          <a:chExt cx="0" cy="0"/>
        </a:xfrm>
      </p:grpSpPr>
      <p:sp>
        <p:nvSpPr>
          <p:cNvPr id="254" name="Google Shape;254;p2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t/>
            </a:r>
            <a:endParaRPr/>
          </a:p>
        </p:txBody>
      </p:sp>
      <p:sp>
        <p:nvSpPr>
          <p:cNvPr id="255" name="Google Shape;255;p29"/>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fontScale="70000" lnSpcReduction="20000"/>
          </a:bodyPr>
          <a:lstStyle/>
          <a:p>
            <a:pPr indent="-342900" lvl="0" marL="342900" rtl="0" algn="l">
              <a:lnSpc>
                <a:spcPct val="100000"/>
              </a:lnSpc>
              <a:spcBef>
                <a:spcPts val="0"/>
              </a:spcBef>
              <a:spcAft>
                <a:spcPts val="0"/>
              </a:spcAft>
              <a:buClr>
                <a:schemeClr val="dk1"/>
              </a:buClr>
              <a:buSzPct val="100000"/>
              <a:buChar char="•"/>
            </a:pPr>
            <a:r>
              <a:rPr b="1" i="1" lang="en-US"/>
              <a:t>8. How is this patient's interstitial edema in the lungs affected by his already-weakened heart?</a:t>
            </a:r>
            <a:endParaRPr/>
          </a:p>
          <a:p>
            <a:pPr indent="-342900" lvl="0" marL="342900" rtl="0" algn="l">
              <a:lnSpc>
                <a:spcPct val="100000"/>
              </a:lnSpc>
              <a:spcBef>
                <a:spcPts val="448"/>
              </a:spcBef>
              <a:spcAft>
                <a:spcPts val="0"/>
              </a:spcAft>
              <a:buClr>
                <a:schemeClr val="dk1"/>
              </a:buClr>
              <a:buSzPct val="100000"/>
              <a:buChar char="•"/>
            </a:pPr>
            <a:r>
              <a:rPr lang="en-US"/>
              <a:t>The osmotic increase in blood volume places an increased pre-load work requirement on an already impaired left ventricle. If this ventricle cannot pump blood out into the aorta at a rate equal to that of blood entering the left ventricle from the left atrium, hydrostatic pressure will rise in the left ventricle, left atrium, and ultimately the pulmonary circulation "upstream." An increase in pulmonary capillary hydrostatic pressure will force more water to be filtered from the bloodstream into the interstitial spaces of the lung tissue. As fluid builds up in these spaces, it may begin to collect in the alveolar air spaces and terminal bronchioles (a condition called "pulmonary edema"). If this happens, rales (i.e. crackling sounds) may be heard with a stethoscope when the patient inhales.</a:t>
            </a:r>
            <a:endParaRPr/>
          </a:p>
          <a:p>
            <a:pPr indent="-200660" lvl="0" marL="342900" rtl="0" algn="l">
              <a:lnSpc>
                <a:spcPct val="100000"/>
              </a:lnSpc>
              <a:spcBef>
                <a:spcPts val="448"/>
              </a:spcBef>
              <a:spcAft>
                <a:spcPts val="0"/>
              </a:spcAft>
              <a:buClr>
                <a:schemeClr val="dk1"/>
              </a:buClr>
              <a:buSzPct val="100000"/>
              <a:buNone/>
            </a:pPr>
            <a:r>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5">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5">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5">
                                            <p:txEl>
                                              <p:pRg end="2" st="2"/>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9" name="Shape 259"/>
        <p:cNvGrpSpPr/>
        <p:nvPr/>
      </p:nvGrpSpPr>
      <p:grpSpPr>
        <a:xfrm>
          <a:off x="0" y="0"/>
          <a:ext cx="0" cy="0"/>
          <a:chOff x="0" y="0"/>
          <a:chExt cx="0" cy="0"/>
        </a:xfrm>
      </p:grpSpPr>
      <p:sp>
        <p:nvSpPr>
          <p:cNvPr id="260" name="Google Shape;260;p3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n-US"/>
              <a:t>CASE 2</a:t>
            </a:r>
            <a:endParaRPr/>
          </a:p>
        </p:txBody>
      </p:sp>
      <p:sp>
        <p:nvSpPr>
          <p:cNvPr id="261" name="Google Shape;261;p30"/>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lnSpc>
                <a:spcPct val="100000"/>
              </a:lnSpc>
              <a:spcBef>
                <a:spcPts val="0"/>
              </a:spcBef>
              <a:spcAft>
                <a:spcPts val="0"/>
              </a:spcAft>
              <a:buClr>
                <a:schemeClr val="dk1"/>
              </a:buClr>
              <a:buSzPts val="3200"/>
              <a:buChar char="•"/>
            </a:pPr>
            <a:r>
              <a:rPr b="1" lang="en-US">
                <a:latin typeface="Times New Roman"/>
                <a:ea typeface="Times New Roman"/>
                <a:cs typeface="Times New Roman"/>
                <a:sym typeface="Times New Roman"/>
              </a:rPr>
              <a:t>Learning Objectives:</a:t>
            </a:r>
            <a:endParaRPr/>
          </a:p>
          <a:p>
            <a:pPr indent="-190500" lvl="0" marL="342900" rtl="0" algn="l">
              <a:lnSpc>
                <a:spcPct val="100000"/>
              </a:lnSpc>
              <a:spcBef>
                <a:spcPts val="480"/>
              </a:spcBef>
              <a:spcAft>
                <a:spcPts val="0"/>
              </a:spcAft>
              <a:buClr>
                <a:schemeClr val="dk1"/>
              </a:buClr>
              <a:buSzPts val="2400"/>
              <a:buNone/>
            </a:pPr>
            <a:r>
              <a:t/>
            </a:r>
            <a:endParaRPr sz="2400"/>
          </a:p>
        </p:txBody>
      </p:sp>
      <p:sp>
        <p:nvSpPr>
          <p:cNvPr id="262" name="Google Shape;262;p30"/>
          <p:cNvSpPr/>
          <p:nvPr/>
        </p:nvSpPr>
        <p:spPr>
          <a:xfrm>
            <a:off x="838200" y="2319460"/>
            <a:ext cx="6934200" cy="2252540"/>
          </a:xfrm>
          <a:prstGeom prst="rect">
            <a:avLst/>
          </a:prstGeom>
          <a:noFill/>
          <a:ln>
            <a:noFill/>
          </a:ln>
        </p:spPr>
        <p:txBody>
          <a:bodyPr anchorCtr="0" anchor="t" bIns="45700" lIns="91425" spcFirstLastPara="1" rIns="91425" wrap="square" tIns="45700">
            <a:spAutoFit/>
          </a:bodyPr>
          <a:lstStyle/>
          <a:p>
            <a:pPr indent="0" lvl="0" marL="0" marR="0" rtl="0" algn="ctr">
              <a:lnSpc>
                <a:spcPct val="114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a:p>
            <a:pPr indent="0" lvl="0" marL="0" marR="0" rtl="0" algn="l">
              <a:lnSpc>
                <a:spcPct val="114000"/>
              </a:lnSpc>
              <a:spcBef>
                <a:spcPts val="1000"/>
              </a:spcBef>
              <a:spcAft>
                <a:spcPts val="0"/>
              </a:spcAft>
              <a:buClr>
                <a:srgbClr val="000000"/>
              </a:buClr>
              <a:buSzPts val="2400"/>
              <a:buFont typeface="Arial"/>
              <a:buNone/>
            </a:pPr>
            <a:r>
              <a:rPr b="0" i="0" lang="en-US" sz="2400" u="none" cap="none" strike="noStrike">
                <a:solidFill>
                  <a:srgbClr val="000000"/>
                </a:solidFill>
                <a:latin typeface="Times New Roman"/>
                <a:ea typeface="Times New Roman"/>
                <a:cs typeface="Times New Roman"/>
                <a:sym typeface="Times New Roman"/>
              </a:rPr>
              <a:t>Define normal body fluid distribution, its composition and osmolarity  </a:t>
            </a:r>
            <a:endParaRPr b="0" i="0" sz="2400" u="none" cap="none" strike="noStrike">
              <a:solidFill>
                <a:schemeClr val="dk1"/>
              </a:solidFill>
              <a:latin typeface="Calibri"/>
              <a:ea typeface="Calibri"/>
              <a:cs typeface="Calibri"/>
              <a:sym typeface="Calibri"/>
            </a:endParaRPr>
          </a:p>
          <a:p>
            <a:pPr indent="0" lvl="0" marL="0" marR="0" rtl="0" algn="l">
              <a:lnSpc>
                <a:spcPct val="114000"/>
              </a:lnSpc>
              <a:spcBef>
                <a:spcPts val="1000"/>
              </a:spcBef>
              <a:spcAft>
                <a:spcPts val="0"/>
              </a:spcAft>
              <a:buClr>
                <a:srgbClr val="000000"/>
              </a:buClr>
              <a:buSzPts val="2400"/>
              <a:buFont typeface="Arial"/>
              <a:buNone/>
            </a:pPr>
            <a:r>
              <a:rPr b="0" i="0" lang="en-US" sz="2400" u="none" cap="none" strike="noStrike">
                <a:solidFill>
                  <a:srgbClr val="000000"/>
                </a:solidFill>
                <a:latin typeface="Times New Roman"/>
                <a:ea typeface="Times New Roman"/>
                <a:cs typeface="Times New Roman"/>
                <a:sym typeface="Times New Roman"/>
              </a:rPr>
              <a:t> Recongnize hypokalemia, Normokalemia, hyperkalemia</a:t>
            </a:r>
            <a:endParaRPr b="0" i="0" sz="2400" u="none" cap="none" strike="noStrike">
              <a:solidFill>
                <a:schemeClr val="dk1"/>
              </a:solidFill>
              <a:latin typeface="Calibri"/>
              <a:ea typeface="Calibri"/>
              <a:cs typeface="Calibri"/>
              <a:sym typeface="Calibri"/>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6" name="Shape 266"/>
        <p:cNvGrpSpPr/>
        <p:nvPr/>
      </p:nvGrpSpPr>
      <p:grpSpPr>
        <a:xfrm>
          <a:off x="0" y="0"/>
          <a:ext cx="0" cy="0"/>
          <a:chOff x="0" y="0"/>
          <a:chExt cx="0" cy="0"/>
        </a:xfrm>
      </p:grpSpPr>
      <p:sp>
        <p:nvSpPr>
          <p:cNvPr id="267" name="Google Shape;267;p3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n-US"/>
              <a:t>Composition of body fluids</a:t>
            </a:r>
            <a:endParaRPr/>
          </a:p>
        </p:txBody>
      </p:sp>
      <p:sp>
        <p:nvSpPr>
          <p:cNvPr id="268" name="Google Shape;268;p34"/>
          <p:cNvSpPr txBox="1"/>
          <p:nvPr>
            <p:ph idx="1" type="body"/>
          </p:nvPr>
        </p:nvSpPr>
        <p:spPr>
          <a:xfrm>
            <a:off x="685800" y="2362200"/>
            <a:ext cx="3733800" cy="3724275"/>
          </a:xfrm>
          <a:prstGeom prst="rect">
            <a:avLst/>
          </a:prstGeom>
          <a:noFill/>
          <a:ln>
            <a:noFill/>
          </a:ln>
        </p:spPr>
        <p:txBody>
          <a:bodyPr anchorCtr="0" anchor="t" bIns="45700" lIns="91425" spcFirstLastPara="1" rIns="91425" wrap="square" tIns="45700">
            <a:normAutofit/>
          </a:bodyPr>
          <a:lstStyle/>
          <a:p>
            <a:pPr indent="-342900" lvl="0" marL="342900" rtl="0" algn="l">
              <a:lnSpc>
                <a:spcPct val="100000"/>
              </a:lnSpc>
              <a:spcBef>
                <a:spcPts val="0"/>
              </a:spcBef>
              <a:spcAft>
                <a:spcPts val="0"/>
              </a:spcAft>
              <a:buClr>
                <a:schemeClr val="dk1"/>
              </a:buClr>
              <a:buSzPts val="3200"/>
              <a:buChar char="•"/>
            </a:pPr>
            <a:r>
              <a:rPr lang="en-US"/>
              <a:t>Organic substances</a:t>
            </a:r>
            <a:endParaRPr/>
          </a:p>
          <a:p>
            <a:pPr indent="-228600" lvl="2" marL="1143000" rtl="0" algn="l">
              <a:lnSpc>
                <a:spcPct val="100000"/>
              </a:lnSpc>
              <a:spcBef>
                <a:spcPts val="480"/>
              </a:spcBef>
              <a:spcAft>
                <a:spcPts val="0"/>
              </a:spcAft>
              <a:buClr>
                <a:schemeClr val="dk1"/>
              </a:buClr>
              <a:buSzPts val="2400"/>
              <a:buChar char="•"/>
            </a:pPr>
            <a:r>
              <a:rPr lang="en-US"/>
              <a:t>Glucose</a:t>
            </a:r>
            <a:endParaRPr/>
          </a:p>
          <a:p>
            <a:pPr indent="-228600" lvl="2" marL="1143000" rtl="0" algn="l">
              <a:lnSpc>
                <a:spcPct val="100000"/>
              </a:lnSpc>
              <a:spcBef>
                <a:spcPts val="480"/>
              </a:spcBef>
              <a:spcAft>
                <a:spcPts val="0"/>
              </a:spcAft>
              <a:buClr>
                <a:schemeClr val="dk1"/>
              </a:buClr>
              <a:buSzPts val="2400"/>
              <a:buChar char="•"/>
            </a:pPr>
            <a:r>
              <a:rPr lang="en-US"/>
              <a:t>Amino acids</a:t>
            </a:r>
            <a:endParaRPr/>
          </a:p>
          <a:p>
            <a:pPr indent="-228600" lvl="2" marL="1143000" rtl="0" algn="l">
              <a:lnSpc>
                <a:spcPct val="100000"/>
              </a:lnSpc>
              <a:spcBef>
                <a:spcPts val="480"/>
              </a:spcBef>
              <a:spcAft>
                <a:spcPts val="0"/>
              </a:spcAft>
              <a:buClr>
                <a:schemeClr val="dk1"/>
              </a:buClr>
              <a:buSzPts val="2400"/>
              <a:buChar char="•"/>
            </a:pPr>
            <a:r>
              <a:rPr lang="en-US"/>
              <a:t>Fatty acids</a:t>
            </a:r>
            <a:endParaRPr/>
          </a:p>
          <a:p>
            <a:pPr indent="-228600" lvl="2" marL="1143000" rtl="0" algn="l">
              <a:lnSpc>
                <a:spcPct val="100000"/>
              </a:lnSpc>
              <a:spcBef>
                <a:spcPts val="480"/>
              </a:spcBef>
              <a:spcAft>
                <a:spcPts val="0"/>
              </a:spcAft>
              <a:buClr>
                <a:schemeClr val="dk1"/>
              </a:buClr>
              <a:buSzPts val="2400"/>
              <a:buChar char="•"/>
            </a:pPr>
            <a:r>
              <a:rPr lang="en-US"/>
              <a:t>Hormones</a:t>
            </a:r>
            <a:endParaRPr/>
          </a:p>
          <a:p>
            <a:pPr indent="-228600" lvl="2" marL="1143000" rtl="0" algn="l">
              <a:lnSpc>
                <a:spcPct val="100000"/>
              </a:lnSpc>
              <a:spcBef>
                <a:spcPts val="480"/>
              </a:spcBef>
              <a:spcAft>
                <a:spcPts val="0"/>
              </a:spcAft>
              <a:buClr>
                <a:schemeClr val="dk1"/>
              </a:buClr>
              <a:buSzPts val="2400"/>
              <a:buChar char="•"/>
            </a:pPr>
            <a:r>
              <a:rPr lang="en-US"/>
              <a:t>Enzymes</a:t>
            </a:r>
            <a:endParaRPr/>
          </a:p>
          <a:p>
            <a:pPr indent="-139700" lvl="0" marL="342900" rtl="0" algn="l">
              <a:lnSpc>
                <a:spcPct val="100000"/>
              </a:lnSpc>
              <a:spcBef>
                <a:spcPts val="640"/>
              </a:spcBef>
              <a:spcAft>
                <a:spcPts val="0"/>
              </a:spcAft>
              <a:buClr>
                <a:schemeClr val="dk1"/>
              </a:buClr>
              <a:buSzPts val="3200"/>
              <a:buNone/>
            </a:pPr>
            <a:r>
              <a:t/>
            </a:r>
            <a:endParaRPr/>
          </a:p>
        </p:txBody>
      </p:sp>
      <p:sp>
        <p:nvSpPr>
          <p:cNvPr id="269" name="Google Shape;269;p34"/>
          <p:cNvSpPr/>
          <p:nvPr/>
        </p:nvSpPr>
        <p:spPr>
          <a:xfrm>
            <a:off x="4572000" y="2371725"/>
            <a:ext cx="4191000" cy="3724275"/>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1"/>
              </a:buClr>
              <a:buSzPts val="2100"/>
              <a:buFont typeface="Noto Sans Symbols"/>
              <a:buChar char="●"/>
            </a:pPr>
            <a:r>
              <a:rPr b="0" i="0" lang="en-US" sz="2800" u="none" cap="none" strike="noStrike">
                <a:solidFill>
                  <a:schemeClr val="dk1"/>
                </a:solidFill>
                <a:latin typeface="Calibri"/>
                <a:ea typeface="Calibri"/>
                <a:cs typeface="Calibri"/>
                <a:sym typeface="Calibri"/>
              </a:rPr>
              <a:t>Inorganic substances</a:t>
            </a:r>
            <a:endParaRPr b="0" i="0" sz="1400" u="none" cap="none" strike="noStrike">
              <a:solidFill>
                <a:srgbClr val="000000"/>
              </a:solidFill>
              <a:latin typeface="Arial"/>
              <a:ea typeface="Arial"/>
              <a:cs typeface="Arial"/>
              <a:sym typeface="Arial"/>
            </a:endParaRPr>
          </a:p>
          <a:p>
            <a:pPr indent="-228600" lvl="2" marL="1143000" marR="0" rtl="0" algn="l">
              <a:lnSpc>
                <a:spcPct val="100000"/>
              </a:lnSpc>
              <a:spcBef>
                <a:spcPts val="400"/>
              </a:spcBef>
              <a:spcAft>
                <a:spcPts val="0"/>
              </a:spcAft>
              <a:buClr>
                <a:schemeClr val="dk1"/>
              </a:buClr>
              <a:buSzPts val="1500"/>
              <a:buFont typeface="Noto Sans Symbols"/>
              <a:buChar char="●"/>
            </a:pPr>
            <a:r>
              <a:rPr b="0" i="0" lang="en-US" sz="2000" u="none" cap="none" strike="noStrike">
                <a:solidFill>
                  <a:schemeClr val="dk1"/>
                </a:solidFill>
                <a:latin typeface="Calibri"/>
                <a:ea typeface="Calibri"/>
                <a:cs typeface="Calibri"/>
                <a:sym typeface="Calibri"/>
              </a:rPr>
              <a:t>Sodium</a:t>
            </a:r>
            <a:endParaRPr b="0" i="0" sz="1400" u="none" cap="none" strike="noStrike">
              <a:solidFill>
                <a:srgbClr val="000000"/>
              </a:solidFill>
              <a:latin typeface="Arial"/>
              <a:ea typeface="Arial"/>
              <a:cs typeface="Arial"/>
              <a:sym typeface="Arial"/>
            </a:endParaRPr>
          </a:p>
          <a:p>
            <a:pPr indent="-228600" lvl="2" marL="1143000" marR="0" rtl="0" algn="l">
              <a:lnSpc>
                <a:spcPct val="100000"/>
              </a:lnSpc>
              <a:spcBef>
                <a:spcPts val="400"/>
              </a:spcBef>
              <a:spcAft>
                <a:spcPts val="0"/>
              </a:spcAft>
              <a:buClr>
                <a:schemeClr val="dk1"/>
              </a:buClr>
              <a:buSzPts val="1500"/>
              <a:buFont typeface="Noto Sans Symbols"/>
              <a:buChar char="●"/>
            </a:pPr>
            <a:r>
              <a:rPr b="0" i="0" lang="en-US" sz="2000" u="none" cap="none" strike="noStrike">
                <a:solidFill>
                  <a:schemeClr val="dk1"/>
                </a:solidFill>
                <a:latin typeface="Calibri"/>
                <a:ea typeface="Calibri"/>
                <a:cs typeface="Calibri"/>
                <a:sym typeface="Calibri"/>
              </a:rPr>
              <a:t>Potassium</a:t>
            </a:r>
            <a:endParaRPr b="0" i="0" sz="1400" u="none" cap="none" strike="noStrike">
              <a:solidFill>
                <a:srgbClr val="000000"/>
              </a:solidFill>
              <a:latin typeface="Arial"/>
              <a:ea typeface="Arial"/>
              <a:cs typeface="Arial"/>
              <a:sym typeface="Arial"/>
            </a:endParaRPr>
          </a:p>
          <a:p>
            <a:pPr indent="-228600" lvl="2" marL="1143000" marR="0" rtl="0" algn="l">
              <a:lnSpc>
                <a:spcPct val="100000"/>
              </a:lnSpc>
              <a:spcBef>
                <a:spcPts val="400"/>
              </a:spcBef>
              <a:spcAft>
                <a:spcPts val="0"/>
              </a:spcAft>
              <a:buClr>
                <a:schemeClr val="dk1"/>
              </a:buClr>
              <a:buSzPts val="1500"/>
              <a:buFont typeface="Noto Sans Symbols"/>
              <a:buChar char="●"/>
            </a:pPr>
            <a:r>
              <a:rPr b="0" i="0" lang="en-US" sz="2000" u="none" cap="none" strike="noStrike">
                <a:solidFill>
                  <a:schemeClr val="dk1"/>
                </a:solidFill>
                <a:latin typeface="Calibri"/>
                <a:ea typeface="Calibri"/>
                <a:cs typeface="Calibri"/>
                <a:sym typeface="Calibri"/>
              </a:rPr>
              <a:t>Calcium</a:t>
            </a:r>
            <a:endParaRPr b="0" i="0" sz="1400" u="none" cap="none" strike="noStrike">
              <a:solidFill>
                <a:srgbClr val="000000"/>
              </a:solidFill>
              <a:latin typeface="Arial"/>
              <a:ea typeface="Arial"/>
              <a:cs typeface="Arial"/>
              <a:sym typeface="Arial"/>
            </a:endParaRPr>
          </a:p>
          <a:p>
            <a:pPr indent="-228600" lvl="2" marL="1143000" marR="0" rtl="0" algn="l">
              <a:lnSpc>
                <a:spcPct val="100000"/>
              </a:lnSpc>
              <a:spcBef>
                <a:spcPts val="400"/>
              </a:spcBef>
              <a:spcAft>
                <a:spcPts val="0"/>
              </a:spcAft>
              <a:buClr>
                <a:schemeClr val="dk1"/>
              </a:buClr>
              <a:buSzPts val="1500"/>
              <a:buFont typeface="Noto Sans Symbols"/>
              <a:buChar char="●"/>
            </a:pPr>
            <a:r>
              <a:rPr b="0" i="0" lang="en-US" sz="2000" u="none" cap="none" strike="noStrike">
                <a:solidFill>
                  <a:schemeClr val="dk1"/>
                </a:solidFill>
                <a:latin typeface="Calibri"/>
                <a:ea typeface="Calibri"/>
                <a:cs typeface="Calibri"/>
                <a:sym typeface="Calibri"/>
              </a:rPr>
              <a:t>Magnesium</a:t>
            </a:r>
            <a:endParaRPr b="0" i="0" sz="1400" u="none" cap="none" strike="noStrike">
              <a:solidFill>
                <a:srgbClr val="000000"/>
              </a:solidFill>
              <a:latin typeface="Arial"/>
              <a:ea typeface="Arial"/>
              <a:cs typeface="Arial"/>
              <a:sym typeface="Arial"/>
            </a:endParaRPr>
          </a:p>
          <a:p>
            <a:pPr indent="-228600" lvl="2" marL="1143000" marR="0" rtl="0" algn="l">
              <a:lnSpc>
                <a:spcPct val="100000"/>
              </a:lnSpc>
              <a:spcBef>
                <a:spcPts val="400"/>
              </a:spcBef>
              <a:spcAft>
                <a:spcPts val="0"/>
              </a:spcAft>
              <a:buClr>
                <a:schemeClr val="dk1"/>
              </a:buClr>
              <a:buSzPts val="1500"/>
              <a:buFont typeface="Noto Sans Symbols"/>
              <a:buChar char="●"/>
            </a:pPr>
            <a:r>
              <a:rPr b="0" i="0" lang="en-US" sz="2000" u="none" cap="none" strike="noStrike">
                <a:solidFill>
                  <a:schemeClr val="dk1"/>
                </a:solidFill>
                <a:latin typeface="Calibri"/>
                <a:ea typeface="Calibri"/>
                <a:cs typeface="Calibri"/>
                <a:sym typeface="Calibri"/>
              </a:rPr>
              <a:t>Chloride</a:t>
            </a:r>
            <a:endParaRPr b="0" i="0" sz="1400" u="none" cap="none" strike="noStrike">
              <a:solidFill>
                <a:srgbClr val="000000"/>
              </a:solidFill>
              <a:latin typeface="Arial"/>
              <a:ea typeface="Arial"/>
              <a:cs typeface="Arial"/>
              <a:sym typeface="Arial"/>
            </a:endParaRPr>
          </a:p>
          <a:p>
            <a:pPr indent="-228600" lvl="2" marL="1143000" marR="0" rtl="0" algn="l">
              <a:lnSpc>
                <a:spcPct val="100000"/>
              </a:lnSpc>
              <a:spcBef>
                <a:spcPts val="400"/>
              </a:spcBef>
              <a:spcAft>
                <a:spcPts val="0"/>
              </a:spcAft>
              <a:buClr>
                <a:schemeClr val="dk1"/>
              </a:buClr>
              <a:buSzPts val="1500"/>
              <a:buFont typeface="Noto Sans Symbols"/>
              <a:buChar char="●"/>
            </a:pPr>
            <a:r>
              <a:rPr b="0" i="0" lang="en-US" sz="2000" u="none" cap="none" strike="noStrike">
                <a:solidFill>
                  <a:schemeClr val="dk1"/>
                </a:solidFill>
                <a:latin typeface="Calibri"/>
                <a:ea typeface="Calibri"/>
                <a:cs typeface="Calibri"/>
                <a:sym typeface="Calibri"/>
              </a:rPr>
              <a:t>Phophate</a:t>
            </a:r>
            <a:endParaRPr b="0" i="0" sz="1400" u="none" cap="none" strike="noStrike">
              <a:solidFill>
                <a:srgbClr val="000000"/>
              </a:solidFill>
              <a:latin typeface="Arial"/>
              <a:ea typeface="Arial"/>
              <a:cs typeface="Arial"/>
              <a:sym typeface="Arial"/>
            </a:endParaRPr>
          </a:p>
          <a:p>
            <a:pPr indent="-228600" lvl="2" marL="1143000" marR="0" rtl="0" algn="l">
              <a:lnSpc>
                <a:spcPct val="100000"/>
              </a:lnSpc>
              <a:spcBef>
                <a:spcPts val="400"/>
              </a:spcBef>
              <a:spcAft>
                <a:spcPts val="0"/>
              </a:spcAft>
              <a:buClr>
                <a:schemeClr val="dk1"/>
              </a:buClr>
              <a:buSzPts val="1500"/>
              <a:buFont typeface="Noto Sans Symbols"/>
              <a:buChar char="●"/>
            </a:pPr>
            <a:r>
              <a:rPr b="0" i="0" lang="en-US" sz="2000" u="none" cap="none" strike="noStrike">
                <a:solidFill>
                  <a:schemeClr val="dk1"/>
                </a:solidFill>
                <a:latin typeface="Calibri"/>
                <a:ea typeface="Calibri"/>
                <a:cs typeface="Calibri"/>
                <a:sym typeface="Calibri"/>
              </a:rPr>
              <a:t>Sulphate</a:t>
            </a:r>
            <a:endParaRPr b="0" i="0" sz="1400" u="none" cap="none" strike="noStrike">
              <a:solidFill>
                <a:srgbClr val="000000"/>
              </a:solidFill>
              <a:latin typeface="Arial"/>
              <a:ea typeface="Arial"/>
              <a:cs typeface="Arial"/>
              <a:sym typeface="Arial"/>
            </a:endParaRPr>
          </a:p>
          <a:p>
            <a:pPr indent="-209550" lvl="0" marL="342900" marR="0" rtl="0" algn="l">
              <a:lnSpc>
                <a:spcPct val="100000"/>
              </a:lnSpc>
              <a:spcBef>
                <a:spcPts val="560"/>
              </a:spcBef>
              <a:spcAft>
                <a:spcPts val="0"/>
              </a:spcAft>
              <a:buClr>
                <a:schemeClr val="dk1"/>
              </a:buClr>
              <a:buSzPts val="2100"/>
              <a:buFont typeface="Noto Sans Symbols"/>
              <a:buNone/>
            </a:pPr>
            <a:r>
              <a:t/>
            </a:r>
            <a:endParaRPr b="0" i="0" sz="2800" u="none" cap="none" strike="noStrike">
              <a:solidFill>
                <a:schemeClr val="dk1"/>
              </a:solidFill>
              <a:latin typeface="Calibri"/>
              <a:ea typeface="Calibri"/>
              <a:cs typeface="Calibri"/>
              <a:sym typeface="Calibri"/>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3" name="Shape 273"/>
        <p:cNvGrpSpPr/>
        <p:nvPr/>
      </p:nvGrpSpPr>
      <p:grpSpPr>
        <a:xfrm>
          <a:off x="0" y="0"/>
          <a:ext cx="0" cy="0"/>
          <a:chOff x="0" y="0"/>
          <a:chExt cx="0" cy="0"/>
        </a:xfrm>
      </p:grpSpPr>
      <p:sp>
        <p:nvSpPr>
          <p:cNvPr id="274" name="Google Shape;274;p3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n-US"/>
              <a:t>CASE</a:t>
            </a:r>
            <a:endParaRPr/>
          </a:p>
        </p:txBody>
      </p:sp>
      <p:sp>
        <p:nvSpPr>
          <p:cNvPr id="275" name="Google Shape;275;p37"/>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fontScale="90000" lnSpcReduction="20000"/>
          </a:bodyPr>
          <a:lstStyle/>
          <a:p>
            <a:pPr indent="-342900" lvl="0" marL="342900" rtl="0" algn="l">
              <a:lnSpc>
                <a:spcPct val="100000"/>
              </a:lnSpc>
              <a:spcBef>
                <a:spcPts val="0"/>
              </a:spcBef>
              <a:spcAft>
                <a:spcPts val="0"/>
              </a:spcAft>
              <a:buClr>
                <a:schemeClr val="dk1"/>
              </a:buClr>
              <a:buSzPct val="100000"/>
              <a:buChar char="•"/>
            </a:pPr>
            <a:r>
              <a:rPr lang="en-US"/>
              <a:t>30 year old male presented in ER with history of diarrhea and vomiting for last 24 hours. He gave history of passing more than twenty lose watery stools and 3- 4 episodes of vomiting . Attending doctor examined the patient and found pulse of 110/min, BP 90/50 mm/Hg, and dry tongue. He immediately started him on intravenous fluid 0.9/ sodium chloride and send his blood test. Electrolyte report of patient was received after 2 hours which showed sodium 135meq/l, Potassium 3.0meq/l, Chloride 105meq/l, and bicarbonate 22meq/l.</a:t>
            </a:r>
            <a:endParaRPr/>
          </a:p>
          <a:p>
            <a:pPr indent="-160020" lvl="0" marL="342900" rtl="0" algn="l">
              <a:lnSpc>
                <a:spcPct val="100000"/>
              </a:lnSpc>
              <a:spcBef>
                <a:spcPts val="576"/>
              </a:spcBef>
              <a:spcAft>
                <a:spcPts val="0"/>
              </a:spcAft>
              <a:buClr>
                <a:schemeClr val="dk1"/>
              </a:buClr>
              <a:buSzPct val="100000"/>
              <a:buNone/>
            </a:pPr>
            <a:r>
              <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9" name="Shape 279"/>
        <p:cNvGrpSpPr/>
        <p:nvPr/>
      </p:nvGrpSpPr>
      <p:grpSpPr>
        <a:xfrm>
          <a:off x="0" y="0"/>
          <a:ext cx="0" cy="0"/>
          <a:chOff x="0" y="0"/>
          <a:chExt cx="0" cy="0"/>
        </a:xfrm>
      </p:grpSpPr>
      <p:sp>
        <p:nvSpPr>
          <p:cNvPr id="280" name="Google Shape;280;p3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t/>
            </a:r>
            <a:endParaRPr/>
          </a:p>
        </p:txBody>
      </p:sp>
      <p:sp>
        <p:nvSpPr>
          <p:cNvPr id="281" name="Google Shape;281;p38"/>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lnSpc>
                <a:spcPct val="100000"/>
              </a:lnSpc>
              <a:spcBef>
                <a:spcPts val="0"/>
              </a:spcBef>
              <a:spcAft>
                <a:spcPts val="0"/>
              </a:spcAft>
              <a:buClr>
                <a:schemeClr val="dk1"/>
              </a:buClr>
              <a:buSzPts val="3200"/>
              <a:buChar char="•"/>
            </a:pPr>
            <a:r>
              <a:rPr lang="en-US"/>
              <a:t>Q1. What is the normal distribution of fluid in the body or which fluid is lost in this patient?</a:t>
            </a:r>
            <a:endParaRPr/>
          </a:p>
          <a:p>
            <a:pPr indent="-139700" lvl="0" marL="342900" rtl="0" algn="l">
              <a:lnSpc>
                <a:spcPct val="100000"/>
              </a:lnSpc>
              <a:spcBef>
                <a:spcPts val="640"/>
              </a:spcBef>
              <a:spcAft>
                <a:spcPts val="0"/>
              </a:spcAft>
              <a:buClr>
                <a:schemeClr val="dk1"/>
              </a:buClr>
              <a:buSzPts val="3200"/>
              <a:buNone/>
            </a:pPr>
            <a:r>
              <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5" name="Shape 285"/>
        <p:cNvGrpSpPr/>
        <p:nvPr/>
      </p:nvGrpSpPr>
      <p:grpSpPr>
        <a:xfrm>
          <a:off x="0" y="0"/>
          <a:ext cx="0" cy="0"/>
          <a:chOff x="0" y="0"/>
          <a:chExt cx="0" cy="0"/>
        </a:xfrm>
      </p:grpSpPr>
      <p:sp>
        <p:nvSpPr>
          <p:cNvPr id="286" name="Google Shape;286;p3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t/>
            </a:r>
            <a:endParaRPr/>
          </a:p>
        </p:txBody>
      </p:sp>
      <p:pic>
        <p:nvPicPr>
          <p:cNvPr descr="Distribution of total body water (TBW) within the body ..." id="287" name="Google Shape;287;p39"/>
          <p:cNvPicPr preferRelativeResize="0"/>
          <p:nvPr>
            <p:ph idx="1" type="body"/>
          </p:nvPr>
        </p:nvPicPr>
        <p:blipFill rotWithShape="1">
          <a:blip r:embed="rId3">
            <a:alphaModFix/>
          </a:blip>
          <a:srcRect b="0" l="0" r="0" t="0"/>
          <a:stretch/>
        </p:blipFill>
        <p:spPr>
          <a:xfrm>
            <a:off x="304800" y="609600"/>
            <a:ext cx="8499164" cy="5562600"/>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1" name="Shape 291"/>
        <p:cNvGrpSpPr/>
        <p:nvPr/>
      </p:nvGrpSpPr>
      <p:grpSpPr>
        <a:xfrm>
          <a:off x="0" y="0"/>
          <a:ext cx="0" cy="0"/>
          <a:chOff x="0" y="0"/>
          <a:chExt cx="0" cy="0"/>
        </a:xfrm>
      </p:grpSpPr>
      <p:sp>
        <p:nvSpPr>
          <p:cNvPr id="292" name="Google Shape;292;p4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t/>
            </a:r>
            <a:endParaRPr/>
          </a:p>
        </p:txBody>
      </p:sp>
      <p:sp>
        <p:nvSpPr>
          <p:cNvPr id="293" name="Google Shape;293;p40"/>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lnSpc>
                <a:spcPct val="100000"/>
              </a:lnSpc>
              <a:spcBef>
                <a:spcPts val="0"/>
              </a:spcBef>
              <a:spcAft>
                <a:spcPts val="0"/>
              </a:spcAft>
              <a:buClr>
                <a:schemeClr val="dk1"/>
              </a:buClr>
              <a:buSzPts val="3200"/>
              <a:buChar char="•"/>
            </a:pPr>
            <a:r>
              <a:rPr lang="en-US"/>
              <a:t>What is the normal level of potassium in the body fluid? Is this patient having normal potassium levels?</a:t>
            </a:r>
            <a:endParaRPr/>
          </a:p>
          <a:p>
            <a:pPr indent="-139700" lvl="0" marL="342900" rtl="0" algn="l">
              <a:lnSpc>
                <a:spcPct val="100000"/>
              </a:lnSpc>
              <a:spcBef>
                <a:spcPts val="640"/>
              </a:spcBef>
              <a:spcAft>
                <a:spcPts val="0"/>
              </a:spcAft>
              <a:buClr>
                <a:schemeClr val="dk1"/>
              </a:buClr>
              <a:buSzPts val="3200"/>
              <a:buNone/>
            </a:pPr>
            <a:r>
              <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 name="Shape 297"/>
        <p:cNvGrpSpPr/>
        <p:nvPr/>
      </p:nvGrpSpPr>
      <p:grpSpPr>
        <a:xfrm>
          <a:off x="0" y="0"/>
          <a:ext cx="0" cy="0"/>
          <a:chOff x="0" y="0"/>
          <a:chExt cx="0" cy="0"/>
        </a:xfrm>
      </p:grpSpPr>
      <p:sp>
        <p:nvSpPr>
          <p:cNvPr id="298" name="Google Shape;298;p4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t/>
            </a:r>
            <a:endParaRPr/>
          </a:p>
        </p:txBody>
      </p:sp>
      <p:sp>
        <p:nvSpPr>
          <p:cNvPr id="299" name="Google Shape;299;p4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lnSpc>
                <a:spcPct val="100000"/>
              </a:lnSpc>
              <a:spcBef>
                <a:spcPts val="0"/>
              </a:spcBef>
              <a:spcAft>
                <a:spcPts val="0"/>
              </a:spcAft>
              <a:buClr>
                <a:schemeClr val="dk1"/>
              </a:buClr>
              <a:buSzPts val="3200"/>
              <a:buChar char="•"/>
            </a:pPr>
            <a:r>
              <a:rPr lang="en-US"/>
              <a:t>3.5 to 5.0 mEq/liter</a:t>
            </a:r>
            <a:endParaRPr/>
          </a:p>
          <a:p>
            <a:pPr indent="-342900" lvl="0" marL="342900" rtl="0" algn="l">
              <a:lnSpc>
                <a:spcPct val="100000"/>
              </a:lnSpc>
              <a:spcBef>
                <a:spcPts val="640"/>
              </a:spcBef>
              <a:spcAft>
                <a:spcPts val="0"/>
              </a:spcAft>
              <a:buClr>
                <a:schemeClr val="dk1"/>
              </a:buClr>
              <a:buSzPts val="3200"/>
              <a:buChar char="•"/>
            </a:pPr>
            <a:r>
              <a:rPr lang="en-US"/>
              <a:t>no</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3" name="Shape 303"/>
        <p:cNvGrpSpPr/>
        <p:nvPr/>
      </p:nvGrpSpPr>
      <p:grpSpPr>
        <a:xfrm>
          <a:off x="0" y="0"/>
          <a:ext cx="0" cy="0"/>
          <a:chOff x="0" y="0"/>
          <a:chExt cx="0" cy="0"/>
        </a:xfrm>
      </p:grpSpPr>
      <p:sp>
        <p:nvSpPr>
          <p:cNvPr id="304" name="Google Shape;304;p4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t/>
            </a:r>
            <a:endParaRPr/>
          </a:p>
        </p:txBody>
      </p:sp>
      <p:sp>
        <p:nvSpPr>
          <p:cNvPr id="305" name="Google Shape;305;p42"/>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lnSpc>
                <a:spcPct val="100000"/>
              </a:lnSpc>
              <a:spcBef>
                <a:spcPts val="0"/>
              </a:spcBef>
              <a:spcAft>
                <a:spcPts val="0"/>
              </a:spcAft>
              <a:buClr>
                <a:schemeClr val="dk1"/>
              </a:buClr>
              <a:buSzPts val="3200"/>
              <a:buChar char="•"/>
            </a:pPr>
            <a:r>
              <a:rPr lang="en-US"/>
              <a:t>What is the normal osmolarity of extra cellular fluid and which solution appropriate to replace this fluid?</a:t>
            </a:r>
            <a:endParaRPr/>
          </a:p>
          <a:p>
            <a:pPr indent="-139700" lvl="0" marL="342900" rtl="0" algn="l">
              <a:lnSpc>
                <a:spcPct val="100000"/>
              </a:lnSpc>
              <a:spcBef>
                <a:spcPts val="640"/>
              </a:spcBef>
              <a:spcAft>
                <a:spcPts val="0"/>
              </a:spcAft>
              <a:buClr>
                <a:schemeClr val="dk1"/>
              </a:buClr>
              <a:buSzPts val="3200"/>
              <a:buNone/>
            </a:pPr>
            <a:r>
              <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9" name="Shape 309"/>
        <p:cNvGrpSpPr/>
        <p:nvPr/>
      </p:nvGrpSpPr>
      <p:grpSpPr>
        <a:xfrm>
          <a:off x="0" y="0"/>
          <a:ext cx="0" cy="0"/>
          <a:chOff x="0" y="0"/>
          <a:chExt cx="0" cy="0"/>
        </a:xfrm>
      </p:grpSpPr>
      <p:sp>
        <p:nvSpPr>
          <p:cNvPr id="310" name="Google Shape;310;p4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t/>
            </a:r>
            <a:endParaRPr/>
          </a:p>
        </p:txBody>
      </p:sp>
      <p:sp>
        <p:nvSpPr>
          <p:cNvPr id="311" name="Google Shape;311;p43"/>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lnSpc>
                <a:spcPct val="100000"/>
              </a:lnSpc>
              <a:spcBef>
                <a:spcPts val="0"/>
              </a:spcBef>
              <a:spcAft>
                <a:spcPts val="0"/>
              </a:spcAft>
              <a:buClr>
                <a:srgbClr val="000000"/>
              </a:buClr>
              <a:buSzPts val="3200"/>
              <a:buChar char="•"/>
            </a:pPr>
            <a:r>
              <a:rPr b="0" i="0" lang="en-US" u="none" strike="noStrike">
                <a:solidFill>
                  <a:srgbClr val="000000"/>
                </a:solidFill>
                <a:latin typeface="Arial"/>
                <a:ea typeface="Arial"/>
                <a:cs typeface="Arial"/>
                <a:sym typeface="Arial"/>
              </a:rPr>
              <a:t>The </a:t>
            </a:r>
            <a:r>
              <a:rPr b="1" i="0" lang="en-US" u="none" strike="noStrike">
                <a:solidFill>
                  <a:srgbClr val="000000"/>
                </a:solidFill>
              </a:rPr>
              <a:t>normal osmolarity of extracellular fluid (ECF)</a:t>
            </a:r>
            <a:r>
              <a:rPr b="0" i="0" lang="en-US" u="none" strike="noStrike">
                <a:solidFill>
                  <a:srgbClr val="000000"/>
                </a:solidFill>
                <a:latin typeface="Arial"/>
                <a:ea typeface="Arial"/>
                <a:cs typeface="Arial"/>
                <a:sym typeface="Arial"/>
              </a:rPr>
              <a:t> is </a:t>
            </a:r>
            <a:r>
              <a:rPr b="1" i="0" lang="en-US" u="none" strike="noStrike">
                <a:solidFill>
                  <a:srgbClr val="000000"/>
                </a:solidFill>
              </a:rPr>
              <a:t>275–295 mOsm/kg</a:t>
            </a:r>
            <a:endParaRPr b="1"/>
          </a:p>
          <a:p>
            <a:pPr indent="-342900" lvl="0" marL="342900" rtl="0" algn="l">
              <a:lnSpc>
                <a:spcPct val="100000"/>
              </a:lnSpc>
              <a:spcBef>
                <a:spcPts val="640"/>
              </a:spcBef>
              <a:spcAft>
                <a:spcPts val="0"/>
              </a:spcAft>
              <a:buClr>
                <a:schemeClr val="dk1"/>
              </a:buClr>
              <a:buSzPts val="3200"/>
              <a:buChar char="•"/>
            </a:pPr>
            <a:r>
              <a:rPr b="1" lang="en-US"/>
              <a:t>Ringer’s Lactate</a:t>
            </a:r>
            <a:r>
              <a:rPr lang="en-US"/>
              <a:t> is preferred as it contains </a:t>
            </a:r>
            <a:r>
              <a:rPr b="1" lang="en-US"/>
              <a:t>potassium (K⁺), sodium (Na⁺), and lactate</a:t>
            </a:r>
            <a:r>
              <a:rPr lang="en-US"/>
              <a:t> (which helps correct acidosis).</a:t>
            </a:r>
            <a:br>
              <a:rPr lang="en-US"/>
            </a:br>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5" name="Shape 315"/>
        <p:cNvGrpSpPr/>
        <p:nvPr/>
      </p:nvGrpSpPr>
      <p:grpSpPr>
        <a:xfrm>
          <a:off x="0" y="0"/>
          <a:ext cx="0" cy="0"/>
          <a:chOff x="0" y="0"/>
          <a:chExt cx="0" cy="0"/>
        </a:xfrm>
      </p:grpSpPr>
      <p:sp>
        <p:nvSpPr>
          <p:cNvPr id="316" name="Google Shape;316;p4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n-US"/>
              <a:t>CASE 3</a:t>
            </a:r>
            <a:endParaRPr/>
          </a:p>
        </p:txBody>
      </p:sp>
      <p:sp>
        <p:nvSpPr>
          <p:cNvPr id="317" name="Google Shape;317;p4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fontScale="90000" lnSpcReduction="10000"/>
          </a:bodyPr>
          <a:lstStyle/>
          <a:p>
            <a:pPr indent="-342900" lvl="0" marL="342900" rtl="0" algn="l">
              <a:lnSpc>
                <a:spcPct val="100000"/>
              </a:lnSpc>
              <a:spcBef>
                <a:spcPts val="0"/>
              </a:spcBef>
              <a:spcAft>
                <a:spcPts val="0"/>
              </a:spcAft>
              <a:buClr>
                <a:schemeClr val="dk1"/>
              </a:buClr>
              <a:buSzPct val="100000"/>
              <a:buChar char="•"/>
            </a:pPr>
            <a:r>
              <a:rPr lang="en-US"/>
              <a:t>Elderly lady of 70 years old ,not taking by mouth diet and fluid for last few weeks, was brought in ER room with the history of drowsiness since last night. Attending doctor sent her serum electrolytes. Started 5% dextrose water solution intravenously. Report of electrolytes shows serum sodium 116 meq/l, potassium 3.8 meq/l  Cl  106meq/l bicarbonate 24meq/l. Immediately after receiving the report the attending doctor stopped her I/V dextrose solution and called senior doctor for guidance.</a:t>
            </a:r>
            <a:endParaRPr/>
          </a:p>
          <a:p>
            <a:pPr indent="-160020" lvl="0" marL="342900" rtl="0" algn="l">
              <a:lnSpc>
                <a:spcPct val="100000"/>
              </a:lnSpc>
              <a:spcBef>
                <a:spcPts val="576"/>
              </a:spcBef>
              <a:spcAft>
                <a:spcPts val="0"/>
              </a:spcAft>
              <a:buClr>
                <a:schemeClr val="dk1"/>
              </a:buClr>
              <a:buSzPct val="100000"/>
              <a:buNone/>
            </a:pPr>
            <a:r>
              <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1" name="Shape 321"/>
        <p:cNvGrpSpPr/>
        <p:nvPr/>
      </p:nvGrpSpPr>
      <p:grpSpPr>
        <a:xfrm>
          <a:off x="0" y="0"/>
          <a:ext cx="0" cy="0"/>
          <a:chOff x="0" y="0"/>
          <a:chExt cx="0" cy="0"/>
        </a:xfrm>
      </p:grpSpPr>
      <p:sp>
        <p:nvSpPr>
          <p:cNvPr id="322" name="Google Shape;322;p4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t/>
            </a:r>
            <a:endParaRPr/>
          </a:p>
        </p:txBody>
      </p:sp>
      <p:sp>
        <p:nvSpPr>
          <p:cNvPr id="323" name="Google Shape;323;p45"/>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lnSpcReduction="10000"/>
          </a:bodyPr>
          <a:lstStyle/>
          <a:p>
            <a:pPr indent="-342900" lvl="0" marL="342900" rtl="0" algn="l">
              <a:lnSpc>
                <a:spcPct val="100000"/>
              </a:lnSpc>
              <a:spcBef>
                <a:spcPts val="0"/>
              </a:spcBef>
              <a:spcAft>
                <a:spcPts val="0"/>
              </a:spcAft>
              <a:buClr>
                <a:schemeClr val="dk1"/>
              </a:buClr>
              <a:buSzPts val="3200"/>
              <a:buChar char="•"/>
            </a:pPr>
            <a:r>
              <a:rPr lang="en-US"/>
              <a:t>What is wrong with the Electrolyte report?</a:t>
            </a:r>
            <a:endParaRPr/>
          </a:p>
          <a:p>
            <a:pPr indent="-139700" lvl="0" marL="342900" rtl="0" algn="l">
              <a:lnSpc>
                <a:spcPct val="100000"/>
              </a:lnSpc>
              <a:spcBef>
                <a:spcPts val="640"/>
              </a:spcBef>
              <a:spcAft>
                <a:spcPts val="0"/>
              </a:spcAft>
              <a:buClr>
                <a:schemeClr val="dk1"/>
              </a:buClr>
              <a:buSzPts val="3200"/>
              <a:buNone/>
            </a:pPr>
            <a:r>
              <a:t/>
            </a:r>
            <a:endParaRPr/>
          </a:p>
          <a:p>
            <a:pPr indent="-342900" lvl="0" marL="342900" rtl="0" algn="l">
              <a:lnSpc>
                <a:spcPct val="100000"/>
              </a:lnSpc>
              <a:spcBef>
                <a:spcPts val="640"/>
              </a:spcBef>
              <a:spcAft>
                <a:spcPts val="0"/>
              </a:spcAft>
              <a:buClr>
                <a:schemeClr val="dk1"/>
              </a:buClr>
              <a:buSzPts val="3200"/>
              <a:buChar char="•"/>
            </a:pPr>
            <a:r>
              <a:rPr lang="en-US"/>
              <a:t>SERUM ELECTROLYTE REPORT</a:t>
            </a:r>
            <a:endParaRPr/>
          </a:p>
          <a:p>
            <a:pPr indent="-342900" lvl="0" marL="342900" rtl="0" algn="l">
              <a:lnSpc>
                <a:spcPct val="100000"/>
              </a:lnSpc>
              <a:spcBef>
                <a:spcPts val="640"/>
              </a:spcBef>
              <a:spcAft>
                <a:spcPts val="0"/>
              </a:spcAft>
              <a:buClr>
                <a:schemeClr val="dk1"/>
              </a:buClr>
              <a:buSzPts val="3200"/>
              <a:buChar char="•"/>
            </a:pPr>
            <a:r>
              <a:rPr lang="en-US"/>
              <a:t> Sodium 116 mEq/l</a:t>
            </a:r>
            <a:endParaRPr/>
          </a:p>
          <a:p>
            <a:pPr indent="-342900" lvl="0" marL="342900" rtl="0" algn="l">
              <a:lnSpc>
                <a:spcPct val="100000"/>
              </a:lnSpc>
              <a:spcBef>
                <a:spcPts val="640"/>
              </a:spcBef>
              <a:spcAft>
                <a:spcPts val="0"/>
              </a:spcAft>
              <a:buClr>
                <a:schemeClr val="dk1"/>
              </a:buClr>
              <a:buSzPts val="3200"/>
              <a:buChar char="•"/>
            </a:pPr>
            <a:r>
              <a:rPr lang="en-US"/>
              <a:t> Potassium 3.8 mEq/l </a:t>
            </a:r>
            <a:endParaRPr/>
          </a:p>
          <a:p>
            <a:pPr indent="-342900" lvl="0" marL="342900" rtl="0" algn="l">
              <a:lnSpc>
                <a:spcPct val="100000"/>
              </a:lnSpc>
              <a:spcBef>
                <a:spcPts val="640"/>
              </a:spcBef>
              <a:spcAft>
                <a:spcPts val="0"/>
              </a:spcAft>
              <a:buClr>
                <a:schemeClr val="dk1"/>
              </a:buClr>
              <a:buSzPts val="3200"/>
              <a:buChar char="•"/>
            </a:pPr>
            <a:r>
              <a:rPr lang="en-US"/>
              <a:t> Cl  106mEq/l </a:t>
            </a:r>
            <a:endParaRPr/>
          </a:p>
          <a:p>
            <a:pPr indent="-342900" lvl="0" marL="342900" rtl="0" algn="l">
              <a:lnSpc>
                <a:spcPct val="100000"/>
              </a:lnSpc>
              <a:spcBef>
                <a:spcPts val="640"/>
              </a:spcBef>
              <a:spcAft>
                <a:spcPts val="0"/>
              </a:spcAft>
              <a:buClr>
                <a:schemeClr val="dk1"/>
              </a:buClr>
              <a:buSzPts val="3200"/>
              <a:buChar char="•"/>
            </a:pPr>
            <a:r>
              <a:rPr lang="en-US"/>
              <a:t>Bicarbonate 24mEq/l </a:t>
            </a:r>
            <a:br>
              <a:rPr lang="en-US"/>
            </a:br>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7" name="Shape 327"/>
        <p:cNvGrpSpPr/>
        <p:nvPr/>
      </p:nvGrpSpPr>
      <p:grpSpPr>
        <a:xfrm>
          <a:off x="0" y="0"/>
          <a:ext cx="0" cy="0"/>
          <a:chOff x="0" y="0"/>
          <a:chExt cx="0" cy="0"/>
        </a:xfrm>
      </p:grpSpPr>
      <p:sp>
        <p:nvSpPr>
          <p:cNvPr id="328" name="Google Shape;328;p4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t/>
            </a:r>
            <a:endParaRPr/>
          </a:p>
        </p:txBody>
      </p:sp>
      <p:sp>
        <p:nvSpPr>
          <p:cNvPr id="329" name="Google Shape;329;p46"/>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lnSpc>
                <a:spcPct val="100000"/>
              </a:lnSpc>
              <a:spcBef>
                <a:spcPts val="0"/>
              </a:spcBef>
              <a:spcAft>
                <a:spcPts val="0"/>
              </a:spcAft>
              <a:buClr>
                <a:schemeClr val="dk1"/>
              </a:buClr>
              <a:buSzPts val="3200"/>
              <a:buChar char="•"/>
            </a:pPr>
            <a:r>
              <a:rPr lang="en-US"/>
              <a:t>NORMAL ADULT LABORATORY VALUES</a:t>
            </a:r>
            <a:endParaRPr/>
          </a:p>
          <a:p>
            <a:pPr indent="-342900" lvl="0" marL="342900" rtl="0" algn="l">
              <a:lnSpc>
                <a:spcPct val="100000"/>
              </a:lnSpc>
              <a:spcBef>
                <a:spcPts val="640"/>
              </a:spcBef>
              <a:spcAft>
                <a:spcPts val="0"/>
              </a:spcAft>
              <a:buClr>
                <a:schemeClr val="dk1"/>
              </a:buClr>
              <a:buSzPts val="3200"/>
              <a:buChar char="•"/>
            </a:pPr>
            <a:r>
              <a:rPr lang="en-US"/>
              <a:t>Electrolytes, serum</a:t>
            </a:r>
            <a:endParaRPr/>
          </a:p>
          <a:p>
            <a:pPr indent="-342900" lvl="0" marL="342900" rtl="0" algn="l">
              <a:lnSpc>
                <a:spcPct val="100000"/>
              </a:lnSpc>
              <a:spcBef>
                <a:spcPts val="640"/>
              </a:spcBef>
              <a:spcAft>
                <a:spcPts val="0"/>
              </a:spcAft>
              <a:buClr>
                <a:schemeClr val="dk1"/>
              </a:buClr>
              <a:buSzPts val="3200"/>
              <a:buChar char="•"/>
            </a:pPr>
            <a:r>
              <a:rPr lang="en-US"/>
              <a:t>Sodium	136-146 mEq/L </a:t>
            </a:r>
            <a:endParaRPr/>
          </a:p>
          <a:p>
            <a:pPr indent="-342900" lvl="0" marL="342900" rtl="0" algn="l">
              <a:lnSpc>
                <a:spcPct val="100000"/>
              </a:lnSpc>
              <a:spcBef>
                <a:spcPts val="640"/>
              </a:spcBef>
              <a:spcAft>
                <a:spcPts val="0"/>
              </a:spcAft>
              <a:buClr>
                <a:schemeClr val="dk1"/>
              </a:buClr>
              <a:buSzPts val="3200"/>
              <a:buChar char="•"/>
            </a:pPr>
            <a:r>
              <a:rPr lang="en-US"/>
              <a:t>Chloride	96-106 mmol/L</a:t>
            </a:r>
            <a:endParaRPr/>
          </a:p>
          <a:p>
            <a:pPr indent="-342900" lvl="0" marL="342900" rtl="0" algn="l">
              <a:lnSpc>
                <a:spcPct val="100000"/>
              </a:lnSpc>
              <a:spcBef>
                <a:spcPts val="640"/>
              </a:spcBef>
              <a:spcAft>
                <a:spcPts val="0"/>
              </a:spcAft>
              <a:buClr>
                <a:schemeClr val="dk1"/>
              </a:buClr>
              <a:buSzPts val="3200"/>
              <a:buChar char="•"/>
            </a:pPr>
            <a:r>
              <a:rPr lang="en-US"/>
              <a:t>Potassium	3.5-4.5 mEq/L </a:t>
            </a:r>
            <a:endParaRPr/>
          </a:p>
          <a:p>
            <a:pPr indent="-342900" lvl="0" marL="342900" rtl="0" algn="l">
              <a:lnSpc>
                <a:spcPct val="100000"/>
              </a:lnSpc>
              <a:spcBef>
                <a:spcPts val="640"/>
              </a:spcBef>
              <a:spcAft>
                <a:spcPts val="0"/>
              </a:spcAft>
              <a:buClr>
                <a:schemeClr val="dk1"/>
              </a:buClr>
              <a:buSzPts val="3200"/>
              <a:buChar char="•"/>
            </a:pPr>
            <a:r>
              <a:rPr lang="en-US"/>
              <a:t>Bicarbonate     23-28  mEq/L</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3" name="Shape 333"/>
        <p:cNvGrpSpPr/>
        <p:nvPr/>
      </p:nvGrpSpPr>
      <p:grpSpPr>
        <a:xfrm>
          <a:off x="0" y="0"/>
          <a:ext cx="0" cy="0"/>
          <a:chOff x="0" y="0"/>
          <a:chExt cx="0" cy="0"/>
        </a:xfrm>
      </p:grpSpPr>
      <p:sp>
        <p:nvSpPr>
          <p:cNvPr id="334" name="Google Shape;334;p4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t/>
            </a:r>
            <a:endParaRPr/>
          </a:p>
        </p:txBody>
      </p:sp>
      <p:sp>
        <p:nvSpPr>
          <p:cNvPr id="335" name="Google Shape;335;p47"/>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lnSpc>
                <a:spcPct val="100000"/>
              </a:lnSpc>
              <a:spcBef>
                <a:spcPts val="0"/>
              </a:spcBef>
              <a:spcAft>
                <a:spcPts val="0"/>
              </a:spcAft>
              <a:buClr>
                <a:schemeClr val="dk1"/>
              </a:buClr>
              <a:buSzPts val="3200"/>
              <a:buChar char="•"/>
            </a:pPr>
            <a:r>
              <a:rPr lang="en-US"/>
              <a:t>Q2.Why the doctor stopped I/V dextrose solution?</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9" name="Shape 339"/>
        <p:cNvGrpSpPr/>
        <p:nvPr/>
      </p:nvGrpSpPr>
      <p:grpSpPr>
        <a:xfrm>
          <a:off x="0" y="0"/>
          <a:ext cx="0" cy="0"/>
          <a:chOff x="0" y="0"/>
          <a:chExt cx="0" cy="0"/>
        </a:xfrm>
      </p:grpSpPr>
      <p:sp>
        <p:nvSpPr>
          <p:cNvPr id="340" name="Google Shape;340;p4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t/>
            </a:r>
            <a:endParaRPr/>
          </a:p>
        </p:txBody>
      </p:sp>
      <p:sp>
        <p:nvSpPr>
          <p:cNvPr id="341" name="Google Shape;341;p48"/>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lnSpcReduction="10000"/>
          </a:bodyPr>
          <a:lstStyle/>
          <a:p>
            <a:pPr indent="-342900" lvl="0" marL="342900" rtl="0" algn="l">
              <a:lnSpc>
                <a:spcPct val="100000"/>
              </a:lnSpc>
              <a:spcBef>
                <a:spcPts val="0"/>
              </a:spcBef>
              <a:spcAft>
                <a:spcPts val="0"/>
              </a:spcAft>
              <a:buClr>
                <a:schemeClr val="dk1"/>
              </a:buClr>
              <a:buSzPts val="3200"/>
              <a:buChar char="•"/>
            </a:pPr>
            <a:r>
              <a:rPr b="1" lang="en-US"/>
              <a:t>Dextrose Water is Hypotonic</a:t>
            </a:r>
            <a:r>
              <a:rPr lang="en-US"/>
              <a:t> – It dilutes plasma sodium further, worsening hyponatremia.</a:t>
            </a:r>
            <a:endParaRPr/>
          </a:p>
          <a:p>
            <a:pPr indent="-342900" lvl="0" marL="342900" rtl="0" algn="l">
              <a:lnSpc>
                <a:spcPct val="100000"/>
              </a:lnSpc>
              <a:spcBef>
                <a:spcPts val="640"/>
              </a:spcBef>
              <a:spcAft>
                <a:spcPts val="0"/>
              </a:spcAft>
              <a:buClr>
                <a:schemeClr val="dk1"/>
              </a:buClr>
              <a:buSzPts val="3200"/>
              <a:buChar char="•"/>
            </a:pPr>
            <a:r>
              <a:rPr b="1" lang="en-US"/>
              <a:t>Risk of Cerebral Edema</a:t>
            </a:r>
            <a:r>
              <a:rPr lang="en-US"/>
              <a:t> – Rapid worsening of hyponatremia can lead to brain swelling, causing seizures, coma, or even death.</a:t>
            </a:r>
            <a:endParaRPr/>
          </a:p>
          <a:p>
            <a:pPr indent="-342900" lvl="0" marL="342900" rtl="0" algn="l">
              <a:lnSpc>
                <a:spcPct val="100000"/>
              </a:lnSpc>
              <a:spcBef>
                <a:spcPts val="640"/>
              </a:spcBef>
              <a:spcAft>
                <a:spcPts val="0"/>
              </a:spcAft>
              <a:buClr>
                <a:schemeClr val="dk1"/>
              </a:buClr>
              <a:buSzPts val="3200"/>
              <a:buChar char="•"/>
            </a:pPr>
            <a:r>
              <a:rPr b="1" lang="en-US"/>
              <a:t>Osmotic Shift</a:t>
            </a:r>
            <a:r>
              <a:rPr lang="en-US"/>
              <a:t> – Dextrose metabolism leaves free water, which enters cells and aggravates sodium dilution.</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5" name="Shape 345"/>
        <p:cNvGrpSpPr/>
        <p:nvPr/>
      </p:nvGrpSpPr>
      <p:grpSpPr>
        <a:xfrm>
          <a:off x="0" y="0"/>
          <a:ext cx="0" cy="0"/>
          <a:chOff x="0" y="0"/>
          <a:chExt cx="0" cy="0"/>
        </a:xfrm>
      </p:grpSpPr>
      <p:sp>
        <p:nvSpPr>
          <p:cNvPr id="346" name="Google Shape;346;p4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t/>
            </a:r>
            <a:endParaRPr/>
          </a:p>
        </p:txBody>
      </p:sp>
      <p:sp>
        <p:nvSpPr>
          <p:cNvPr id="347" name="Google Shape;347;p49"/>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lnSpc>
                <a:spcPct val="100000"/>
              </a:lnSpc>
              <a:spcBef>
                <a:spcPts val="0"/>
              </a:spcBef>
              <a:spcAft>
                <a:spcPts val="0"/>
              </a:spcAft>
              <a:buClr>
                <a:schemeClr val="dk1"/>
              </a:buClr>
              <a:buSzPts val="3200"/>
              <a:buChar char="•"/>
            </a:pPr>
            <a:r>
              <a:rPr lang="en-US"/>
              <a:t>Q3.How the electrolyte abnormality can be corrected?      </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1" name="Shape 351"/>
        <p:cNvGrpSpPr/>
        <p:nvPr/>
      </p:nvGrpSpPr>
      <p:grpSpPr>
        <a:xfrm>
          <a:off x="0" y="0"/>
          <a:ext cx="0" cy="0"/>
          <a:chOff x="0" y="0"/>
          <a:chExt cx="0" cy="0"/>
        </a:xfrm>
      </p:grpSpPr>
      <p:sp>
        <p:nvSpPr>
          <p:cNvPr id="352" name="Google Shape;352;p5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t/>
            </a:r>
            <a:endParaRPr/>
          </a:p>
        </p:txBody>
      </p:sp>
      <p:sp>
        <p:nvSpPr>
          <p:cNvPr id="353" name="Google Shape;353;p50"/>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fontScale="92500"/>
          </a:bodyPr>
          <a:lstStyle/>
          <a:p>
            <a:pPr indent="-342900" lvl="0" marL="342900" rtl="0" algn="l">
              <a:lnSpc>
                <a:spcPct val="100000"/>
              </a:lnSpc>
              <a:spcBef>
                <a:spcPts val="0"/>
              </a:spcBef>
              <a:spcAft>
                <a:spcPts val="0"/>
              </a:spcAft>
              <a:buClr>
                <a:srgbClr val="000000"/>
              </a:buClr>
              <a:buSzPct val="100000"/>
              <a:buFont typeface="Arial"/>
              <a:buChar char="•"/>
            </a:pPr>
            <a:r>
              <a:rPr b="1" i="0" lang="en-US" u="none" strike="noStrike">
                <a:solidFill>
                  <a:srgbClr val="000000"/>
                </a:solidFill>
              </a:rPr>
              <a:t>Stop Hypotonic Fluids</a:t>
            </a:r>
            <a:r>
              <a:rPr b="0" i="0" lang="en-US" u="none" strike="noStrike">
                <a:solidFill>
                  <a:srgbClr val="000000"/>
                </a:solidFill>
              </a:rPr>
              <a:t> (like 5% dextrose).</a:t>
            </a:r>
            <a:endParaRPr/>
          </a:p>
          <a:p>
            <a:pPr indent="-342900" lvl="0" marL="342900" rtl="0" algn="l">
              <a:lnSpc>
                <a:spcPct val="100000"/>
              </a:lnSpc>
              <a:spcBef>
                <a:spcPts val="592"/>
              </a:spcBef>
              <a:spcAft>
                <a:spcPts val="0"/>
              </a:spcAft>
              <a:buClr>
                <a:srgbClr val="000000"/>
              </a:buClr>
              <a:buSzPct val="100000"/>
              <a:buFont typeface="Arial"/>
              <a:buChar char="•"/>
            </a:pPr>
            <a:r>
              <a:rPr b="1" i="0" lang="en-US" u="none" strike="noStrike">
                <a:solidFill>
                  <a:srgbClr val="000000"/>
                </a:solidFill>
              </a:rPr>
              <a:t>Carefully Correct Sodium</a:t>
            </a:r>
            <a:r>
              <a:rPr b="0" i="0" lang="en-US" u="none" strike="noStrike">
                <a:solidFill>
                  <a:srgbClr val="000000"/>
                </a:solidFill>
              </a:rPr>
              <a:t>:</a:t>
            </a:r>
            <a:endParaRPr/>
          </a:p>
          <a:p>
            <a:pPr indent="-285750" lvl="1" marL="742950" rtl="0" algn="l">
              <a:lnSpc>
                <a:spcPct val="100000"/>
              </a:lnSpc>
              <a:spcBef>
                <a:spcPts val="518"/>
              </a:spcBef>
              <a:spcAft>
                <a:spcPts val="0"/>
              </a:spcAft>
              <a:buClr>
                <a:srgbClr val="000000"/>
              </a:buClr>
              <a:buSzPct val="100000"/>
              <a:buFont typeface="Arial"/>
              <a:buChar char="•"/>
            </a:pPr>
            <a:r>
              <a:rPr b="0" i="0" lang="en-US" u="none" strike="noStrike">
                <a:solidFill>
                  <a:srgbClr val="000000"/>
                </a:solidFill>
              </a:rPr>
              <a:t>Mild to moderate cases: </a:t>
            </a:r>
            <a:r>
              <a:rPr b="1" i="0" lang="en-US" u="none" strike="noStrike">
                <a:solidFill>
                  <a:srgbClr val="000000"/>
                </a:solidFill>
              </a:rPr>
              <a:t>Restrict free water intake</a:t>
            </a:r>
            <a:r>
              <a:rPr b="0" i="0" lang="en-US" u="none" strike="noStrike">
                <a:solidFill>
                  <a:srgbClr val="000000"/>
                </a:solidFill>
              </a:rPr>
              <a:t>.</a:t>
            </a:r>
            <a:endParaRPr/>
          </a:p>
          <a:p>
            <a:pPr indent="-285750" lvl="1" marL="742950" rtl="0" algn="l">
              <a:lnSpc>
                <a:spcPct val="100000"/>
              </a:lnSpc>
              <a:spcBef>
                <a:spcPts val="518"/>
              </a:spcBef>
              <a:spcAft>
                <a:spcPts val="0"/>
              </a:spcAft>
              <a:buClr>
                <a:srgbClr val="000000"/>
              </a:buClr>
              <a:buSzPct val="100000"/>
              <a:buFont typeface="Arial"/>
              <a:buChar char="•"/>
            </a:pPr>
            <a:r>
              <a:rPr b="0" i="0" lang="en-US" u="none" strike="noStrike">
                <a:solidFill>
                  <a:srgbClr val="000000"/>
                </a:solidFill>
              </a:rPr>
              <a:t>Severe cases with symptoms (drowsiness, seizures): </a:t>
            </a:r>
            <a:r>
              <a:rPr b="1" i="0" lang="en-US" u="none" strike="noStrike">
                <a:solidFill>
                  <a:srgbClr val="000000"/>
                </a:solidFill>
              </a:rPr>
              <a:t>Hypertonic saline (3% NaCl) IV</a:t>
            </a:r>
            <a:r>
              <a:rPr b="0" i="0" lang="en-US" u="none" strike="noStrike">
                <a:solidFill>
                  <a:srgbClr val="000000"/>
                </a:solidFill>
              </a:rPr>
              <a:t> in controlled amounts.</a:t>
            </a:r>
            <a:endParaRPr/>
          </a:p>
          <a:p>
            <a:pPr indent="-342900" lvl="0" marL="342900" rtl="0" algn="l">
              <a:lnSpc>
                <a:spcPct val="100000"/>
              </a:lnSpc>
              <a:spcBef>
                <a:spcPts val="592"/>
              </a:spcBef>
              <a:spcAft>
                <a:spcPts val="0"/>
              </a:spcAft>
              <a:buClr>
                <a:srgbClr val="000000"/>
              </a:buClr>
              <a:buSzPct val="100000"/>
              <a:buFont typeface="Arial"/>
              <a:buChar char="•"/>
            </a:pPr>
            <a:r>
              <a:rPr b="1" i="0" lang="en-US" u="none" strike="noStrike">
                <a:solidFill>
                  <a:srgbClr val="000000"/>
                </a:solidFill>
              </a:rPr>
              <a:t>Monitor Sodium Levels Frequently</a:t>
            </a:r>
            <a:r>
              <a:rPr b="0" i="0" lang="en-US" u="none" strike="noStrike">
                <a:solidFill>
                  <a:srgbClr val="000000"/>
                </a:solidFill>
              </a:rPr>
              <a:t> to prevent rapid correction (to avoid osmotic demyelination syndrome).</a:t>
            </a:r>
            <a:endParaRPr/>
          </a:p>
          <a:p>
            <a:pPr indent="-154940" lvl="0" marL="342900" rtl="0" algn="l">
              <a:lnSpc>
                <a:spcPct val="100000"/>
              </a:lnSpc>
              <a:spcBef>
                <a:spcPts val="592"/>
              </a:spcBef>
              <a:spcAft>
                <a:spcPts val="0"/>
              </a:spcAft>
              <a:buClr>
                <a:schemeClr val="dk1"/>
              </a:buClr>
              <a:buSzPct val="100000"/>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2021-03-13T07:05:00Z</dcterms:created>
  <dc:creator>PACS Reporting</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1033-11.2.0.10017</vt:lpwstr>
  </property>
</Properties>
</file>