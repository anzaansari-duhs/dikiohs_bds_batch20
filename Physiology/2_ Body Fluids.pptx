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  <p:sldMasterId id="214748365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9" roundtripDataSignature="AMtx7mhAugJxeqZ0bhJ0S0eScE8lg6oEA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customschemas.google.com/relationships/presentationmetadata" Target="metadata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1" name="Google Shape;121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7" name="Google Shape;12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3" name="Google Shape;13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9" name="Google Shape;13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6" name="Google Shape;146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2" name="Google Shape;152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9" name="Google Shape;159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6" name="Google Shape;166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2" name="Google Shape;172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9" name="Google Shape;179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6" name="Google Shape;186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3" name="Google Shape;193;p3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0" name="Google Shape;200;p3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7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7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3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3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3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9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9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" name="Google Shape;20;p3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6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46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" name="Google Shape;27;p4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2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33" name="Google Shape;33;p42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34" name="Google Shape;34;p4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4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4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4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4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4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4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4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4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ext, and Content" type="txAndObj">
  <p:cSld name="TEXT_AND_OBJECT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44"/>
          <p:cNvSpPr txBox="1"/>
          <p:nvPr>
            <p:ph type="title"/>
          </p:nvPr>
        </p:nvSpPr>
        <p:spPr>
          <a:xfrm>
            <a:off x="914400" y="609600"/>
            <a:ext cx="10363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44"/>
          <p:cNvSpPr txBox="1"/>
          <p:nvPr>
            <p:ph idx="1" type="body"/>
          </p:nvPr>
        </p:nvSpPr>
        <p:spPr>
          <a:xfrm>
            <a:off x="914400" y="1981200"/>
            <a:ext cx="50800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6" name="Google Shape;56;p44"/>
          <p:cNvSpPr txBox="1"/>
          <p:nvPr>
            <p:ph idx="2" type="body"/>
          </p:nvPr>
        </p:nvSpPr>
        <p:spPr>
          <a:xfrm>
            <a:off x="6197600" y="1981200"/>
            <a:ext cx="50800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7" name="Google Shape;57;p44"/>
          <p:cNvSpPr txBox="1"/>
          <p:nvPr>
            <p:ph idx="10" type="dt"/>
          </p:nvPr>
        </p:nvSpPr>
        <p:spPr>
          <a:xfrm>
            <a:off x="914400" y="624840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44"/>
          <p:cNvSpPr txBox="1"/>
          <p:nvPr>
            <p:ph idx="11" type="ftr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44"/>
          <p:cNvSpPr txBox="1"/>
          <p:nvPr>
            <p:ph idx="12" type="sldNum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4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3" name="Google Shape;63;p4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4" name="Google Shape;64;p4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4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4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6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36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70" name="Google Shape;70;p3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38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38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6" name="Google Shape;76;p3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3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47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47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82" name="Google Shape;82;p47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3" name="Google Shape;83;p47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84" name="Google Shape;84;p47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5" name="Google Shape;85;p4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4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4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4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4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4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4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4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4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96" name="Google Shape;96;p4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97" name="Google Shape;97;p4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4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4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41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103" name="Google Shape;103;p41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04" name="Google Shape;104;p4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4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4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50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0" name="Google Shape;110;p5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5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5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51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51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6" name="Google Shape;116;p5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5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5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4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5.xml"/><Relationship Id="rId2" Type="http://schemas.openxmlformats.org/officeDocument/2006/relationships/slideLayout" Target="../slideLayouts/slideLayout6.xml"/><Relationship Id="rId3" Type="http://schemas.openxmlformats.org/officeDocument/2006/relationships/slideLayout" Target="../slideLayouts/slideLayout7.xml"/><Relationship Id="rId4" Type="http://schemas.openxmlformats.org/officeDocument/2006/relationships/slideLayout" Target="../slideLayouts/slideLayout8.xml"/><Relationship Id="rId9" Type="http://schemas.openxmlformats.org/officeDocument/2006/relationships/slideLayout" Target="../slideLayouts/slideLayout13.xml"/><Relationship Id="rId5" Type="http://schemas.openxmlformats.org/officeDocument/2006/relationships/slideLayout" Target="../slideLayouts/slideLayout9.xml"/><Relationship Id="rId6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1.xml"/><Relationship Id="rId8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3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3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3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3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9" name="Google Shape;39;p3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0" name="Google Shape;40;p3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1" name="Google Shape;41;p3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2" name="Google Shape;42;p3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  <p:sldLayoutId id="2147483664" r:id="rId11"/>
    <p:sldLayoutId id="2147483665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</a:pPr>
            <a:r>
              <a:rPr lang="en-US"/>
              <a:t>Body fluids :</a:t>
            </a:r>
            <a:endParaRPr/>
          </a:p>
        </p:txBody>
      </p:sp>
      <p:sp>
        <p:nvSpPr>
          <p:cNvPr id="124" name="Google Shape;124;p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en-US"/>
              <a:t>Dr.Bushra Zulfiqar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en-US"/>
              <a:t>Lecturer Physiology Department,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en-US"/>
              <a:t>DIKIOHS,DUHS.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"/>
          <p:cNvSpPr txBox="1"/>
          <p:nvPr>
            <p:ph type="title"/>
          </p:nvPr>
        </p:nvSpPr>
        <p:spPr>
          <a:xfrm>
            <a:off x="2004716" y="612576"/>
            <a:ext cx="8239252" cy="194562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228600" spcFirstLastPara="1" rIns="228600" wrap="square" tIns="228600">
            <a:normAutofit fontScale="90000"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None/>
            </a:pPr>
            <a:r>
              <a:rPr lang="en-US" sz="7200">
                <a:solidFill>
                  <a:schemeClr val="lt1"/>
                </a:solidFill>
              </a:rPr>
              <a:t>Learning objectives:</a:t>
            </a:r>
            <a:br>
              <a:rPr lang="en-US" sz="7200">
                <a:solidFill>
                  <a:schemeClr val="lt1"/>
                </a:solidFill>
              </a:rPr>
            </a:br>
            <a:endParaRPr sz="7200">
              <a:solidFill>
                <a:schemeClr val="lt1"/>
              </a:solidFill>
            </a:endParaRPr>
          </a:p>
        </p:txBody>
      </p:sp>
      <p:sp>
        <p:nvSpPr>
          <p:cNvPr id="130" name="Google Shape;130;p2"/>
          <p:cNvSpPr txBox="1"/>
          <p:nvPr>
            <p:ph idx="1" type="body"/>
          </p:nvPr>
        </p:nvSpPr>
        <p:spPr>
          <a:xfrm>
            <a:off x="1918098" y="2866239"/>
            <a:ext cx="8239253" cy="12281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i="0" lang="en-US" sz="2400" u="none" strike="noStrike">
                <a:solidFill>
                  <a:schemeClr val="lt1"/>
                </a:solidFill>
              </a:rPr>
              <a:t>Understand the Importance of Body Fluids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i="0" lang="en-US" sz="2400" u="none" strike="noStrike">
                <a:solidFill>
                  <a:schemeClr val="lt1"/>
                </a:solidFill>
              </a:rPr>
              <a:t>Identify the Different Compartments of Body Fluids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i="0" lang="en-US" sz="2400" u="none" strike="noStrike">
                <a:solidFill>
                  <a:schemeClr val="lt1"/>
                </a:solidFill>
              </a:rPr>
              <a:t>Describe the Composition of Body Fluids</a:t>
            </a:r>
            <a:endParaRPr sz="2400">
              <a:solidFill>
                <a:schemeClr val="lt1"/>
              </a:solidFill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i="0" lang="en-US" sz="2400" u="none" strike="noStrike">
                <a:solidFill>
                  <a:schemeClr val="lt1"/>
                </a:solidFill>
              </a:rPr>
              <a:t>Explain Fluid and Electrolyte Balance Mechanisms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i="0" lang="en-US" sz="2400" u="none" strike="noStrike">
                <a:solidFill>
                  <a:schemeClr val="lt1"/>
                </a:solidFill>
              </a:rPr>
              <a:t>Examine the Movement of Fluids Between Compartments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3"/>
          <p:cNvSpPr txBox="1"/>
          <p:nvPr>
            <p:ph type="title"/>
          </p:nvPr>
        </p:nvSpPr>
        <p:spPr>
          <a:xfrm>
            <a:off x="1733254" y="1263404"/>
            <a:ext cx="8510714" cy="127300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228600" spcFirstLastPara="1" rIns="228600" wrap="square" tIns="2286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Calibri"/>
              <a:buNone/>
            </a:pPr>
            <a:r>
              <a:rPr b="1" i="1" lang="en-US" sz="7200" u="sng">
                <a:solidFill>
                  <a:schemeClr val="lt1"/>
                </a:solidFill>
              </a:rPr>
              <a:t>Overview:</a:t>
            </a:r>
            <a:endParaRPr sz="7200">
              <a:solidFill>
                <a:schemeClr val="lt1"/>
              </a:solidFill>
            </a:endParaRPr>
          </a:p>
        </p:txBody>
      </p:sp>
      <p:sp>
        <p:nvSpPr>
          <p:cNvPr id="136" name="Google Shape;136;p3"/>
          <p:cNvSpPr txBox="1"/>
          <p:nvPr>
            <p:ph idx="1" type="body"/>
          </p:nvPr>
        </p:nvSpPr>
        <p:spPr>
          <a:xfrm>
            <a:off x="2004716" y="2233056"/>
            <a:ext cx="8239253" cy="3555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rmAutofit/>
          </a:bodyPr>
          <a:lstStyle/>
          <a:p>
            <a:pPr indent="-1905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en-US" sz="2400">
                <a:solidFill>
                  <a:schemeClr val="lt1"/>
                </a:solidFill>
              </a:rPr>
              <a:t> - Body fluids are essential for maintaining                      homeostasis.</a:t>
            </a:r>
            <a:br>
              <a:rPr lang="en-US" sz="2400">
                <a:solidFill>
                  <a:schemeClr val="lt1"/>
                </a:solidFill>
              </a:rPr>
            </a:br>
            <a:r>
              <a:rPr lang="en-US" sz="2400">
                <a:solidFill>
                  <a:schemeClr val="lt1"/>
                </a:solidFill>
              </a:rPr>
              <a:t> - They make up about 60% of total body weight in     adults.</a:t>
            </a:r>
            <a:br>
              <a:rPr lang="en-US" sz="2400">
                <a:solidFill>
                  <a:schemeClr val="lt1"/>
                </a:solidFill>
              </a:rPr>
            </a:br>
            <a:r>
              <a:rPr lang="en-US" sz="2400">
                <a:solidFill>
                  <a:schemeClr val="lt1"/>
                </a:solidFill>
              </a:rPr>
              <a:t> - Body fluids are categorized into two main      compartments: intracellular and extracellular.</a:t>
            </a:r>
            <a:br>
              <a:rPr lang="en-US" sz="2400">
                <a:solidFill>
                  <a:schemeClr val="lt1"/>
                </a:solidFill>
              </a:rPr>
            </a:br>
            <a:r>
              <a:rPr lang="en-US" sz="2400">
                <a:solidFill>
                  <a:schemeClr val="lt1"/>
                </a:solidFill>
              </a:rPr>
              <a:t> </a:t>
            </a:r>
            <a:br>
              <a:rPr lang="en-US" sz="2400">
                <a:solidFill>
                  <a:schemeClr val="lt1"/>
                </a:solidFill>
              </a:rPr>
            </a:br>
            <a:endParaRPr sz="24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4"/>
          <p:cNvPicPr preferRelativeResize="0"/>
          <p:nvPr/>
        </p:nvPicPr>
        <p:blipFill rotWithShape="1">
          <a:blip r:embed="rId3">
            <a:alphaModFix/>
          </a:blip>
          <a:srcRect b="17999" l="12000" r="12000" t="18001"/>
          <a:stretch/>
        </p:blipFill>
        <p:spPr>
          <a:xfrm>
            <a:off x="1480364" y="609601"/>
            <a:ext cx="9035236" cy="5707063"/>
          </a:xfrm>
          <a:prstGeom prst="rect">
            <a:avLst/>
          </a:prstGeom>
          <a:noFill/>
          <a:ln cap="flat" cmpd="sng" w="9525">
            <a:solidFill>
              <a:srgbClr val="66FFFF"/>
            </a:solidFill>
            <a:prstDash val="solid"/>
            <a:miter lim="800000"/>
            <a:headEnd len="sm" w="sm" type="none"/>
            <a:tailEnd len="sm" w="sm" type="none"/>
          </a:ln>
        </p:spPr>
      </p:pic>
      <p:sp>
        <p:nvSpPr>
          <p:cNvPr id="142" name="Google Shape;142;p4"/>
          <p:cNvSpPr/>
          <p:nvPr/>
        </p:nvSpPr>
        <p:spPr>
          <a:xfrm>
            <a:off x="1600200" y="609600"/>
            <a:ext cx="3810000" cy="457200"/>
          </a:xfrm>
          <a:prstGeom prst="rect">
            <a:avLst/>
          </a:prstGeom>
          <a:solidFill>
            <a:srgbClr val="660033"/>
          </a:solidFill>
          <a:ln cap="flat" cmpd="sng" w="9525">
            <a:solidFill>
              <a:srgbClr val="66F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Roles of Water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4"/>
          <p:cNvSpPr/>
          <p:nvPr/>
        </p:nvSpPr>
        <p:spPr>
          <a:xfrm>
            <a:off x="3124200" y="2819400"/>
            <a:ext cx="6400800" cy="685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5400" lvl="0" marL="2286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/>
              <a:t>Plasma membrane </a:t>
            </a:r>
            <a:endParaRPr/>
          </a:p>
          <a:p>
            <a:pPr indent="-228600" lvl="2" marL="114300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Separates ICF from surrounding interstitial fluid</a:t>
            </a:r>
            <a:endParaRPr/>
          </a:p>
          <a:p>
            <a:pPr indent="-101600" lvl="2" marL="114300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/>
          </a:p>
          <a:p>
            <a:pPr indent="-76200" lvl="2" marL="114300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/>
              <a:t>Blood vessel wall </a:t>
            </a:r>
            <a:endParaRPr/>
          </a:p>
          <a:p>
            <a:pPr indent="-228600" lvl="2" marL="114300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Separate interstitial fluid from plasma</a:t>
            </a:r>
            <a:endParaRPr/>
          </a:p>
        </p:txBody>
      </p:sp>
      <p:sp>
        <p:nvSpPr>
          <p:cNvPr id="149" name="Google Shape;149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 sz="3200"/>
              <a:t>Barriers separate ICF, interstitial fluid and plasma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3"/>
          <p:cNvSpPr txBox="1"/>
          <p:nvPr>
            <p:ph type="ctrTitle"/>
          </p:nvPr>
        </p:nvSpPr>
        <p:spPr>
          <a:xfrm>
            <a:off x="1192299" y="1040026"/>
            <a:ext cx="3020248" cy="1091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None/>
            </a:pPr>
            <a:r>
              <a:rPr lang="en-US" sz="7200">
                <a:latin typeface="Calibri"/>
                <a:ea typeface="Calibri"/>
                <a:cs typeface="Calibri"/>
                <a:sym typeface="Calibri"/>
              </a:rPr>
              <a:t>Plasma</a:t>
            </a:r>
            <a:br>
              <a:rPr lang="en-US" sz="7200">
                <a:latin typeface="Calibri"/>
                <a:ea typeface="Calibri"/>
                <a:cs typeface="Calibri"/>
                <a:sym typeface="Calibri"/>
              </a:rPr>
            </a:br>
            <a:endParaRPr sz="7200">
              <a:solidFill>
                <a:schemeClr val="lt1"/>
              </a:solidFill>
            </a:endParaRPr>
          </a:p>
        </p:txBody>
      </p:sp>
      <p:sp>
        <p:nvSpPr>
          <p:cNvPr id="155" name="Google Shape;155;p13"/>
          <p:cNvSpPr txBox="1"/>
          <p:nvPr>
            <p:ph idx="1" type="subTitle"/>
          </p:nvPr>
        </p:nvSpPr>
        <p:spPr>
          <a:xfrm>
            <a:off x="213252" y="1356350"/>
            <a:ext cx="4027487" cy="53294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</a:pPr>
            <a:r>
              <a:rPr i="1" lang="en-US" sz="3200" u="sng">
                <a:latin typeface="Calibri"/>
                <a:ea typeface="Calibri"/>
                <a:cs typeface="Calibri"/>
                <a:sym typeface="Calibri"/>
              </a:rPr>
              <a:t>Description: </a:t>
            </a: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The liquid component of blood.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</a:pPr>
            <a:r>
              <a:rPr i="1" lang="en-US" sz="3200" u="sng">
                <a:latin typeface="Calibri"/>
                <a:ea typeface="Calibri"/>
                <a:cs typeface="Calibri"/>
                <a:sym typeface="Calibri"/>
              </a:rPr>
              <a:t>Volume:</a:t>
            </a: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Approximately 3 liters in a 70kg adult.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</a:pPr>
            <a:r>
              <a:rPr i="1" lang="en-US" sz="3200" u="sng">
                <a:latin typeface="Calibri"/>
                <a:ea typeface="Calibri"/>
                <a:cs typeface="Calibri"/>
                <a:sym typeface="Calibri"/>
              </a:rPr>
              <a:t>Function: </a:t>
            </a: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Transport of nutrient</a:t>
            </a:r>
            <a:endParaRPr sz="3200">
              <a:solidFill>
                <a:schemeClr val="lt1"/>
              </a:solidFill>
            </a:endParaRPr>
          </a:p>
        </p:txBody>
      </p:sp>
      <p:pic>
        <p:nvPicPr>
          <p:cNvPr descr="sheet 11- body fluids part 1.docx" id="156" name="Google Shape;15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62587" y="125482"/>
            <a:ext cx="7309021" cy="66036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4"/>
          <p:cNvSpPr txBox="1"/>
          <p:nvPr>
            <p:ph type="ctrTitle"/>
          </p:nvPr>
        </p:nvSpPr>
        <p:spPr>
          <a:xfrm>
            <a:off x="168729" y="405156"/>
            <a:ext cx="4110110" cy="7485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None/>
            </a:pPr>
            <a:r>
              <a:rPr lang="en-US" sz="4400">
                <a:latin typeface="Calibri"/>
                <a:ea typeface="Calibri"/>
                <a:cs typeface="Calibri"/>
                <a:sym typeface="Calibri"/>
              </a:rPr>
              <a:t>Transcellular Fluid</a:t>
            </a:r>
            <a:endParaRPr sz="4400">
              <a:solidFill>
                <a:schemeClr val="lt1"/>
              </a:solidFill>
            </a:endParaRPr>
          </a:p>
        </p:txBody>
      </p:sp>
      <p:sp>
        <p:nvSpPr>
          <p:cNvPr id="162" name="Google Shape;162;p14"/>
          <p:cNvSpPr txBox="1"/>
          <p:nvPr>
            <p:ph idx="1" type="subTitle"/>
          </p:nvPr>
        </p:nvSpPr>
        <p:spPr>
          <a:xfrm>
            <a:off x="130630" y="1422144"/>
            <a:ext cx="4227584" cy="43664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i="1" lang="en-US" sz="3200" u="sng">
                <a:latin typeface="Calibri"/>
                <a:ea typeface="Calibri"/>
                <a:cs typeface="Calibri"/>
                <a:sym typeface="Calibri"/>
              </a:rPr>
              <a:t>Description: </a:t>
            </a: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Fluid in specific compartments like cerebrospinal fluid, synovial fluid, etc.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i="1" lang="en-US" sz="3200" u="sng">
                <a:latin typeface="Calibri"/>
                <a:ea typeface="Calibri"/>
                <a:cs typeface="Calibri"/>
                <a:sym typeface="Calibri"/>
              </a:rPr>
              <a:t>Examples: </a:t>
            </a: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Cerebrospinal fluid, synovial fluid, aqueous humor.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i="1" lang="en-US" sz="3200" u="sng">
                <a:latin typeface="Calibri"/>
                <a:ea typeface="Calibri"/>
                <a:cs typeface="Calibri"/>
                <a:sym typeface="Calibri"/>
              </a:rPr>
              <a:t>Function: </a:t>
            </a: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lubricates the organ in which it is present.</a:t>
            </a:r>
            <a:endParaRPr/>
          </a:p>
        </p:txBody>
      </p:sp>
      <p:pic>
        <p:nvPicPr>
          <p:cNvPr descr="Kadol Lake. Kadol Lake PHYSIOLOGY DEPARTMENT BODY FLUIDS DR . MUNAZA  KHATTAK ASSISSTANT PROFESSOR PHYSIOLOGY DEPARTMENT. - ppt download" id="163" name="Google Shape;16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67715" y="105021"/>
            <a:ext cx="7905748" cy="63478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Specialized Fluids of the Body</a:t>
            </a:r>
            <a:endParaRPr/>
          </a:p>
        </p:txBody>
      </p:sp>
      <p:sp>
        <p:nvSpPr>
          <p:cNvPr id="169" name="Google Shape;169;p2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Lymph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Milk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Cerebrospinal fluid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Amniotic fluid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Aqueous humor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Sweat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Tears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8"/>
          <p:cNvSpPr txBox="1"/>
          <p:nvPr>
            <p:ph type="ctrTitle"/>
          </p:nvPr>
        </p:nvSpPr>
        <p:spPr>
          <a:xfrm>
            <a:off x="2004716" y="1263404"/>
            <a:ext cx="8239252" cy="31150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Calibri"/>
              <a:buNone/>
            </a:pPr>
            <a:r>
              <a:t/>
            </a:r>
            <a:endParaRPr sz="7200">
              <a:solidFill>
                <a:schemeClr val="lt1"/>
              </a:solidFill>
            </a:endParaRPr>
          </a:p>
        </p:txBody>
      </p:sp>
      <p:sp>
        <p:nvSpPr>
          <p:cNvPr id="175" name="Google Shape;175;p28"/>
          <p:cNvSpPr txBox="1"/>
          <p:nvPr>
            <p:ph idx="1" type="subTitle"/>
          </p:nvPr>
        </p:nvSpPr>
        <p:spPr>
          <a:xfrm>
            <a:off x="2004716" y="4560432"/>
            <a:ext cx="8239253" cy="12281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t/>
            </a:r>
            <a:endParaRPr sz="2400">
              <a:solidFill>
                <a:schemeClr val="lt1"/>
              </a:solidFill>
            </a:endParaRPr>
          </a:p>
        </p:txBody>
      </p:sp>
      <p:pic>
        <p:nvPicPr>
          <p:cNvPr descr="3: Starling and osmotic forces affect fluid flow into and out of... |  Download Scientific Diagram" id="176" name="Google Shape;176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8500" y="660400"/>
            <a:ext cx="10795000" cy="553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None/>
            </a:pPr>
            <a:br>
              <a:rPr lang="en-US" sz="1800">
                <a:latin typeface="Calibri"/>
                <a:ea typeface="Calibri"/>
                <a:cs typeface="Calibri"/>
                <a:sym typeface="Calibri"/>
              </a:rPr>
            </a:br>
            <a:br>
              <a:rPr lang="en-US" sz="1800"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  </a:t>
            </a:r>
            <a:br>
              <a:rPr lang="en-US" sz="1800">
                <a:latin typeface="Calibri"/>
                <a:ea typeface="Calibri"/>
                <a:cs typeface="Calibri"/>
                <a:sym typeface="Calibri"/>
              </a:rPr>
            </a:br>
            <a:r>
              <a:rPr b="1" i="1" lang="en-US" sz="4000" u="sng">
                <a:latin typeface="Calibri"/>
                <a:ea typeface="Calibri"/>
                <a:cs typeface="Calibri"/>
                <a:sym typeface="Calibri"/>
              </a:rPr>
              <a:t>Regulation of Body Fluids</a:t>
            </a:r>
            <a:r>
              <a:rPr lang="en-US" sz="3600">
                <a:latin typeface="Calibri"/>
                <a:ea typeface="Calibri"/>
                <a:cs typeface="Calibri"/>
                <a:sym typeface="Calibri"/>
              </a:rPr>
              <a:t>:</a:t>
            </a:r>
            <a:br>
              <a:rPr lang="en-US" sz="3600">
                <a:latin typeface="Calibri"/>
                <a:ea typeface="Calibri"/>
                <a:cs typeface="Calibri"/>
                <a:sym typeface="Calibri"/>
              </a:rPr>
            </a:br>
            <a:endParaRPr sz="3600">
              <a:solidFill>
                <a:schemeClr val="lt1"/>
              </a:solidFill>
            </a:endParaRPr>
          </a:p>
        </p:txBody>
      </p:sp>
      <p:sp>
        <p:nvSpPr>
          <p:cNvPr id="182" name="Google Shape;182;p29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alibri"/>
              <a:buChar char="-"/>
            </a:pPr>
            <a:r>
              <a:rPr b="1" i="1" lang="en-US" sz="2800" u="sng">
                <a:latin typeface="Calibri"/>
                <a:ea typeface="Calibri"/>
                <a:cs typeface="Calibri"/>
                <a:sym typeface="Calibri"/>
              </a:rPr>
              <a:t>Kidneys and Fluid Balance:</a:t>
            </a:r>
            <a:br>
              <a:rPr lang="en-US" sz="2800">
                <a:latin typeface="Calibri"/>
                <a:ea typeface="Calibri"/>
                <a:cs typeface="Calibri"/>
                <a:sym typeface="Calibri"/>
              </a:rPr>
            </a:b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600"/>
              <a:buChar char="•"/>
            </a:pPr>
            <a:r>
              <a:rPr lang="en-US" sz="2600">
                <a:latin typeface="Calibri"/>
                <a:ea typeface="Calibri"/>
                <a:cs typeface="Calibri"/>
                <a:sym typeface="Calibri"/>
              </a:rPr>
              <a:t>Kidneys regulate the volume and composition of body fluids.</a:t>
            </a:r>
            <a:br>
              <a:rPr lang="en-US" sz="2600">
                <a:latin typeface="Calibri"/>
                <a:ea typeface="Calibri"/>
                <a:cs typeface="Calibri"/>
                <a:sym typeface="Calibri"/>
              </a:rPr>
            </a:br>
            <a:r>
              <a:rPr lang="en-US" sz="2600">
                <a:latin typeface="Calibri"/>
                <a:ea typeface="Calibri"/>
                <a:cs typeface="Calibri"/>
                <a:sym typeface="Calibri"/>
              </a:rPr>
              <a:t> Renal function: Filtration, reabsorption, secreti</a:t>
            </a: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on.</a:t>
            </a:r>
            <a:br>
              <a:rPr lang="en-US" sz="2400">
                <a:latin typeface="Calibri"/>
                <a:ea typeface="Calibri"/>
                <a:cs typeface="Calibri"/>
                <a:sym typeface="Calibri"/>
              </a:rPr>
            </a:br>
            <a:endParaRPr sz="2400">
              <a:solidFill>
                <a:schemeClr val="lt1"/>
              </a:solidFill>
            </a:endParaRPr>
          </a:p>
        </p:txBody>
      </p:sp>
      <p:sp>
        <p:nvSpPr>
          <p:cNvPr id="183" name="Google Shape;183;p29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Char char="•"/>
            </a:pPr>
            <a:r>
              <a:rPr b="1" i="1" lang="en-US" sz="2600" u="sng">
                <a:latin typeface="Calibri"/>
                <a:ea typeface="Calibri"/>
                <a:cs typeface="Calibri"/>
                <a:sym typeface="Calibri"/>
              </a:rPr>
              <a:t>Thirst Mechanism: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</a:pPr>
            <a:r>
              <a:t/>
            </a:r>
            <a:endParaRPr b="1" i="1" sz="2600" u="sng"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600"/>
              <a:buChar char="•"/>
            </a:pPr>
            <a:r>
              <a:rPr lang="en-US" sz="2600">
                <a:latin typeface="Calibri"/>
                <a:ea typeface="Calibri"/>
                <a:cs typeface="Calibri"/>
                <a:sym typeface="Calibri"/>
              </a:rPr>
              <a:t>Controlled by hypothalamus in response to changes in plasma osmolarity or volume.</a:t>
            </a:r>
            <a:endParaRPr sz="2600">
              <a:solidFill>
                <a:schemeClr val="lt1"/>
              </a:solidFill>
            </a:endParaRPr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0"/>
          <p:cNvSpPr txBox="1"/>
          <p:nvPr>
            <p:ph type="ctrTitle"/>
          </p:nvPr>
        </p:nvSpPr>
        <p:spPr>
          <a:xfrm>
            <a:off x="343825" y="524346"/>
            <a:ext cx="8239252" cy="77127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228600" spcFirstLastPara="1" rIns="228600" wrap="square" tIns="228600">
            <a:normAutofit fontScale="9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None/>
            </a:pPr>
            <a:br>
              <a:rPr lang="en-US" sz="6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6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br>
              <a:rPr lang="en-US" sz="6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6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Fluid Imbalance Disorders</a:t>
            </a:r>
            <a:endParaRPr sz="6100">
              <a:solidFill>
                <a:schemeClr val="lt1"/>
              </a:solidFill>
            </a:endParaRPr>
          </a:p>
        </p:txBody>
      </p:sp>
      <p:sp>
        <p:nvSpPr>
          <p:cNvPr id="189" name="Google Shape;189;p30"/>
          <p:cNvSpPr txBox="1"/>
          <p:nvPr>
            <p:ph idx="1" type="subTitle"/>
          </p:nvPr>
        </p:nvSpPr>
        <p:spPr>
          <a:xfrm>
            <a:off x="1201074" y="1661358"/>
            <a:ext cx="3265089" cy="39057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</a:pPr>
            <a:r>
              <a:rPr b="1" i="1" lang="en-US" sz="2800" u="sng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Dehydration:</a:t>
            </a:r>
            <a:b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-Occurs when body     loses more water than it takes in.</a:t>
            </a:r>
            <a:b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-Can be caused by excessive sweating, diarrhea, or inadequate fluid intake.</a:t>
            </a:r>
            <a:br>
              <a:rPr lang="en-U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>
              <a:solidFill>
                <a:schemeClr val="lt1"/>
              </a:solidFill>
            </a:endParaRPr>
          </a:p>
        </p:txBody>
      </p:sp>
      <p:pic>
        <p:nvPicPr>
          <p:cNvPr descr="Every sip counts: Managing dehydration in the elderly" id="190" name="Google Shape;190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58076" y="94778"/>
            <a:ext cx="4637790" cy="66154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1"/>
          <p:cNvSpPr txBox="1"/>
          <p:nvPr>
            <p:ph type="ctrTitle"/>
          </p:nvPr>
        </p:nvSpPr>
        <p:spPr>
          <a:xfrm>
            <a:off x="438498" y="620910"/>
            <a:ext cx="6838077" cy="80406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r>
              <a:rPr lang="en-US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Fluid Imbalance Disorders</a:t>
            </a:r>
            <a:endParaRPr sz="4000">
              <a:solidFill>
                <a:schemeClr val="lt1"/>
              </a:solidFill>
            </a:endParaRPr>
          </a:p>
        </p:txBody>
      </p:sp>
      <p:sp>
        <p:nvSpPr>
          <p:cNvPr id="196" name="Google Shape;196;p31"/>
          <p:cNvSpPr txBox="1"/>
          <p:nvPr>
            <p:ph idx="1" type="subTitle"/>
          </p:nvPr>
        </p:nvSpPr>
        <p:spPr>
          <a:xfrm>
            <a:off x="458263" y="1630519"/>
            <a:ext cx="4676238" cy="46851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</a:pPr>
            <a:r>
              <a:rPr b="1" i="1" lang="en-US" sz="2800" u="sng">
                <a:latin typeface="Calibri"/>
                <a:ea typeface="Calibri"/>
                <a:cs typeface="Calibri"/>
                <a:sym typeface="Calibri"/>
              </a:rPr>
              <a:t>Edema: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</a:pPr>
            <a:r>
              <a:t/>
            </a:r>
            <a:endParaRPr b="1" i="1" sz="2800" u="sng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Excess fluid accumulation in the interstitial space.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Causes: heart failure, kidney disease, liver cirrhosis</a:t>
            </a:r>
            <a:r>
              <a:rPr lang="en-US" sz="2400"/>
              <a:t> </a:t>
            </a:r>
            <a:endParaRPr sz="2400">
              <a:solidFill>
                <a:schemeClr val="lt1"/>
              </a:solidFill>
            </a:endParaRPr>
          </a:p>
        </p:txBody>
      </p:sp>
      <p:pic>
        <p:nvPicPr>
          <p:cNvPr descr="Causes and Types of Edema and How to Treat It" id="197" name="Google Shape;197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48037" y="-26478"/>
            <a:ext cx="4568825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2"/>
          <p:cNvSpPr txBox="1"/>
          <p:nvPr>
            <p:ph type="title"/>
          </p:nvPr>
        </p:nvSpPr>
        <p:spPr>
          <a:xfrm>
            <a:off x="2209800" y="228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US" sz="4000"/>
              <a:t>METHODS OF MEASUREMENTS </a:t>
            </a:r>
            <a:endParaRPr/>
          </a:p>
        </p:txBody>
      </p:sp>
      <p:sp>
        <p:nvSpPr>
          <p:cNvPr id="203" name="Google Shape;203;p32"/>
          <p:cNvSpPr txBox="1"/>
          <p:nvPr>
            <p:ph idx="1" type="body"/>
          </p:nvPr>
        </p:nvSpPr>
        <p:spPr>
          <a:xfrm>
            <a:off x="2209801" y="1981200"/>
            <a:ext cx="8162925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60400" lvl="0" marL="6604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</a:pPr>
            <a:r>
              <a:rPr lang="en-US">
                <a:solidFill>
                  <a:schemeClr val="lt1"/>
                </a:solidFill>
              </a:rPr>
              <a:t>PRINCIPLE </a:t>
            </a:r>
            <a:endParaRPr/>
          </a:p>
          <a:p>
            <a:pPr indent="-577850" lvl="1" marL="10350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US"/>
              <a:t>YOU HAVE TO SELECT A SUITABLE DYE OR RADIO-ISOTOPE</a:t>
            </a:r>
            <a:endParaRPr/>
          </a:p>
          <a:p>
            <a:pPr indent="-660400" lvl="0" marL="6604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V= VOLUME OF FLUID</a:t>
            </a:r>
            <a:endParaRPr/>
          </a:p>
          <a:p>
            <a:pPr indent="-660400" lvl="0" marL="6604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A= TOTAL AMOUNT OF DYE USED</a:t>
            </a:r>
            <a:endParaRPr/>
          </a:p>
          <a:p>
            <a:pPr indent="-660400" lvl="0" marL="6604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E= AMOUNT OF DYE EXCRETED OR LOST .</a:t>
            </a:r>
            <a:endParaRPr/>
          </a:p>
          <a:p>
            <a:pPr indent="-660400" lvl="0" marL="6604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C= CONCENTRATION</a:t>
            </a:r>
            <a:endParaRPr/>
          </a:p>
        </p:txBody>
      </p:sp>
      <p:sp>
        <p:nvSpPr>
          <p:cNvPr id="204" name="Google Shape;204;p32"/>
          <p:cNvSpPr/>
          <p:nvPr/>
        </p:nvSpPr>
        <p:spPr>
          <a:xfrm>
            <a:off x="4061806" y="1295401"/>
            <a:ext cx="3973139" cy="646331"/>
          </a:xfrm>
          <a:prstGeom prst="rect">
            <a:avLst/>
          </a:prstGeom>
          <a:gradFill>
            <a:gsLst>
              <a:gs pos="0">
                <a:srgbClr val="6B0000"/>
              </a:gs>
              <a:gs pos="50000">
                <a:srgbClr val="990000"/>
              </a:gs>
              <a:gs pos="100000">
                <a:srgbClr val="6B0000"/>
              </a:gs>
            </a:gsLst>
            <a:lin ang="5400000" scaled="0"/>
          </a:gradFill>
          <a:ln cap="flat" cmpd="sng" w="9525">
            <a:solidFill>
              <a:srgbClr val="99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INDIRECT METHOD –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INDICATOR (DYE) DILUTION TECHNIQUE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32"/>
          <p:cNvSpPr/>
          <p:nvPr/>
        </p:nvSpPr>
        <p:spPr>
          <a:xfrm>
            <a:off x="7086600" y="5105401"/>
            <a:ext cx="3475038" cy="1076325"/>
          </a:xfrm>
          <a:prstGeom prst="rect">
            <a:avLst/>
          </a:prstGeom>
          <a:gradFill>
            <a:gsLst>
              <a:gs pos="0">
                <a:srgbClr val="6B0000"/>
              </a:gs>
              <a:gs pos="50000">
                <a:srgbClr val="990000"/>
              </a:gs>
              <a:gs pos="100000">
                <a:srgbClr val="6B0000"/>
              </a:gs>
            </a:gsLst>
            <a:lin ang="5400000" scaled="0"/>
          </a:gradFill>
          <a:ln cap="flat" cmpd="sng" w="9525">
            <a:solidFill>
              <a:srgbClr val="FF99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FORMULA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V=A-E/C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2013 - 2022 Theme">
  <a:themeElements>
    <a:clrScheme name="Office 2013 - 2022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2013 - 2022 Theme">
  <a:themeElements>
    <a:clrScheme name="Office 2013 - 2022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2025-01-28T08:33:09Z</dcterms:created>
  <dc:creator>Zeeshan Akhtar</dc:creator>
</cp:coreProperties>
</file>