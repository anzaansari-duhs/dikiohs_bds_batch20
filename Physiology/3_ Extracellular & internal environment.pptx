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jojHKhReHGr0ncnoDODOcjFGWJ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2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5" name="Google Shape;235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23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4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4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25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7" name="Google Shape;287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6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27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7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7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0" name="Google Shape;32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28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8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8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1" name="Google Shape;341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29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9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:notes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:notes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:notes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:notes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850" lIns="89725" spcFirstLastPara="1" rIns="89725" wrap="square" tIns="4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:notes"/>
          <p:cNvSpPr/>
          <p:nvPr>
            <p:ph idx="2" type="sldImg"/>
          </p:nvPr>
        </p:nvSpPr>
        <p:spPr>
          <a:xfrm>
            <a:off x="1152525" y="692150"/>
            <a:ext cx="4554538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7" name="Google Shape;35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25" lIns="90475" spcFirstLastPara="1" rIns="90475" wrap="square" tIns="44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451b4c9f7_0_5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c451b4c9f7_0_5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c451b4c9f7_0_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451b4c9f7_0_5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c451b4c9f7_0_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451b4c9f7_0_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c451b4c9f7_0_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c451b4c9f7_0_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451b4c9f7_0_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c451b4c9f7_0_6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c451b4c9f7_0_6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c451b4c9f7_0_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c451b4c9f7_0_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c451b4c9f7_0_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451b4c9f7_0_7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c451b4c9f7_0_7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c451b4c9f7_0_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451b4c9f7_0_7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c451b4c9f7_0_7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451b4c9f7_0_8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c451b4c9f7_0_8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c451b4c9f7_0_8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c451b4c9f7_0_8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c451b4c9f7_0_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451b4c9f7_0_8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c451b4c9f7_0_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451b4c9f7_0_9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c451b4c9f7_0_9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c451b4c9f7_0_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451b4c9f7_0_9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451b4c9f7_0_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c451b4c9f7_0_9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7" name="Google Shape;57;g3c451b4c9f7_0_96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c451b4c9f7_0_96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c451b4c9f7_0_96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451b4c9f7_0_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c451b4c9f7_0_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c451b4c9f7_0_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-US" sz="4800" u="sng"/>
              <a:t>EXTRACELLULAR AND INTERNAL </a:t>
            </a:r>
            <a:br>
              <a:rPr b="1" i="1" lang="en-US" sz="4800" u="sng"/>
            </a:br>
            <a:r>
              <a:rPr b="1" i="1" lang="en-US" sz="4800" u="sng"/>
              <a:t>ENVIRONMENT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Learning Objectives</a:t>
            </a:r>
            <a:endParaRPr/>
          </a:p>
        </p:txBody>
      </p:sp>
      <p:sp>
        <p:nvSpPr>
          <p:cNvPr id="70" name="Google Shape;7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800"/>
              <a:t> 	At the end of the lecture the students should be able to: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/>
              <a:t>Define the extracellular and intracellular fluid.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/>
              <a:t>Describe origin of nutrients in the extracellular fluid.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/>
              <a:t>Explain removal of metabolic end products.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/>
              <a:t>Explain exchnage of water ,nutrients,and other subsrances between the blood and interstitial fluid diffusion through the capillary membrane.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/>
              <a:t>Discuss the interstitium and interstitial fluid fluid imbalance edema.</a:t>
            </a:r>
            <a:endParaRPr/>
          </a:p>
          <a:p>
            <a:pPr indent="-178435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/>
          </a:p>
        </p:txBody>
      </p:sp>
      <p:sp>
        <p:nvSpPr>
          <p:cNvPr id="71" name="Google Shape;71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77" name="Google Shape;77;p3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Body Fluids</a:t>
            </a:r>
            <a:endParaRPr/>
          </a:p>
        </p:txBody>
      </p:sp>
      <p:sp>
        <p:nvSpPr>
          <p:cNvPr id="78" name="Google Shape;78;p3"/>
          <p:cNvSpPr txBox="1"/>
          <p:nvPr>
            <p:ph idx="4294967295" type="body"/>
          </p:nvPr>
        </p:nvSpPr>
        <p:spPr>
          <a:xfrm>
            <a:off x="0" y="15240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Water content of the body is divided into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Intracellular compartment (67%)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Inside the cell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Extracellular compartment (33%)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Outside the cell</a:t>
            </a:r>
            <a:endParaRPr/>
          </a:p>
        </p:txBody>
      </p:sp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0" y="1600200"/>
            <a:ext cx="523875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chemeClr val="lt1"/>
                </a:solidFill>
              </a:rPr>
              <a:t>VOLUME OF BODY FLUIDS IN 70 kg MAN </a:t>
            </a:r>
            <a:endParaRPr/>
          </a:p>
        </p:txBody>
      </p:sp>
      <p:sp>
        <p:nvSpPr>
          <p:cNvPr id="85" name="Google Shape;85;p4"/>
          <p:cNvSpPr txBox="1"/>
          <p:nvPr>
            <p:ph idx="1" type="body"/>
          </p:nvPr>
        </p:nvSpPr>
        <p:spPr>
          <a:xfrm>
            <a:off x="1562100" y="1447800"/>
            <a:ext cx="5905500" cy="1066800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7647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</a:rPr>
              <a:t>TOTAL VOLUME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66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66FFFF"/>
                </a:solidFill>
              </a:rPr>
              <a:t>42 L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66FFFF"/>
              </a:solidFill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86" name="Google Shape;86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2128838" y="2819400"/>
            <a:ext cx="4992687" cy="955675"/>
          </a:xfrm>
          <a:prstGeom prst="rect">
            <a:avLst/>
          </a:prstGeom>
          <a:gradFill>
            <a:gsLst>
              <a:gs pos="0">
                <a:srgbClr val="990000"/>
              </a:gs>
              <a:gs pos="100000">
                <a:srgbClr val="47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INTRA CELLUAR FLUID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6FFFF"/>
                </a:solidFill>
                <a:latin typeface="Arial"/>
                <a:ea typeface="Arial"/>
                <a:cs typeface="Arial"/>
                <a:sym typeface="Arial"/>
              </a:rPr>
              <a:t>28 L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(ROUGHLY 2/3 OF TBW)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981200" y="3962400"/>
            <a:ext cx="5199063" cy="1041400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7647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EXTRA CELLULAR FLUID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6FFFF"/>
                </a:solidFill>
                <a:latin typeface="Arial"/>
                <a:ea typeface="Arial"/>
                <a:cs typeface="Arial"/>
                <a:sym typeface="Arial"/>
              </a:rPr>
              <a:t>14 L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(ROUGHLY 1/3 OF TBW)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278063" y="5334000"/>
            <a:ext cx="4598987" cy="955675"/>
          </a:xfrm>
          <a:prstGeom prst="rect">
            <a:avLst/>
          </a:prstGeom>
          <a:gradFill>
            <a:gsLst>
              <a:gs pos="0">
                <a:srgbClr val="990000"/>
              </a:gs>
              <a:gs pos="100000">
                <a:srgbClr val="47000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PLASMA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6FFFF"/>
                </a:solidFill>
                <a:latin typeface="Arial"/>
                <a:ea typeface="Arial"/>
                <a:cs typeface="Arial"/>
                <a:sym typeface="Arial"/>
              </a:rPr>
              <a:t>4 L</a:t>
            </a:r>
            <a:r>
              <a:rPr b="1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(ROUGHLY ¼ OF ECF)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95" name="Google Shape;95;p5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Intracellular Fluid (ICF)</a:t>
            </a:r>
            <a:endParaRPr/>
          </a:p>
        </p:txBody>
      </p:sp>
      <p:sp>
        <p:nvSpPr>
          <p:cNvPr id="96" name="Google Shape;96;p5"/>
          <p:cNvSpPr txBox="1"/>
          <p:nvPr>
            <p:ph idx="4294967295" type="body"/>
          </p:nvPr>
        </p:nvSpPr>
        <p:spPr>
          <a:xfrm>
            <a:off x="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282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 u="sng"/>
              <a:t>Intracellular Fluid (ICF)</a:t>
            </a:r>
            <a:r>
              <a:rPr lang="en-US" sz="2600" u="sng"/>
              <a:t> </a:t>
            </a:r>
            <a:endParaRPr/>
          </a:p>
          <a:p>
            <a:pPr indent="-355282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/>
              <a:t>Cytosol</a:t>
            </a:r>
            <a:r>
              <a:rPr lang="en-US" sz="2600"/>
              <a:t> or </a:t>
            </a:r>
            <a:r>
              <a:rPr b="1" lang="en-US" sz="2600"/>
              <a:t>intracellular fluid</a:t>
            </a:r>
            <a:r>
              <a:rPr lang="en-US" sz="2600"/>
              <a:t> (or </a:t>
            </a:r>
            <a:r>
              <a:rPr b="1" lang="en-US" sz="2600"/>
              <a:t>cytoplasmic matrix</a:t>
            </a:r>
            <a:r>
              <a:rPr lang="en-US" sz="2600"/>
              <a:t>) is the liquid found inside cells.</a:t>
            </a:r>
            <a:endParaRPr/>
          </a:p>
          <a:p>
            <a:pPr indent="-353377" lvl="0" marL="342900" rtl="0" algn="l">
              <a:lnSpc>
                <a:spcPct val="80000"/>
              </a:lnSpc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It is a complex mixture of substances dissolved in water. Although water forms the large majority of the cytosol</a:t>
            </a:r>
            <a:endParaRPr sz="2200" u="sng"/>
          </a:p>
          <a:p>
            <a:pPr indent="-353377" lvl="0" marL="342900" rtl="0" algn="l">
              <a:lnSpc>
                <a:spcPct val="80000"/>
              </a:lnSpc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Comprises 2/3 of the body's water.  </a:t>
            </a:r>
            <a:endParaRPr/>
          </a:p>
          <a:p>
            <a:pPr indent="-353377" lvl="0" marL="342900" rtl="0" algn="l">
              <a:lnSpc>
                <a:spcPct val="80000"/>
              </a:lnSpc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If  body has 60% water, ICF is about 40% of your weight. </a:t>
            </a:r>
            <a:endParaRPr/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163" y="2438400"/>
            <a:ext cx="4186237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03" name="Google Shape;103;p6"/>
          <p:cNvSpPr txBox="1"/>
          <p:nvPr>
            <p:ph idx="4294967295" type="title"/>
          </p:nvPr>
        </p:nvSpPr>
        <p:spPr>
          <a:xfrm>
            <a:off x="6096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Composition Of Intracellular Fluid</a:t>
            </a:r>
            <a:endParaRPr/>
          </a:p>
        </p:txBody>
      </p:sp>
      <p:sp>
        <p:nvSpPr>
          <p:cNvPr id="104" name="Google Shape;104;p6"/>
          <p:cNvSpPr txBox="1"/>
          <p:nvPr>
            <p:ph idx="4294967295" type="body"/>
          </p:nvPr>
        </p:nvSpPr>
        <p:spPr>
          <a:xfrm>
            <a:off x="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The ICF consists of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Potassium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organic anions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proteins etc. (Cellular Soup!).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The cell membranes and cellular metabolism control the constituents of this ICF. 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  <p:pic>
        <p:nvPicPr>
          <p:cNvPr id="105" name="Google Shape;1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1614488"/>
            <a:ext cx="4800600" cy="4405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11" name="Google Shape;111;p7"/>
          <p:cNvSpPr txBox="1"/>
          <p:nvPr>
            <p:ph idx="4294967295"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Extracellular Fluid (ECF)</a:t>
            </a:r>
            <a:endParaRPr/>
          </a:p>
        </p:txBody>
      </p:sp>
      <p:sp>
        <p:nvSpPr>
          <p:cNvPr id="112" name="Google Shape;112;p7"/>
          <p:cNvSpPr txBox="1"/>
          <p:nvPr>
            <p:ph idx="4294967295" type="body"/>
          </p:nvPr>
        </p:nvSpPr>
        <p:spPr>
          <a:xfrm>
            <a:off x="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1" lang="en-US" sz="3000" u="sng"/>
              <a:t>Extracellular Fluid (ECF)</a:t>
            </a:r>
            <a:r>
              <a:rPr lang="en-US" sz="3000" u="sng"/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/>
              <a:t>Denotes all body fluid outside of cells. </a:t>
            </a:r>
            <a:endParaRPr sz="3000" u="sng"/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It is the remaining 1/3 of your body's water.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ECF is about 20% of the body weight.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The ECF is primarily a NaCl and NaHCO3 solution. </a:t>
            </a:r>
            <a:endParaRPr/>
          </a:p>
        </p:txBody>
      </p:sp>
      <p:pic>
        <p:nvPicPr>
          <p:cNvPr id="113" name="Google Shape;113;p7"/>
          <p:cNvPicPr preferRelativeResize="0"/>
          <p:nvPr/>
        </p:nvPicPr>
        <p:blipFill rotWithShape="1">
          <a:blip r:embed="rId3">
            <a:alphaModFix/>
          </a:blip>
          <a:srcRect b="9660" l="0" r="0" t="0"/>
          <a:stretch/>
        </p:blipFill>
        <p:spPr>
          <a:xfrm>
            <a:off x="4083050" y="1981200"/>
            <a:ext cx="50609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19" name="Google Shape;119;p8"/>
          <p:cNvSpPr txBox="1"/>
          <p:nvPr>
            <p:ph idx="4294967295" type="title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Composition Of Extracellular Fluid</a:t>
            </a:r>
            <a:endParaRPr/>
          </a:p>
        </p:txBody>
      </p:sp>
      <p:sp>
        <p:nvSpPr>
          <p:cNvPr id="120" name="Google Shape;120;p8"/>
          <p:cNvSpPr txBox="1"/>
          <p:nvPr>
            <p:ph idx="4294967295" type="body"/>
          </p:nvPr>
        </p:nvSpPr>
        <p:spPr>
          <a:xfrm>
            <a:off x="0" y="1600200"/>
            <a:ext cx="4648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2600"/>
              <a:t>Main Cations:</a:t>
            </a:r>
            <a:r>
              <a:rPr lang="en-US" sz="2600"/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/>
              <a:t>Sodium (Na</a:t>
            </a:r>
            <a:r>
              <a:rPr baseline="30000" lang="en-US" sz="2600"/>
              <a:t>+</a:t>
            </a:r>
            <a:r>
              <a:rPr lang="en-US" sz="2600"/>
              <a:t> = 136-145 mEq/L)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/>
              <a:t>Potassium (K</a:t>
            </a:r>
            <a:r>
              <a:rPr baseline="30000" lang="en-US" sz="2600"/>
              <a:t>+</a:t>
            </a:r>
            <a:r>
              <a:rPr lang="en-US" sz="2600"/>
              <a:t> = 3,5-5,5 mEq/L)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/>
              <a:t>Calcium (Ca</a:t>
            </a:r>
            <a:r>
              <a:rPr baseline="30000" lang="en-US" sz="2600"/>
              <a:t>2+</a:t>
            </a:r>
            <a:r>
              <a:rPr lang="en-US" sz="2600"/>
              <a:t> = 8,4-10,5 mEq/L)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2600"/>
              <a:t>Main Anions:</a:t>
            </a:r>
            <a:r>
              <a:rPr lang="en-US" sz="2600"/>
              <a:t>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/>
              <a:t>Chloride (Cl</a:t>
            </a:r>
            <a:r>
              <a:rPr baseline="30000" lang="en-US" sz="2600"/>
              <a:t>-</a:t>
            </a:r>
            <a:r>
              <a:rPr lang="en-US" sz="2600"/>
              <a:t> = 99-109 mEq/L)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/>
              <a:t>Hydrogen Carbonate (HCO</a:t>
            </a:r>
            <a:r>
              <a:rPr baseline="-25000" lang="en-US" sz="2600"/>
              <a:t>3</a:t>
            </a:r>
            <a:r>
              <a:rPr baseline="30000" lang="en-US" sz="2600"/>
              <a:t>-</a:t>
            </a:r>
            <a:r>
              <a:rPr lang="en-US" sz="2600"/>
              <a:t> 26 mM)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600"/>
              <a:t>It is poorer in proteins compared to intracellular fluid</a:t>
            </a:r>
            <a:endParaRPr/>
          </a:p>
          <a:p>
            <a:pPr indent="-190182" lvl="0" marL="342900" rtl="0" algn="l">
              <a:lnSpc>
                <a:spcPct val="8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600"/>
          </a:p>
        </p:txBody>
      </p:sp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4063" y="1406525"/>
            <a:ext cx="4351337" cy="476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27" name="Google Shape;127;p9"/>
          <p:cNvSpPr txBox="1"/>
          <p:nvPr>
            <p:ph idx="4294967295"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Divisions Of ECF</a:t>
            </a:r>
            <a:endParaRPr/>
          </a:p>
        </p:txBody>
      </p:sp>
      <p:sp>
        <p:nvSpPr>
          <p:cNvPr id="128" name="Google Shape;128;p9"/>
          <p:cNvSpPr txBox="1"/>
          <p:nvPr>
            <p:ph idx="4294967295" type="body"/>
          </p:nvPr>
        </p:nvSpPr>
        <p:spPr>
          <a:xfrm>
            <a:off x="0" y="167640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The ECF is further subdivided into three sub-compartments: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Interstitial Fluid (ISF)</a:t>
            </a:r>
            <a:r>
              <a:rPr lang="en-US" sz="2800"/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Plasma.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/>
              <a:t>Transcellular fluid.</a:t>
            </a:r>
            <a:endParaRPr sz="2800"/>
          </a:p>
        </p:txBody>
      </p:sp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3438" y="2286000"/>
            <a:ext cx="420052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lt1"/>
                </a:solidFill>
              </a:rPr>
              <a:t>IMPORTANCE</a:t>
            </a:r>
            <a:endParaRPr/>
          </a:p>
        </p:txBody>
      </p:sp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/>
              <a:t>Maintaining ECF volume is critical to maintaining blood pressure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/>
              <a:t>ECF osmolarity is of primary importance in long-term regulation of ECF volume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lang="en-US"/>
              <a:t>ECF osmolarity maintained mainly by NaCl balance: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/>
              <a:t>intake: 10.5g/d          output: 10g/d in urine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42" name="Google Shape;142;p11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Interstitial Fluid (ISF)</a:t>
            </a:r>
            <a:endParaRPr/>
          </a:p>
        </p:txBody>
      </p:sp>
      <p:sp>
        <p:nvSpPr>
          <p:cNvPr id="143" name="Google Shape;143;p11"/>
          <p:cNvSpPr txBox="1"/>
          <p:nvPr>
            <p:ph idx="4294967295" type="body"/>
          </p:nvPr>
        </p:nvSpPr>
        <p:spPr>
          <a:xfrm>
            <a:off x="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/>
              <a:t>Interstitial Fluid (ISF)</a:t>
            </a:r>
            <a:r>
              <a:rPr lang="en-US" sz="2600"/>
              <a:t> surrounds the cells, but does not circulate.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It is the main component of the extracellular fluid 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It comprises about 3/4 of the ECF.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/>
              <a:t>Interstitial fluid</a:t>
            </a:r>
            <a:r>
              <a:rPr lang="en-US" sz="2600"/>
              <a:t> is found in the interstitial spaces, also known as the tissue spaces. 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sz="2600"/>
          </a:p>
        </p:txBody>
      </p:sp>
      <p:pic>
        <p:nvPicPr>
          <p:cNvPr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600200"/>
            <a:ext cx="2971800" cy="459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50" name="Google Shape;150;p12"/>
          <p:cNvSpPr txBox="1"/>
          <p:nvPr>
            <p:ph idx="4294967295" type="title"/>
          </p:nvPr>
        </p:nvSpPr>
        <p:spPr>
          <a:xfrm>
            <a:off x="381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Composition of interstitial fluid</a:t>
            </a:r>
            <a:endParaRPr/>
          </a:p>
        </p:txBody>
      </p:sp>
      <p:sp>
        <p:nvSpPr>
          <p:cNvPr id="151" name="Google Shape;151;p12"/>
          <p:cNvSpPr txBox="1"/>
          <p:nvPr>
            <p:ph idx="4294967295" type="body"/>
          </p:nvPr>
        </p:nvSpPr>
        <p:spPr>
          <a:xfrm>
            <a:off x="0" y="1600200"/>
            <a:ext cx="457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Interstitial fluid consists of: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Water solvent amino acids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Sugars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Fatty acids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Coenzymes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Hormones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Neurotransmitters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Salts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Waste products from the cells.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Lymph is considered a part of the interstitial fluid</a:t>
            </a:r>
            <a:endParaRPr/>
          </a:p>
          <a:p>
            <a:pPr indent="-1460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/>
          </a:p>
        </p:txBody>
      </p:sp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2743200"/>
            <a:ext cx="381000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58" name="Google Shape;158;p13"/>
          <p:cNvSpPr txBox="1"/>
          <p:nvPr>
            <p:ph idx="4294967295" type="title"/>
          </p:nvPr>
        </p:nvSpPr>
        <p:spPr>
          <a:xfrm>
            <a:off x="3048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Function Of Interstitial Fluid</a:t>
            </a:r>
            <a:endParaRPr/>
          </a:p>
        </p:txBody>
      </p:sp>
      <p:sp>
        <p:nvSpPr>
          <p:cNvPr id="159" name="Google Shape;159;p13"/>
          <p:cNvSpPr txBox="1"/>
          <p:nvPr>
            <p:ph idx="4294967295" type="body"/>
          </p:nvPr>
        </p:nvSpPr>
        <p:spPr>
          <a:xfrm>
            <a:off x="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 u="sng"/>
              <a:t>Intercellular communication</a:t>
            </a:r>
            <a:r>
              <a:rPr b="1" lang="en-US" sz="2800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Interstitial fluid bathes the cells of the tissues.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This provides a means of delivering materials to the cells, intercellular communication, as well as removal of metabolic waste.</a:t>
            </a:r>
            <a:endParaRPr/>
          </a:p>
        </p:txBody>
      </p:sp>
      <p:pic>
        <p:nvPicPr>
          <p:cNvPr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752600"/>
            <a:ext cx="4386263" cy="40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66" name="Google Shape;166;p14"/>
          <p:cNvSpPr txBox="1"/>
          <p:nvPr>
            <p:ph idx="4294967295" type="title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Plasma</a:t>
            </a:r>
            <a:endParaRPr/>
          </a:p>
        </p:txBody>
      </p:sp>
      <p:sp>
        <p:nvSpPr>
          <p:cNvPr id="167" name="Google Shape;167;p14"/>
          <p:cNvSpPr txBox="1"/>
          <p:nvPr>
            <p:ph idx="4294967295" type="body"/>
          </p:nvPr>
        </p:nvSpPr>
        <p:spPr>
          <a:xfrm>
            <a:off x="0" y="1066800"/>
            <a:ext cx="42672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Char char="•"/>
            </a:pPr>
            <a:r>
              <a:rPr b="1" lang="en-US" sz="3900"/>
              <a:t>Plasma </a:t>
            </a:r>
            <a:endParaRPr b="1" sz="2600"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/>
              <a:t>It </a:t>
            </a:r>
            <a:r>
              <a:rPr lang="en-US" sz="2600"/>
              <a:t>is the yellow liquid component of blood in which the blood cells in whole blood are normally suspended</a:t>
            </a:r>
            <a:endParaRPr b="1" sz="2600"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55% of the total blood volume.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It is the </a:t>
            </a:r>
            <a:r>
              <a:rPr b="1" lang="en-US" sz="2600"/>
              <a:t>intravascular fluid</a:t>
            </a:r>
            <a:r>
              <a:rPr lang="en-US" sz="2600"/>
              <a:t> part of extracellular fluid (all body fluid outside of cells) 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It makes up about 1/4 of the ECF.</a:t>
            </a:r>
            <a:endParaRPr/>
          </a:p>
          <a:p>
            <a:pPr indent="-1778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sz="2600"/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 b="6250" l="0" r="0" t="0"/>
          <a:stretch/>
        </p:blipFill>
        <p:spPr>
          <a:xfrm>
            <a:off x="4343400" y="17526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74" name="Google Shape;174;p15"/>
          <p:cNvSpPr txBox="1"/>
          <p:nvPr>
            <p:ph idx="4294967295"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Composition Of Plasma</a:t>
            </a:r>
            <a:endParaRPr/>
          </a:p>
        </p:txBody>
      </p:sp>
      <p:sp>
        <p:nvSpPr>
          <p:cNvPr id="175" name="Google Shape;175;p15"/>
          <p:cNvSpPr txBox="1"/>
          <p:nvPr>
            <p:ph idx="4294967295" type="body"/>
          </p:nvPr>
        </p:nvSpPr>
        <p:spPr>
          <a:xfrm>
            <a:off x="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It is mostly water (90% by volume) and contains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Dissolved proteins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Glucose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Clotting factors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Mineral 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Hormones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Carbon dioxide.</a:t>
            </a:r>
            <a:endParaRPr/>
          </a:p>
        </p:txBody>
      </p:sp>
      <p:pic>
        <p:nvPicPr>
          <p:cNvPr id="176" name="Google Shape;1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2057400"/>
            <a:ext cx="4124325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82" name="Google Shape;182;p16"/>
          <p:cNvSpPr txBox="1"/>
          <p:nvPr>
            <p:ph idx="4294967295" type="title"/>
          </p:nvPr>
        </p:nvSpPr>
        <p:spPr>
          <a:xfrm>
            <a:off x="3810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Function Of Plasma</a:t>
            </a:r>
            <a:endParaRPr/>
          </a:p>
        </p:txBody>
      </p:sp>
      <p:sp>
        <p:nvSpPr>
          <p:cNvPr id="183" name="Google Shape;183;p16"/>
          <p:cNvSpPr txBox="1"/>
          <p:nvPr>
            <p:ph idx="4294967295" type="body"/>
          </p:nvPr>
        </p:nvSpPr>
        <p:spPr>
          <a:xfrm>
            <a:off x="0" y="15240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Arial"/>
              <a:buChar char="–"/>
            </a:pPr>
            <a:r>
              <a:rPr lang="en-US"/>
              <a:t>Plasma being the main medium for excretory product transportation.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/>
              <a:t>Blood serum</a:t>
            </a:r>
            <a:r>
              <a:rPr lang="en-US" sz="2400"/>
              <a:t> is blood plasma without fibrinogen or the other clotting factors (i.e., whole blood minus both the cells </a:t>
            </a:r>
            <a:r>
              <a:rPr i="1" lang="en-US" sz="2400"/>
              <a:t>and</a:t>
            </a:r>
            <a:r>
              <a:rPr lang="en-US" sz="2400"/>
              <a:t> the clotting factors).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2057400"/>
            <a:ext cx="47625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90" name="Google Shape;190;p17"/>
          <p:cNvSpPr txBox="1"/>
          <p:nvPr>
            <p:ph idx="4294967295" type="title"/>
          </p:nvPr>
        </p:nvSpPr>
        <p:spPr>
          <a:xfrm>
            <a:off x="5334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Transcellular Fluid</a:t>
            </a:r>
            <a:endParaRPr/>
          </a:p>
        </p:txBody>
      </p:sp>
      <p:sp>
        <p:nvSpPr>
          <p:cNvPr id="191" name="Google Shape;191;p17"/>
          <p:cNvSpPr txBox="1"/>
          <p:nvPr>
            <p:ph idx="4294967295" type="body"/>
          </p:nvPr>
        </p:nvSpPr>
        <p:spPr>
          <a:xfrm>
            <a:off x="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US" sz="2600"/>
              <a:t>Transcellular fluid</a:t>
            </a:r>
            <a:r>
              <a:rPr lang="en-US" sz="2600"/>
              <a:t> is the portion of total body water contained within epithelial lined spaces.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Smallest compartment.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It is about 2.5% of the total body water.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Examples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/>
              <a:t>Cerebrospinal fluid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/>
              <a:t>Ocular fluid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/>
              <a:t>Joint fluid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lang="en-US" sz="2200"/>
              <a:t>Bladder urine</a:t>
            </a:r>
            <a:endParaRPr/>
          </a:p>
        </p:txBody>
      </p:sp>
      <p:pic>
        <p:nvPicPr>
          <p:cNvPr id="192" name="Google Shape;1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4038600"/>
            <a:ext cx="32004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 rotWithShape="1">
          <a:blip r:embed="rId4">
            <a:alphaModFix/>
          </a:blip>
          <a:srcRect b="2" l="0" r="2855" t="0"/>
          <a:stretch/>
        </p:blipFill>
        <p:spPr>
          <a:xfrm>
            <a:off x="5334000" y="1143000"/>
            <a:ext cx="32004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99" name="Google Shape;199;p18"/>
          <p:cNvSpPr txBox="1"/>
          <p:nvPr>
            <p:ph idx="4294967295" type="title"/>
          </p:nvPr>
        </p:nvSpPr>
        <p:spPr>
          <a:xfrm>
            <a:off x="3810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Composition Of Transcellular Fluid</a:t>
            </a:r>
            <a:endParaRPr/>
          </a:p>
        </p:txBody>
      </p:sp>
      <p:sp>
        <p:nvSpPr>
          <p:cNvPr id="200" name="Google Shape;200;p18"/>
          <p:cNvSpPr txBox="1"/>
          <p:nvPr>
            <p:ph idx="4294967295" type="body"/>
          </p:nvPr>
        </p:nvSpPr>
        <p:spPr>
          <a:xfrm>
            <a:off x="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Due to the varying locations of transcellular fluid, the composition changes dramatically.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Some of the electrolytes present are: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Sodium 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Chloride 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Bicarbonate 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 Adnan</a:t>
            </a:r>
            <a:endParaRPr/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207" name="Google Shape;207;p19"/>
          <p:cNvSpPr txBox="1"/>
          <p:nvPr>
            <p:ph idx="4294967295" type="title"/>
          </p:nvPr>
        </p:nvSpPr>
        <p:spPr>
          <a:xfrm>
            <a:off x="3048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Concentrations of ions</a:t>
            </a:r>
            <a:endParaRPr/>
          </a:p>
        </p:txBody>
      </p:sp>
      <p:pic>
        <p:nvPicPr>
          <p:cNvPr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850" y="1600200"/>
            <a:ext cx="879475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/>
        </p:nvSpPr>
        <p:spPr>
          <a:xfrm>
            <a:off x="304800" y="533400"/>
            <a:ext cx="8534400" cy="76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REGULATION OF FLUID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066800" y="2514600"/>
            <a:ext cx="73914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Body Fluids and Fluid Compartments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219200" y="4724400"/>
            <a:ext cx="7391400" cy="186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Why do we care about this?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1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ECF volume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1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Osmolarity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 Adnan</a:t>
            </a:r>
            <a:endParaRPr/>
          </a:p>
        </p:txBody>
      </p:sp>
      <p:sp>
        <p:nvSpPr>
          <p:cNvPr id="217" name="Google Shape;217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Google Shape;222;p21"/>
          <p:cNvGraphicFramePr/>
          <p:nvPr/>
        </p:nvGraphicFramePr>
        <p:xfrm>
          <a:off x="0" y="4763"/>
          <a:ext cx="9143999" cy="6857999"/>
        </p:xfrm>
        <a:graphic>
          <a:graphicData uri="http://schemas.openxmlformats.org/presentationml/2006/ole">
            <mc:AlternateContent>
              <mc:Choice Requires="v">
                <p:oleObj r:id="rId4" imgH="6857999" imgW="9143999" progId="PowerPoint.Slide.8" spid="_x0000_s1">
                  <p:embed/>
                </p:oleObj>
              </mc:Choice>
              <mc:Fallback>
                <p:oleObj r:id="rId5" imgH="6857999" imgW="9143999" progId="PowerPoint.Slide.8">
                  <p:embed/>
                  <p:pic>
                    <p:nvPicPr>
                      <p:cNvPr id="222" name="Google Shape;222;p2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4763"/>
                        <a:ext cx="9143999" cy="6857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" name="Google Shape;223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b="1" lang="en-US"/>
              <a:t>Electrolyte (Na</a:t>
            </a:r>
            <a:r>
              <a:rPr b="1" baseline="30000" lang="en-US"/>
              <a:t>+</a:t>
            </a:r>
            <a:r>
              <a:rPr b="1" lang="en-US"/>
              <a:t>, K</a:t>
            </a:r>
            <a:r>
              <a:rPr b="1" baseline="30000" lang="en-US"/>
              <a:t>+</a:t>
            </a:r>
            <a:r>
              <a:rPr b="1" lang="en-US"/>
              <a:t>, Ca</a:t>
            </a:r>
            <a:r>
              <a:rPr b="1" baseline="30000" lang="en-US"/>
              <a:t>++</a:t>
            </a:r>
            <a:r>
              <a:rPr b="1" lang="en-US"/>
              <a:t>) Steady State</a:t>
            </a:r>
            <a:endParaRPr/>
          </a:p>
        </p:txBody>
      </p:sp>
      <p:sp>
        <p:nvSpPr>
          <p:cNvPr id="238" name="Google Shape;238;p22"/>
          <p:cNvSpPr txBox="1"/>
          <p:nvPr>
            <p:ph idx="1" type="body"/>
          </p:nvPr>
        </p:nvSpPr>
        <p:spPr>
          <a:xfrm>
            <a:off x="685800" y="2362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Amount Ingested = Amount Excreted.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Normal entry:  Mainly ingestion in food.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Clinical entry: Can include parenteral administration.</a:t>
            </a:r>
            <a:endParaRPr/>
          </a:p>
        </p:txBody>
      </p:sp>
      <p:sp>
        <p:nvSpPr>
          <p:cNvPr id="239" name="Google Shape;239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Electrolyte losses</a:t>
            </a:r>
            <a:endParaRPr/>
          </a:p>
        </p:txBody>
      </p:sp>
      <p:sp>
        <p:nvSpPr>
          <p:cNvPr id="254" name="Google Shape;25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Renal excretion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Stool losses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Sweating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Abnormal routes: e.g.. vomit and diarrhea </a:t>
            </a:r>
            <a:endParaRPr/>
          </a:p>
        </p:txBody>
      </p:sp>
      <p:sp>
        <p:nvSpPr>
          <p:cNvPr id="255" name="Google Shape;255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b="1" lang="en-US"/>
              <a:t>Net Osmotic Force Development</a:t>
            </a:r>
            <a:endParaRPr/>
          </a:p>
        </p:txBody>
      </p:sp>
      <p:sp>
        <p:nvSpPr>
          <p:cNvPr id="274" name="Google Shape;27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Semipermeable membrane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Movement of some solute obstructed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H</a:t>
            </a:r>
            <a:r>
              <a:rPr baseline="-25000" lang="en-US"/>
              <a:t>2</a:t>
            </a:r>
            <a:r>
              <a:rPr lang="en-US"/>
              <a:t>O (solvent) crosses freely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b="1" lang="en-US">
                <a:solidFill>
                  <a:schemeClr val="dk2"/>
                </a:solidFill>
              </a:rPr>
              <a:t>End point: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Water moves until solute concentration on both sides of the membrane is equal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1" lang="en-US"/>
              <a:t>OR</a:t>
            </a:r>
            <a:r>
              <a:rPr lang="en-US"/>
              <a:t>,  an opposing force prevents further movement</a:t>
            </a:r>
            <a:endParaRPr/>
          </a:p>
        </p:txBody>
      </p:sp>
      <p:sp>
        <p:nvSpPr>
          <p:cNvPr id="275" name="Google Shape;275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Osmotic Concentration</a:t>
            </a:r>
            <a:endParaRPr/>
          </a:p>
        </p:txBody>
      </p:sp>
      <p:sp>
        <p:nvSpPr>
          <p:cNvPr id="290" name="Google Shape;290;p25"/>
          <p:cNvSpPr txBox="1"/>
          <p:nvPr>
            <p:ph idx="1" type="body"/>
          </p:nvPr>
        </p:nvSpPr>
        <p:spPr>
          <a:xfrm>
            <a:off x="6096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Proportional to the number of osmotic particles formed: Osm/L = moles x n (n, # of particles in solution)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Assuming complete dissociation: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1mole of NaCl forms a __ osmolar solution in 1L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1mole of CaCl</a:t>
            </a:r>
            <a:r>
              <a:rPr baseline="-25000" lang="en-US" sz="2400"/>
              <a:t>2 </a:t>
            </a:r>
            <a:r>
              <a:rPr lang="en-US" sz="2400"/>
              <a:t>forms a __ osmolar solution in 1L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Physiological concentrations: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milliOsmolar units most appropriate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/>
              <a:t>1 mOSM = ___ osmoles/L</a:t>
            </a:r>
            <a:endParaRPr/>
          </a:p>
        </p:txBody>
      </p:sp>
      <p:sp>
        <p:nvSpPr>
          <p:cNvPr id="291" name="Google Shape;29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5486400" y="2819400"/>
            <a:ext cx="3657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1 M NaCl = 2 M Glu in Osm/L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b="1" lang="en-US"/>
              <a:t>Principles of Body Water Distribution</a:t>
            </a:r>
            <a:endParaRPr/>
          </a:p>
        </p:txBody>
      </p:sp>
      <p:sp>
        <p:nvSpPr>
          <p:cNvPr id="307" name="Google Shape;30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Body control systems regulate ingestion and excretion: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 constant total body water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 constant total body osmolarity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dk2"/>
                </a:solidFill>
              </a:rPr>
              <a:t>Osmolarity is identical in all body fluid compartments</a:t>
            </a:r>
            <a:r>
              <a:rPr lang="en-US"/>
              <a:t> (steady state conditions)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Body water will redistribute itself as necessary to accomplish this</a:t>
            </a:r>
            <a:endParaRPr/>
          </a:p>
        </p:txBody>
      </p:sp>
      <p:sp>
        <p:nvSpPr>
          <p:cNvPr id="308" name="Google Shape;308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b="1" lang="en-US"/>
              <a:t>Intra-ECF Water Redistribution</a:t>
            </a:r>
            <a:br>
              <a:rPr b="1" lang="en-US"/>
            </a:br>
            <a:r>
              <a:rPr b="1" lang="en-US" sz="3200"/>
              <a:t>Plasma vs. Interstitium</a:t>
            </a:r>
            <a:endParaRPr b="1" sz="3200"/>
          </a:p>
        </p:txBody>
      </p:sp>
      <p:sp>
        <p:nvSpPr>
          <p:cNvPr id="327" name="Google Shape;327;p27"/>
          <p:cNvSpPr txBox="1"/>
          <p:nvPr>
            <p:ph idx="1" type="body"/>
          </p:nvPr>
        </p:nvSpPr>
        <p:spPr>
          <a:xfrm>
            <a:off x="685800" y="3124200"/>
            <a:ext cx="7772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Balance of </a:t>
            </a:r>
            <a:r>
              <a:rPr lang="en-US">
                <a:solidFill>
                  <a:schemeClr val="dk2"/>
                </a:solidFill>
              </a:rPr>
              <a:t>Starling Forces</a:t>
            </a:r>
            <a:r>
              <a:rPr lang="en-US"/>
              <a:t> acting across the capillary membrane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osmotic forces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hydrostatic forces</a:t>
            </a:r>
            <a:endParaRPr/>
          </a:p>
        </p:txBody>
      </p:sp>
      <p:sp>
        <p:nvSpPr>
          <p:cNvPr id="328" name="Google Shape;328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 Adnan</a:t>
            </a:r>
            <a:endParaRPr/>
          </a:p>
        </p:txBody>
      </p:sp>
      <p:sp>
        <p:nvSpPr>
          <p:cNvPr id="329" name="Google Shape;329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b="1" lang="en-US"/>
              <a:t>Primary Disturbance:</a:t>
            </a:r>
            <a:br>
              <a:rPr b="1" lang="en-US"/>
            </a:br>
            <a:r>
              <a:rPr b="1" lang="en-US"/>
              <a:t> Increased ECF Osmolarity</a:t>
            </a:r>
            <a:endParaRPr b="1"/>
          </a:p>
        </p:txBody>
      </p:sp>
      <p:sp>
        <p:nvSpPr>
          <p:cNvPr id="344" name="Google Shape;344;p28"/>
          <p:cNvSpPr txBox="1"/>
          <p:nvPr>
            <p:ph idx="1" type="body"/>
          </p:nvPr>
        </p:nvSpPr>
        <p:spPr>
          <a:xfrm>
            <a:off x="685800" y="2209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Water moves out of cells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ICF Volume ? Increased or decreases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ICF Osmolarity? Increased or decreases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5" name="Google Shape;345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b="1" lang="en-US"/>
              <a:t>Primary Disturbance:</a:t>
            </a:r>
            <a:br>
              <a:rPr b="1" lang="en-US"/>
            </a:br>
            <a:r>
              <a:rPr b="1" lang="en-US"/>
              <a:t> Decreased ECF Osmolarity</a:t>
            </a:r>
            <a:endParaRPr b="1"/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685800" y="259080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Water moves into the cells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ICF Volume ? Increased or decreases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ICF Osmolarity ? Increased or decreases</a:t>
            </a:r>
            <a:endParaRPr/>
          </a:p>
        </p:txBody>
      </p:sp>
      <p:sp>
        <p:nvSpPr>
          <p:cNvPr id="361" name="Google Shape;361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b="1" lang="en-US"/>
              <a:t>Exchange b/w interstitial fluid and Plasma</a:t>
            </a:r>
            <a:endParaRPr/>
          </a:p>
        </p:txBody>
      </p:sp>
      <p:sp>
        <p:nvSpPr>
          <p:cNvPr id="367" name="Google Shape;36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If Oncotic pressure changes. For eg. If decreases, it will leads to edema.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Edema is define as, ……..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Solute resposible for maintaining oncotic pressure in plasma is ……?</a:t>
            </a:r>
            <a:endParaRPr/>
          </a:p>
        </p:txBody>
      </p:sp>
      <p:sp>
        <p:nvSpPr>
          <p:cNvPr id="368" name="Google Shape;368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Dr Muhammad Adnan Kanpurwala</dc:creator>
</cp:coreProperties>
</file>